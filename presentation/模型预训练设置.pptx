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315" r:id="rId2"/>
    <p:sldId id="318" r:id="rId3"/>
    <p:sldId id="319" r:id="rId4"/>
    <p:sldId id="317" r:id="rId5"/>
    <p:sldId id="313" r:id="rId6"/>
    <p:sldId id="316" r:id="rId7"/>
    <p:sldId id="314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36"/>
    <p:restoredTop sz="94718"/>
  </p:normalViewPr>
  <p:slideViewPr>
    <p:cSldViewPr snapToGrid="0">
      <p:cViewPr varScale="1">
        <p:scale>
          <a:sx n="191" d="100"/>
          <a:sy n="191" d="100"/>
        </p:scale>
        <p:origin x="25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5C2024-6CDD-AE48-8EE5-7BB5B64B9C87}" type="datetimeFigureOut">
              <a:rPr kumimoji="1" lang="zh-CN" altLang="en-US" smtClean="0"/>
              <a:t>2026/4/28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C1E116-2B91-D548-BAE2-5EFDEDBC39D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142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07E40-9438-22D7-8974-2DCD8BA9B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09E8A6-C242-3448-D0DE-3659FAE32F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68413" y="433388"/>
            <a:ext cx="2073275" cy="1166812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F4057A-BCFF-7B4B-9319-BBF26612E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6DED34-8EBD-FC99-B158-EBDE522D0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6A61F-D5EC-D94C-AC77-FDDBB0B1C35D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6288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34FF7-52FE-9107-EE69-4C17AAD96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DA2AA4-3E64-9269-EBAE-B11E96ACF3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68413" y="433388"/>
            <a:ext cx="2073275" cy="1166812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BC8236-49A9-F772-D027-8F1238AE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F8A260-3C3A-3652-4C55-AA8308AFDD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6A61F-D5EC-D94C-AC77-FDDBB0B1C35D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7328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3CDF8-21E4-D598-7E43-8798E0284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619F54-C604-4C6D-CDF0-1A6BFAA56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68413" y="433388"/>
            <a:ext cx="2073275" cy="1166812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2B8DD6-CE4C-48D7-EF45-B1998E2242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936ADD-E438-C75F-731A-8779DC5E85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6A61F-D5EC-D94C-AC77-FDDBB0B1C35D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3596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625A74-6851-AA17-DC47-158ACF8AE3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0E68388-FFBB-28C6-9009-E29B61809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A104EC-8FBE-AEC4-8203-98E3BAC9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AD1CE-D215-234C-B1B4-B88F075992B0}" type="datetimeFigureOut">
              <a:rPr kumimoji="1" lang="zh-CN" altLang="en-US" smtClean="0"/>
              <a:t>2026/4/28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23323C-0EA2-6A65-CABC-B6895D682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926819-6A30-7498-985B-5D8D708B1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E4300-BB18-D349-81D4-23AFF5802B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8298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61BD52-73E9-2DA6-E628-F2690242E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55A8A1-3DE4-26B3-1E52-79ED768DE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453098-E4EF-AEFA-362C-A93A61A3F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AD1CE-D215-234C-B1B4-B88F075992B0}" type="datetimeFigureOut">
              <a:rPr kumimoji="1" lang="zh-CN" altLang="en-US" smtClean="0"/>
              <a:t>2026/4/28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9DF845-AA92-429C-21FE-5A8556C71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086809-8AE5-4592-9A5A-F5E71021F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E4300-BB18-D349-81D4-23AFF5802B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5037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AB5337-D8E5-2846-4D54-4A698E52B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86A48F-19ED-D7BA-E336-F2431FF64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38CDA0-1A11-C58F-5FC7-EA51F56FC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AD1CE-D215-234C-B1B4-B88F075992B0}" type="datetimeFigureOut">
              <a:rPr kumimoji="1" lang="zh-CN" altLang="en-US" smtClean="0"/>
              <a:t>2026/4/28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555B4F-6304-C983-0EDA-26811A553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28124A-177A-64D5-CA1E-C6148C952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E4300-BB18-D349-81D4-23AFF5802B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7599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D002F9-5A1B-0835-23FF-54984E0A3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D354CE-9704-0982-EE84-EFEA4D53C4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9EADA7-8E3E-7DC4-CE72-08A3B7D03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6FE064-3E02-1E92-B36C-382AB96E2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AD1CE-D215-234C-B1B4-B88F075992B0}" type="datetimeFigureOut">
              <a:rPr kumimoji="1" lang="zh-CN" altLang="en-US" smtClean="0"/>
              <a:t>2026/4/28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FBE835-AF59-4BF8-34E5-D7861F207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563D09-4155-C296-6B72-C67ABAD8F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E4300-BB18-D349-81D4-23AFF5802B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4157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91F2C7-F2F4-4E51-1586-D676E2D15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8656AB-A6A5-623E-10DD-6DCDDA6F9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91CA71-0156-60FD-BDAB-FABF4542A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089A28F-ED04-78B0-AD66-294DCE7158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30BAFAB-425A-0F5D-09C9-B7521054FA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C030143-422F-30A8-D811-E243F0737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AD1CE-D215-234C-B1B4-B88F075992B0}" type="datetimeFigureOut">
              <a:rPr kumimoji="1" lang="zh-CN" altLang="en-US" smtClean="0"/>
              <a:t>2026/4/28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AB284D7-F738-BC03-D097-34D702CCF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8D2A847-8756-1EB1-81C3-0017A8483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E4300-BB18-D349-81D4-23AFF5802B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0461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7E10BA-0823-BAC7-A30F-12BF66354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C1BB89-69B0-7CC6-357D-7C7C1C410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AD1CE-D215-234C-B1B4-B88F075992B0}" type="datetimeFigureOut">
              <a:rPr kumimoji="1" lang="zh-CN" altLang="en-US" smtClean="0"/>
              <a:t>2026/4/28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D77046C-54E3-41AD-7CC0-BE272CDC3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ABB1ED1-2235-07A2-E057-D1F3B85F4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E4300-BB18-D349-81D4-23AFF5802B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91524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6EC0DCA-E38B-8938-F999-393BDD436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AD1CE-D215-234C-B1B4-B88F075992B0}" type="datetimeFigureOut">
              <a:rPr kumimoji="1" lang="zh-CN" altLang="en-US" smtClean="0"/>
              <a:t>2026/4/28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B0E0C0C-2C38-821F-BC83-B31C3906B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2ACE2F-8610-CCF0-FE15-E89A69D46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E4300-BB18-D349-81D4-23AFF5802B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7353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2BF6FF-F79C-0EEF-9971-F6645AB25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24BBC3-9C44-F8B6-F7A6-C6DFFCD4F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74830F-A1C2-02D4-9AA1-58B2AA40B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749184-C143-3B96-C51D-FD7AEFD1E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AD1CE-D215-234C-B1B4-B88F075992B0}" type="datetimeFigureOut">
              <a:rPr kumimoji="1" lang="zh-CN" altLang="en-US" smtClean="0"/>
              <a:t>2026/4/28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5E7699-40D8-548F-9D53-A13F0261A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8BAE89-D819-3336-90D3-E0FCD5B86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E4300-BB18-D349-81D4-23AFF5802B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7904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07AB58-089C-DEA6-048D-4B7BE8BC0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52097DA-F191-09E5-7650-5D8D0CD8F5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FC7F4D-4F5C-2B34-223C-480D4F7D3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7AE7C8-3822-1AD5-C976-571EDEFFF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AD1CE-D215-234C-B1B4-B88F075992B0}" type="datetimeFigureOut">
              <a:rPr kumimoji="1" lang="zh-CN" altLang="en-US" smtClean="0"/>
              <a:t>2026/4/28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D1A1C5-C22C-F9C3-AE4F-509F240D0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10A410-0B5F-110E-3DD5-97B432C3C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E4300-BB18-D349-81D4-23AFF5802B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03308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D01B93-52B2-A8DB-ADD7-A2F2406C4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BA37DE9-4C58-AE2E-7BF0-24FC7066C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F1EF88-AF02-E548-972F-EE9B175E2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AD1CE-D215-234C-B1B4-B88F075992B0}" type="datetimeFigureOut">
              <a:rPr kumimoji="1" lang="zh-CN" altLang="en-US" smtClean="0"/>
              <a:t>2026/4/28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939DEF-40CD-9CBA-3410-7EF10379A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06B5A4-4B53-9606-0E6F-19E4E7459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E4300-BB18-D349-81D4-23AFF5802B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8279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0F89EAB-850C-DC1C-422D-3FCECFC904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0E4A12-A01A-05EB-AC68-386C8D5E5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6F3F05-8FA3-8A2B-E735-9CE47BFD1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AD1CE-D215-234C-B1B4-B88F075992B0}" type="datetimeFigureOut">
              <a:rPr kumimoji="1" lang="zh-CN" altLang="en-US" smtClean="0"/>
              <a:t>2026/4/28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84F75D-D278-AAEB-D7D6-266B75AD2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DDE109-CEE7-957B-49A9-AC78B93B3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E4300-BB18-D349-81D4-23AFF5802B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68720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16584" y="6499519"/>
            <a:ext cx="114195" cy="60401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7" name="bg object 17"/>
          <p:cNvSpPr/>
          <p:nvPr/>
        </p:nvSpPr>
        <p:spPr>
          <a:xfrm>
            <a:off x="7906023" y="6491668"/>
            <a:ext cx="67174" cy="75501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8" name="bg object 18"/>
          <p:cNvSpPr/>
          <p:nvPr/>
        </p:nvSpPr>
        <p:spPr>
          <a:xfrm>
            <a:off x="8376245" y="6491668"/>
            <a:ext cx="67174" cy="75501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9" name="bg object 19"/>
          <p:cNvSpPr/>
          <p:nvPr/>
        </p:nvSpPr>
        <p:spPr>
          <a:xfrm>
            <a:off x="8789726" y="6479084"/>
            <a:ext cx="169614" cy="100668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0" name="bg object 20"/>
          <p:cNvSpPr/>
          <p:nvPr/>
        </p:nvSpPr>
        <p:spPr>
          <a:xfrm>
            <a:off x="8622666" y="6491668"/>
            <a:ext cx="537388" cy="75501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1" name="bg object 21"/>
          <p:cNvSpPr/>
          <p:nvPr/>
        </p:nvSpPr>
        <p:spPr>
          <a:xfrm>
            <a:off x="9574416" y="6504251"/>
            <a:ext cx="100759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2" name="bg object 22"/>
          <p:cNvSpPr/>
          <p:nvPr/>
        </p:nvSpPr>
        <p:spPr>
          <a:xfrm>
            <a:off x="9339307" y="6491668"/>
            <a:ext cx="537388" cy="75501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3" name="bg object 23"/>
          <p:cNvSpPr/>
          <p:nvPr/>
        </p:nvSpPr>
        <p:spPr>
          <a:xfrm>
            <a:off x="9540829" y="6479084"/>
            <a:ext cx="134347" cy="100668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4" name="bg object 24"/>
          <p:cNvSpPr/>
          <p:nvPr/>
        </p:nvSpPr>
        <p:spPr>
          <a:xfrm>
            <a:off x="10257437" y="6479084"/>
            <a:ext cx="134347" cy="50334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5" name="bg object 25"/>
          <p:cNvSpPr/>
          <p:nvPr/>
        </p:nvSpPr>
        <p:spPr>
          <a:xfrm>
            <a:off x="10055917" y="6491668"/>
            <a:ext cx="537388" cy="75501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6" name="bg object 26"/>
          <p:cNvSpPr/>
          <p:nvPr/>
        </p:nvSpPr>
        <p:spPr>
          <a:xfrm>
            <a:off x="10257437" y="6554585"/>
            <a:ext cx="134347" cy="25167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7" name="bg object 27"/>
          <p:cNvSpPr/>
          <p:nvPr/>
        </p:nvSpPr>
        <p:spPr>
          <a:xfrm>
            <a:off x="10974081" y="6479084"/>
            <a:ext cx="134347" cy="100668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8" name="bg object 28"/>
          <p:cNvSpPr/>
          <p:nvPr/>
        </p:nvSpPr>
        <p:spPr>
          <a:xfrm>
            <a:off x="11771331" y="6539485"/>
            <a:ext cx="53738" cy="40267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9" name="bg object 29"/>
          <p:cNvSpPr/>
          <p:nvPr/>
        </p:nvSpPr>
        <p:spPr>
          <a:xfrm>
            <a:off x="11699753" y="6486983"/>
            <a:ext cx="80608" cy="60401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30" name="bg object 30"/>
          <p:cNvSpPr/>
          <p:nvPr/>
        </p:nvSpPr>
        <p:spPr>
          <a:xfrm>
            <a:off x="11448895" y="6479084"/>
            <a:ext cx="617994" cy="100668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31" name="bg object 31"/>
          <p:cNvSpPr/>
          <p:nvPr/>
        </p:nvSpPr>
        <p:spPr>
          <a:xfrm>
            <a:off x="11" y="0"/>
            <a:ext cx="12186961" cy="749976"/>
          </a:xfrm>
          <a:custGeom>
            <a:avLst/>
            <a:gdLst/>
            <a:ahLst/>
            <a:cxnLst/>
            <a:rect l="l" t="t" r="r" b="b"/>
            <a:pathLst>
              <a:path w="4608195" h="378460">
                <a:moveTo>
                  <a:pt x="4608004" y="0"/>
                </a:moveTo>
                <a:lnTo>
                  <a:pt x="0" y="0"/>
                </a:lnTo>
                <a:lnTo>
                  <a:pt x="0" y="378409"/>
                </a:lnTo>
                <a:lnTo>
                  <a:pt x="4608004" y="378409"/>
                </a:lnTo>
                <a:lnTo>
                  <a:pt x="4608004" y="0"/>
                </a:lnTo>
                <a:close/>
              </a:path>
            </a:pathLst>
          </a:custGeom>
          <a:solidFill>
            <a:srgbClr val="00A6AA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pic>
        <p:nvPicPr>
          <p:cNvPr id="32" name="bg 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89043" y="15"/>
            <a:ext cx="3297415" cy="7770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91" b="0" i="0">
                <a:solidFill>
                  <a:srgbClr val="5E3032"/>
                </a:solidFill>
                <a:latin typeface="Tahoma"/>
                <a:cs typeface="Tahoma"/>
              </a:defRPr>
            </a:lvl1pPr>
          </a:lstStyle>
          <a:p>
            <a:pPr marL="25164">
              <a:lnSpc>
                <a:spcPts val="1149"/>
              </a:lnSpc>
            </a:pPr>
            <a:r>
              <a:rPr lang="en" spc="-20"/>
              <a:t>Author</a:t>
            </a:r>
            <a:endParaRPr lang="en" spc="-2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91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25164">
              <a:lnSpc>
                <a:spcPts val="1149"/>
              </a:lnSpc>
            </a:pPr>
            <a:r>
              <a:rPr lang="en"/>
              <a:t>September</a:t>
            </a:r>
            <a:r>
              <a:rPr lang="en" spc="-40"/>
              <a:t> </a:t>
            </a:r>
            <a:r>
              <a:rPr lang="en"/>
              <a:t>3,</a:t>
            </a:r>
            <a:r>
              <a:rPr lang="en" spc="-30"/>
              <a:t> </a:t>
            </a:r>
            <a:r>
              <a:rPr lang="en" spc="-40"/>
              <a:t>2021</a:t>
            </a:r>
            <a:endParaRPr lang="en" spc="-4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91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5483">
              <a:lnSpc>
                <a:spcPts val="1149"/>
              </a:lnSpc>
            </a:pPr>
            <a:fld id="{81D60167-4931-47E6-BA6A-407CBD079E47}" type="slidenum">
              <a:rPr lang="en-US" altLang="zh-CN" smtClean="0"/>
              <a:pPr marL="75483">
                <a:lnSpc>
                  <a:spcPts val="1149"/>
                </a:lnSpc>
              </a:pPr>
              <a:t>‹#›</a:t>
            </a:fld>
            <a:r>
              <a:rPr lang="zh-CN" altLang="en-US" spc="30"/>
              <a:t> </a:t>
            </a:r>
            <a:r>
              <a:rPr lang="en-US" altLang="zh-CN" spc="139"/>
              <a:t>/</a:t>
            </a:r>
            <a:r>
              <a:rPr lang="zh-CN" altLang="en-US" spc="30"/>
              <a:t> </a:t>
            </a:r>
            <a:r>
              <a:rPr lang="en-US" altLang="zh-CN" spc="-99"/>
              <a:t>8</a:t>
            </a:r>
            <a:endParaRPr lang="en-US" altLang="zh-CN" spc="-99" dirty="0"/>
          </a:p>
        </p:txBody>
      </p:sp>
    </p:spTree>
    <p:extLst>
      <p:ext uri="{BB962C8B-B14F-4D97-AF65-F5344CB8AC3E}">
        <p14:creationId xmlns:p14="http://schemas.microsoft.com/office/powerpoint/2010/main" val="2543564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997DF2F-E03F-4306-D0A2-4F1402B37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6360B0-B879-2A0B-BF19-699827199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4E312E-2649-39A7-4EDB-E22346A4F0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AD1CE-D215-234C-B1B4-B88F075992B0}" type="datetimeFigureOut">
              <a:rPr kumimoji="1" lang="zh-CN" altLang="en-US" smtClean="0"/>
              <a:t>2026/4/28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D28B82-6DDF-9BE8-0BAB-CB36C48D4F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3DE5AB-A8C5-754F-46A3-4D25A425CE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CE4300-BB18-D349-81D4-23AFF5802B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2852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D7E79F5-AC7D-F477-C6AC-451F0CED8CD5}"/>
              </a:ext>
            </a:extLst>
          </p:cNvPr>
          <p:cNvSpPr txBox="1"/>
          <p:nvPr/>
        </p:nvSpPr>
        <p:spPr>
          <a:xfrm>
            <a:off x="509573" y="107341"/>
            <a:ext cx="5324542" cy="461215"/>
          </a:xfrm>
          <a:prstGeom prst="rect">
            <a:avLst/>
          </a:prstGeom>
        </p:spPr>
        <p:txBody>
          <a:bodyPr vert="horz" wrap="square" lIns="0" tIns="33972" rIns="0" bIns="0" rtlCol="0">
            <a:spAutoFit/>
          </a:bodyPr>
          <a:lstStyle/>
          <a:p>
            <a:pPr marL="25164">
              <a:spcBef>
                <a:spcPts val="267"/>
              </a:spcBef>
            </a:pPr>
            <a:r>
              <a:rPr lang="en-US" altLang="zh-CN" sz="2774" spc="-20" dirty="0">
                <a:solidFill>
                  <a:srgbClr val="FFFFFF"/>
                </a:solidFill>
                <a:latin typeface="Gill Sans MT"/>
                <a:cs typeface="Gill Sans MT"/>
              </a:rPr>
              <a:t>Single-cell</a:t>
            </a:r>
            <a:r>
              <a:rPr lang="zh-CN" altLang="en-US" sz="2774" spc="-2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lang="en-US" altLang="zh-CN" sz="2774" spc="-20" dirty="0">
                <a:solidFill>
                  <a:srgbClr val="FFFFFF"/>
                </a:solidFill>
                <a:latin typeface="Gill Sans MT"/>
                <a:cs typeface="Gill Sans MT"/>
              </a:rPr>
              <a:t>foundation</a:t>
            </a:r>
            <a:r>
              <a:rPr lang="zh-CN" altLang="en-US" sz="2774" spc="-2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lang="en-US" altLang="zh-CN" sz="2774" spc="-20" dirty="0">
                <a:solidFill>
                  <a:srgbClr val="FFFFFF"/>
                </a:solidFill>
                <a:latin typeface="Gill Sans MT"/>
                <a:cs typeface="Gill Sans MT"/>
              </a:rPr>
              <a:t>models</a:t>
            </a:r>
            <a:endParaRPr lang="en" sz="2774" spc="-20" dirty="0">
              <a:solidFill>
                <a:srgbClr val="FFFFFF"/>
              </a:solidFill>
              <a:latin typeface="Gill Sans MT"/>
              <a:cs typeface="Gill Sans MT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4E8FAAC-C4DB-FB80-79E7-2B121D70D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312586"/>
              </p:ext>
            </p:extLst>
          </p:nvPr>
        </p:nvGraphicFramePr>
        <p:xfrm>
          <a:off x="659919" y="828733"/>
          <a:ext cx="9915046" cy="58220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54288">
                  <a:extLst>
                    <a:ext uri="{9D8B030D-6E8A-4147-A177-3AD203B41FA5}">
                      <a16:colId xmlns:a16="http://schemas.microsoft.com/office/drawing/2014/main" val="2028806937"/>
                    </a:ext>
                  </a:extLst>
                </a:gridCol>
                <a:gridCol w="1368284">
                  <a:extLst>
                    <a:ext uri="{9D8B030D-6E8A-4147-A177-3AD203B41FA5}">
                      <a16:colId xmlns:a16="http://schemas.microsoft.com/office/drawing/2014/main" val="3094508997"/>
                    </a:ext>
                  </a:extLst>
                </a:gridCol>
                <a:gridCol w="1368284">
                  <a:extLst>
                    <a:ext uri="{9D8B030D-6E8A-4147-A177-3AD203B41FA5}">
                      <a16:colId xmlns:a16="http://schemas.microsoft.com/office/drawing/2014/main" val="3059946548"/>
                    </a:ext>
                  </a:extLst>
                </a:gridCol>
                <a:gridCol w="1368284">
                  <a:extLst>
                    <a:ext uri="{9D8B030D-6E8A-4147-A177-3AD203B41FA5}">
                      <a16:colId xmlns:a16="http://schemas.microsoft.com/office/drawing/2014/main" val="3842565054"/>
                    </a:ext>
                  </a:extLst>
                </a:gridCol>
                <a:gridCol w="1368284">
                  <a:extLst>
                    <a:ext uri="{9D8B030D-6E8A-4147-A177-3AD203B41FA5}">
                      <a16:colId xmlns:a16="http://schemas.microsoft.com/office/drawing/2014/main" val="4185694580"/>
                    </a:ext>
                  </a:extLst>
                </a:gridCol>
                <a:gridCol w="1368284">
                  <a:extLst>
                    <a:ext uri="{9D8B030D-6E8A-4147-A177-3AD203B41FA5}">
                      <a16:colId xmlns:a16="http://schemas.microsoft.com/office/drawing/2014/main" val="860486336"/>
                    </a:ext>
                  </a:extLst>
                </a:gridCol>
                <a:gridCol w="1419338">
                  <a:extLst>
                    <a:ext uri="{9D8B030D-6E8A-4147-A177-3AD203B41FA5}">
                      <a16:colId xmlns:a16="http://schemas.microsoft.com/office/drawing/2014/main" val="4272873909"/>
                    </a:ext>
                  </a:extLst>
                </a:gridCol>
              </a:tblGrid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 dirty="0">
                          <a:effectLst/>
                        </a:rPr>
                        <a:t>方法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物种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 dirty="0">
                          <a:effectLst/>
                        </a:rPr>
                        <a:t>细胞数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 hidden</a:t>
                      </a:r>
                      <a:r>
                        <a:rPr lang="zh-CN" altLang="en-US" sz="1600" kern="100" dirty="0">
                          <a:effectLst/>
                        </a:rPr>
                        <a:t> </a:t>
                      </a:r>
                      <a:r>
                        <a:rPr lang="en-US" sz="1600" kern="100" dirty="0">
                          <a:effectLst/>
                        </a:rPr>
                        <a:t>size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layers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# of heads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total params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3637003159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Geneformer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Human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30M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512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6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4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~30M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1976374151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scGPT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Human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10M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512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12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8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~50M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3790482003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scFoundation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Human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50M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768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12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12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~100M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2395798000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Genecompass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 err="1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Human,mouse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1</a:t>
                      </a:r>
                      <a:r>
                        <a:rPr lang="en-US" altLang="zh-CN" sz="1600" kern="100" dirty="0">
                          <a:effectLst/>
                        </a:rPr>
                        <a:t>26</a:t>
                      </a:r>
                      <a:r>
                        <a:rPr lang="en-US" sz="1600" kern="100" dirty="0">
                          <a:effectLst/>
                        </a:rPr>
                        <a:t>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768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12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12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~100M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129592362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UCE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36M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1280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33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~650M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2811484715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CellFM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Human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100M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1536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40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48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~800M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948203471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CellPLM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Human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11M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1024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4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~80M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2962072601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AIDO.Cell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Human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50M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640/1280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18/32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20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100M/650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1624565994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GeneMamba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Human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50M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512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24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~66M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1609819318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STATE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Human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1</a:t>
                      </a:r>
                      <a:r>
                        <a:rPr lang="en-US" altLang="zh-CN" sz="1600" kern="100" dirty="0">
                          <a:effectLst/>
                        </a:rPr>
                        <a:t>67</a:t>
                      </a:r>
                      <a:r>
                        <a:rPr lang="en-US" sz="1600" kern="100" dirty="0">
                          <a:effectLst/>
                        </a:rPr>
                        <a:t>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r>
                        <a:rPr lang="en-US" altLang="zh-CN" sz="1600" kern="100" dirty="0">
                          <a:effectLst/>
                        </a:rPr>
                        <a:t>2048/1488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r>
                        <a:rPr lang="en-US" altLang="zh-CN" sz="1600" kern="100" dirty="0">
                          <a:effectLst/>
                        </a:rPr>
                        <a:t>16/8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r>
                        <a:rPr lang="en-US" altLang="zh-CN" sz="1600" kern="100" dirty="0">
                          <a:effectLst/>
                        </a:rPr>
                        <a:t>16/12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r>
                        <a:rPr lang="en-US" altLang="zh-CN" sz="1600" kern="100" dirty="0">
                          <a:effectLst/>
                        </a:rPr>
                        <a:t>~600+244M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3629425658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STACK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Human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</a:rPr>
                        <a:t>189+50M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r>
                        <a:rPr lang="en-US" altLang="zh-CN" sz="1600" kern="100" dirty="0">
                          <a:effectLst/>
                        </a:rPr>
                        <a:t>1600/3200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r>
                        <a:rPr lang="en-US" altLang="zh-CN" sz="1600" kern="100" dirty="0">
                          <a:effectLst/>
                        </a:rPr>
                        <a:t>9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r>
                        <a:rPr lang="en-US" altLang="zh-CN" sz="1600" kern="100" dirty="0">
                          <a:effectLst/>
                        </a:rPr>
                        <a:t>8/20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r>
                        <a:rPr lang="en-US" altLang="zh-CN" sz="1600" kern="100" dirty="0">
                          <a:effectLst/>
                        </a:rPr>
                        <a:t>217/506/629M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4241325098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TranscriptFormer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112M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2048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12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16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444M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176345676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Tahoe-X1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Human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250M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2560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32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20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~3B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4172805900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AlphaCell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Human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2</a:t>
                      </a:r>
                      <a:r>
                        <a:rPr lang="en-US" altLang="zh-CN" sz="1600" kern="100" dirty="0">
                          <a:effectLst/>
                        </a:rPr>
                        <a:t>2</a:t>
                      </a:r>
                      <a:r>
                        <a:rPr lang="en-US" sz="1600" kern="100" dirty="0">
                          <a:effectLst/>
                        </a:rPr>
                        <a:t>0M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2048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8*6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~1.2B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3803625016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Lingshu-Cell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Human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r>
                        <a:rPr lang="en-US" altLang="zh-CN" sz="1600" kern="100" dirty="0">
                          <a:effectLst/>
                        </a:rPr>
                        <a:t>&lt;100M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640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13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10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3757574428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SpeciesLLM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29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100M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640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12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10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~100M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3202985202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SpeciesLLM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29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100M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1280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24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20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~500M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1519257483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SpeciesLLM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100M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1280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36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30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~1B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2792167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490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D09B7-505C-EF94-C4D9-22EF9D0EA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7E68274-A392-272A-36D1-1563DA75D6FC}"/>
              </a:ext>
            </a:extLst>
          </p:cNvPr>
          <p:cNvSpPr txBox="1"/>
          <p:nvPr/>
        </p:nvSpPr>
        <p:spPr>
          <a:xfrm>
            <a:off x="509573" y="107341"/>
            <a:ext cx="5324542" cy="461215"/>
          </a:xfrm>
          <a:prstGeom prst="rect">
            <a:avLst/>
          </a:prstGeom>
        </p:spPr>
        <p:txBody>
          <a:bodyPr vert="horz" wrap="square" lIns="0" tIns="33972" rIns="0" bIns="0" rtlCol="0">
            <a:spAutoFit/>
          </a:bodyPr>
          <a:lstStyle/>
          <a:p>
            <a:pPr marL="25164">
              <a:spcBef>
                <a:spcPts val="267"/>
              </a:spcBef>
            </a:pPr>
            <a:r>
              <a:rPr lang="en-US" altLang="zh-CN" sz="2774" spc="-20" dirty="0">
                <a:solidFill>
                  <a:srgbClr val="FFFFFF"/>
                </a:solidFill>
                <a:latin typeface="Gill Sans MT"/>
                <a:cs typeface="Gill Sans MT"/>
              </a:rPr>
              <a:t>Single-cell</a:t>
            </a:r>
            <a:r>
              <a:rPr lang="zh-CN" altLang="en-US" sz="2774" spc="-2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lang="en-US" altLang="zh-CN" sz="2774" spc="-20" dirty="0">
                <a:solidFill>
                  <a:srgbClr val="FFFFFF"/>
                </a:solidFill>
                <a:latin typeface="Gill Sans MT"/>
                <a:cs typeface="Gill Sans MT"/>
              </a:rPr>
              <a:t>foundation</a:t>
            </a:r>
            <a:r>
              <a:rPr lang="zh-CN" altLang="en-US" sz="2774" spc="-2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lang="en-US" altLang="zh-CN" sz="2774" spc="-20" dirty="0">
                <a:solidFill>
                  <a:srgbClr val="FFFFFF"/>
                </a:solidFill>
                <a:latin typeface="Gill Sans MT"/>
                <a:cs typeface="Gill Sans MT"/>
              </a:rPr>
              <a:t>models</a:t>
            </a:r>
            <a:endParaRPr lang="en" sz="2774" spc="-20" dirty="0">
              <a:solidFill>
                <a:srgbClr val="FFFFFF"/>
              </a:solidFill>
              <a:latin typeface="Gill Sans MT"/>
              <a:cs typeface="Gill Sans MT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4038D22-5451-FC33-3670-C31B84A2C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478836"/>
              </p:ext>
            </p:extLst>
          </p:nvPr>
        </p:nvGraphicFramePr>
        <p:xfrm>
          <a:off x="659919" y="828733"/>
          <a:ext cx="11405250" cy="60033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64631">
                  <a:extLst>
                    <a:ext uri="{9D8B030D-6E8A-4147-A177-3AD203B41FA5}">
                      <a16:colId xmlns:a16="http://schemas.microsoft.com/office/drawing/2014/main" val="2028806937"/>
                    </a:ext>
                  </a:extLst>
                </a:gridCol>
                <a:gridCol w="1376839">
                  <a:extLst>
                    <a:ext uri="{9D8B030D-6E8A-4147-A177-3AD203B41FA5}">
                      <a16:colId xmlns:a16="http://schemas.microsoft.com/office/drawing/2014/main" val="3094508997"/>
                    </a:ext>
                  </a:extLst>
                </a:gridCol>
                <a:gridCol w="1376839">
                  <a:extLst>
                    <a:ext uri="{9D8B030D-6E8A-4147-A177-3AD203B41FA5}">
                      <a16:colId xmlns:a16="http://schemas.microsoft.com/office/drawing/2014/main" val="3059946548"/>
                    </a:ext>
                  </a:extLst>
                </a:gridCol>
                <a:gridCol w="1376839">
                  <a:extLst>
                    <a:ext uri="{9D8B030D-6E8A-4147-A177-3AD203B41FA5}">
                      <a16:colId xmlns:a16="http://schemas.microsoft.com/office/drawing/2014/main" val="3842565054"/>
                    </a:ext>
                  </a:extLst>
                </a:gridCol>
                <a:gridCol w="1376839">
                  <a:extLst>
                    <a:ext uri="{9D8B030D-6E8A-4147-A177-3AD203B41FA5}">
                      <a16:colId xmlns:a16="http://schemas.microsoft.com/office/drawing/2014/main" val="4185694580"/>
                    </a:ext>
                  </a:extLst>
                </a:gridCol>
                <a:gridCol w="1376839">
                  <a:extLst>
                    <a:ext uri="{9D8B030D-6E8A-4147-A177-3AD203B41FA5}">
                      <a16:colId xmlns:a16="http://schemas.microsoft.com/office/drawing/2014/main" val="860486336"/>
                    </a:ext>
                  </a:extLst>
                </a:gridCol>
                <a:gridCol w="1428212">
                  <a:extLst>
                    <a:ext uri="{9D8B030D-6E8A-4147-A177-3AD203B41FA5}">
                      <a16:colId xmlns:a16="http://schemas.microsoft.com/office/drawing/2014/main" val="4272873909"/>
                    </a:ext>
                  </a:extLst>
                </a:gridCol>
                <a:gridCol w="1428212">
                  <a:extLst>
                    <a:ext uri="{9D8B030D-6E8A-4147-A177-3AD203B41FA5}">
                      <a16:colId xmlns:a16="http://schemas.microsoft.com/office/drawing/2014/main" val="4242657592"/>
                    </a:ext>
                  </a:extLst>
                </a:gridCol>
              </a:tblGrid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 dirty="0">
                          <a:effectLst/>
                        </a:rPr>
                        <a:t>方法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物种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 dirty="0">
                          <a:effectLst/>
                        </a:rPr>
                        <a:t>细胞数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 hidden</a:t>
                      </a:r>
                      <a:r>
                        <a:rPr lang="zh-CN" altLang="en-US" sz="1600" kern="100" dirty="0">
                          <a:effectLst/>
                        </a:rPr>
                        <a:t> </a:t>
                      </a:r>
                      <a:r>
                        <a:rPr lang="en-US" sz="1600" kern="100" dirty="0">
                          <a:effectLst/>
                        </a:rPr>
                        <a:t>size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Encode</a:t>
                      </a:r>
                      <a:r>
                        <a:rPr lang="zh-CN" altLang="en-US" sz="1600" kern="100" dirty="0">
                          <a:effectLst/>
                        </a:rPr>
                        <a:t> </a:t>
                      </a:r>
                      <a:r>
                        <a:rPr lang="en-US" sz="1600" kern="100" dirty="0">
                          <a:effectLst/>
                        </a:rPr>
                        <a:t>layers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# of heads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total params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Decode</a:t>
                      </a:r>
                      <a:r>
                        <a:rPr lang="zh-CN" altLang="en-US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layers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3637003159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Geneformer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Human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30M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1" kern="100" dirty="0">
                          <a:solidFill>
                            <a:srgbClr val="C00000"/>
                          </a:solidFill>
                          <a:effectLst/>
                        </a:rPr>
                        <a:t>256</a:t>
                      </a:r>
                      <a:endParaRPr lang="zh-CN" sz="1600" b="1" kern="100" dirty="0">
                        <a:solidFill>
                          <a:srgbClr val="C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6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4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00" dirty="0">
                          <a:solidFill>
                            <a:srgbClr val="C00000"/>
                          </a:solidFill>
                          <a:effectLst/>
                        </a:rPr>
                        <a:t>~10.6M</a:t>
                      </a: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00" dirty="0">
                        <a:effectLst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1976374151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scGPT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Human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10M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512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12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8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~50M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3790482003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scFoundation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Human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50M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768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12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12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~100M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2395798000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Genecompass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 err="1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Human,mouse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1</a:t>
                      </a:r>
                      <a:r>
                        <a:rPr lang="en-US" altLang="zh-CN" sz="1600" kern="100" dirty="0">
                          <a:effectLst/>
                        </a:rPr>
                        <a:t>26</a:t>
                      </a:r>
                      <a:r>
                        <a:rPr lang="en-US" sz="1600" kern="100" dirty="0">
                          <a:effectLst/>
                        </a:rPr>
                        <a:t>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768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12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12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~100M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129592362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UCE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36M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1280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33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~650M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2811484715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CellFM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Human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100M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1536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1" dirty="0">
                          <a:solidFill>
                            <a:srgbClr val="C00000"/>
                          </a:solidFill>
                        </a:rPr>
                        <a:t>40</a:t>
                      </a:r>
                      <a:r>
                        <a:rPr lang="zh-CN" altLang="en-US" sz="160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" altLang="zh-CN" sz="1600" dirty="0" err="1">
                          <a:solidFill>
                            <a:srgbClr val="C00000"/>
                          </a:solidFill>
                        </a:rPr>
                        <a:t>ERetNet</a:t>
                      </a:r>
                      <a:r>
                        <a:rPr lang="en" altLang="zh-CN" sz="1600" dirty="0">
                          <a:solidFill>
                            <a:srgbClr val="C00000"/>
                          </a:solidFill>
                        </a:rPr>
                        <a:t> blocks</a:t>
                      </a:r>
                      <a:endParaRPr lang="zh-CN" sz="1600" kern="100" dirty="0">
                        <a:solidFill>
                          <a:srgbClr val="C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48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~800M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948203471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CellPLM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Human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11M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1024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kern="100" dirty="0">
                          <a:solidFill>
                            <a:srgbClr val="C00000"/>
                          </a:solidFill>
                          <a:effectLst/>
                        </a:rPr>
                        <a:t>4</a:t>
                      </a:r>
                      <a:endParaRPr lang="zh-CN" sz="1600" b="1" kern="100" dirty="0">
                        <a:solidFill>
                          <a:srgbClr val="C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~80M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1" kern="100" dirty="0">
                          <a:solidFill>
                            <a:srgbClr val="C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600" b="1" kern="100" dirty="0">
                        <a:solidFill>
                          <a:srgbClr val="C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2962072601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AIDO.Cell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Human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50M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640/1280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18/32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20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100M/650M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1624565994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GeneMamba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Human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50M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512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24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~66M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1609819318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STATE</a:t>
                      </a:r>
                      <a:r>
                        <a:rPr lang="zh-CN" altLang="en-US" sz="1600" kern="100" dirty="0">
                          <a:effectLst/>
                        </a:rPr>
                        <a:t>（</a:t>
                      </a:r>
                      <a:r>
                        <a:rPr lang="en-US" altLang="zh-CN" sz="1600" kern="100" dirty="0">
                          <a:effectLst/>
                        </a:rPr>
                        <a:t>SE/ST</a:t>
                      </a:r>
                      <a:r>
                        <a:rPr lang="zh-CN" altLang="en-US" sz="1600" kern="100" dirty="0">
                          <a:effectLst/>
                        </a:rPr>
                        <a:t>）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Human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1</a:t>
                      </a:r>
                      <a:r>
                        <a:rPr lang="en-US" altLang="zh-CN" sz="1600" kern="100" dirty="0">
                          <a:effectLst/>
                        </a:rPr>
                        <a:t>67</a:t>
                      </a:r>
                      <a:r>
                        <a:rPr lang="en-US" sz="1600" kern="100" dirty="0">
                          <a:effectLst/>
                        </a:rPr>
                        <a:t>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r>
                        <a:rPr lang="en-US" altLang="zh-CN" sz="1600" kern="100" dirty="0">
                          <a:effectLst/>
                        </a:rPr>
                        <a:t>2048/1488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r>
                        <a:rPr lang="en-US" altLang="zh-CN" sz="1600" kern="100" dirty="0">
                          <a:effectLst/>
                        </a:rPr>
                        <a:t>16/8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r>
                        <a:rPr lang="en-US" altLang="zh-CN" sz="1600" kern="100" dirty="0">
                          <a:effectLst/>
                        </a:rPr>
                        <a:t>16/12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r>
                        <a:rPr lang="en-US" altLang="zh-CN" sz="1600" kern="100" dirty="0">
                          <a:effectLst/>
                        </a:rPr>
                        <a:t>~600+244M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3629425658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STACK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Human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</a:rPr>
                        <a:t>189+50M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r>
                        <a:rPr lang="en-US" altLang="zh-CN" sz="1600" kern="100" dirty="0">
                          <a:effectLst/>
                        </a:rPr>
                        <a:t>1600/3200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r>
                        <a:rPr lang="en-US" altLang="zh-CN" sz="1600" kern="100" dirty="0">
                          <a:effectLst/>
                        </a:rPr>
                        <a:t>9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r>
                        <a:rPr lang="en-US" altLang="zh-CN" sz="1600" kern="100" dirty="0">
                          <a:effectLst/>
                        </a:rPr>
                        <a:t>8/20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r>
                        <a:rPr lang="en-US" altLang="zh-CN" sz="1600" kern="100" dirty="0">
                          <a:effectLst/>
                        </a:rPr>
                        <a:t>217/506/629M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4241325098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TranscriptFormer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112M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2048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12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16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444M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176345676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Tahoe-X1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Human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250M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2560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32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20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~3B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4172805900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AlphaCell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Human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2</a:t>
                      </a:r>
                      <a:r>
                        <a:rPr lang="en-US" altLang="zh-CN" sz="1600" kern="100" dirty="0">
                          <a:effectLst/>
                        </a:rPr>
                        <a:t>2</a:t>
                      </a:r>
                      <a:r>
                        <a:rPr lang="en-US" sz="1600" kern="100" dirty="0">
                          <a:effectLst/>
                        </a:rPr>
                        <a:t>0M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1" kern="100" dirty="0">
                          <a:solidFill>
                            <a:srgbClr val="C00000"/>
                          </a:solidFill>
                          <a:effectLst/>
                        </a:rPr>
                        <a:t>128</a:t>
                      </a:r>
                      <a:r>
                        <a:rPr lang="zh-CN" altLang="en-US" sz="1600" b="1" kern="100" dirty="0">
                          <a:solidFill>
                            <a:srgbClr val="C00000"/>
                          </a:solidFill>
                          <a:effectLst/>
                        </a:rPr>
                        <a:t>*</a:t>
                      </a:r>
                      <a:r>
                        <a:rPr lang="en-US" altLang="zh-CN" sz="1600" b="1" kern="100" dirty="0">
                          <a:solidFill>
                            <a:srgbClr val="C00000"/>
                          </a:solidFill>
                          <a:effectLst/>
                        </a:rPr>
                        <a:t>32</a:t>
                      </a:r>
                      <a:endParaRPr lang="zh-CN" sz="1600" b="1" kern="100" dirty="0">
                        <a:solidFill>
                          <a:srgbClr val="C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</a:rPr>
                        <a:t>8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~1.2B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1" kern="100" dirty="0">
                          <a:solidFill>
                            <a:srgbClr val="C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sz="1600" b="1" kern="100" dirty="0">
                        <a:solidFill>
                          <a:srgbClr val="C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3803625016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Lingshu-Cell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Human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r>
                        <a:rPr lang="en-US" altLang="zh-CN" sz="1600" kern="100" dirty="0">
                          <a:effectLst/>
                        </a:rPr>
                        <a:t>&lt;100M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640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13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10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3757574428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SpeciesLLM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29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100M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640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12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10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~100M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3202985202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SpeciesLLM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29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100M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1280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24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20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~500M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1519257483"/>
                  </a:ext>
                </a:extLst>
              </a:tr>
              <a:tr h="306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SpeciesLLM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100M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1280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36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30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~1B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169" marR="11169" marT="0" marB="0" anchor="ctr"/>
                </a:tc>
                <a:extLst>
                  <a:ext uri="{0D108BD9-81ED-4DB2-BD59-A6C34878D82A}">
                    <a16:rowId xmlns:a16="http://schemas.microsoft.com/office/drawing/2014/main" val="2792167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1895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E0670-708E-013A-DF82-C55DDF0EA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014802F-4D6A-C2F4-D10A-14F6E937C469}"/>
              </a:ext>
            </a:extLst>
          </p:cNvPr>
          <p:cNvSpPr txBox="1"/>
          <p:nvPr/>
        </p:nvSpPr>
        <p:spPr>
          <a:xfrm>
            <a:off x="509573" y="107341"/>
            <a:ext cx="5324542" cy="461215"/>
          </a:xfrm>
          <a:prstGeom prst="rect">
            <a:avLst/>
          </a:prstGeom>
        </p:spPr>
        <p:txBody>
          <a:bodyPr vert="horz" wrap="square" lIns="0" tIns="33972" rIns="0" bIns="0" rtlCol="0">
            <a:spAutoFit/>
          </a:bodyPr>
          <a:lstStyle/>
          <a:p>
            <a:pPr marL="25164">
              <a:spcBef>
                <a:spcPts val="267"/>
              </a:spcBef>
            </a:pPr>
            <a:r>
              <a:rPr lang="en-US" altLang="zh-CN" sz="2774" spc="-20" dirty="0">
                <a:solidFill>
                  <a:srgbClr val="FFFFFF"/>
                </a:solidFill>
                <a:latin typeface="Gill Sans MT"/>
                <a:cs typeface="Gill Sans MT"/>
              </a:rPr>
              <a:t>Single-cell</a:t>
            </a:r>
            <a:r>
              <a:rPr lang="zh-CN" altLang="en-US" sz="2774" spc="-2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lang="en-US" altLang="zh-CN" sz="2774" spc="-20" dirty="0">
                <a:solidFill>
                  <a:srgbClr val="FFFFFF"/>
                </a:solidFill>
                <a:latin typeface="Gill Sans MT"/>
                <a:cs typeface="Gill Sans MT"/>
              </a:rPr>
              <a:t>foundation</a:t>
            </a:r>
            <a:r>
              <a:rPr lang="zh-CN" altLang="en-US" sz="2774" spc="-2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lang="en-US" altLang="zh-CN" sz="2774" spc="-20" dirty="0">
                <a:solidFill>
                  <a:srgbClr val="FFFFFF"/>
                </a:solidFill>
                <a:latin typeface="Gill Sans MT"/>
                <a:cs typeface="Gill Sans MT"/>
              </a:rPr>
              <a:t>models</a:t>
            </a:r>
            <a:endParaRPr lang="en" sz="2774" spc="-20" dirty="0">
              <a:solidFill>
                <a:srgbClr val="FFFFFF"/>
              </a:solidFill>
              <a:latin typeface="Gill Sans MT"/>
              <a:cs typeface="Gill Sans MT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C18DFE6-56DA-C0A9-8B21-0E6F380AC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228234"/>
              </p:ext>
            </p:extLst>
          </p:nvPr>
        </p:nvGraphicFramePr>
        <p:xfrm>
          <a:off x="1399217" y="1999940"/>
          <a:ext cx="9655946" cy="1612170"/>
        </p:xfrm>
        <a:graphic>
          <a:graphicData uri="http://schemas.openxmlformats.org/drawingml/2006/table">
            <a:tbl>
              <a:tblPr/>
              <a:tblGrid>
                <a:gridCol w="1292630">
                  <a:extLst>
                    <a:ext uri="{9D8B030D-6E8A-4147-A177-3AD203B41FA5}">
                      <a16:colId xmlns:a16="http://schemas.microsoft.com/office/drawing/2014/main" val="2830695520"/>
                    </a:ext>
                  </a:extLst>
                </a:gridCol>
                <a:gridCol w="529582">
                  <a:extLst>
                    <a:ext uri="{9D8B030D-6E8A-4147-A177-3AD203B41FA5}">
                      <a16:colId xmlns:a16="http://schemas.microsoft.com/office/drawing/2014/main" val="1928074911"/>
                    </a:ext>
                  </a:extLst>
                </a:gridCol>
                <a:gridCol w="2823520">
                  <a:extLst>
                    <a:ext uri="{9D8B030D-6E8A-4147-A177-3AD203B41FA5}">
                      <a16:colId xmlns:a16="http://schemas.microsoft.com/office/drawing/2014/main" val="1936445644"/>
                    </a:ext>
                  </a:extLst>
                </a:gridCol>
                <a:gridCol w="1739257">
                  <a:extLst>
                    <a:ext uri="{9D8B030D-6E8A-4147-A177-3AD203B41FA5}">
                      <a16:colId xmlns:a16="http://schemas.microsoft.com/office/drawing/2014/main" val="2927799584"/>
                    </a:ext>
                  </a:extLst>
                </a:gridCol>
                <a:gridCol w="443857">
                  <a:extLst>
                    <a:ext uri="{9D8B030D-6E8A-4147-A177-3AD203B41FA5}">
                      <a16:colId xmlns:a16="http://schemas.microsoft.com/office/drawing/2014/main" val="210527884"/>
                    </a:ext>
                  </a:extLst>
                </a:gridCol>
                <a:gridCol w="1534470">
                  <a:extLst>
                    <a:ext uri="{9D8B030D-6E8A-4147-A177-3AD203B41FA5}">
                      <a16:colId xmlns:a16="http://schemas.microsoft.com/office/drawing/2014/main" val="1022010952"/>
                    </a:ext>
                  </a:extLst>
                </a:gridCol>
                <a:gridCol w="1292630">
                  <a:extLst>
                    <a:ext uri="{9D8B030D-6E8A-4147-A177-3AD203B41FA5}">
                      <a16:colId xmlns:a16="http://schemas.microsoft.com/office/drawing/2014/main" val="1667773591"/>
                    </a:ext>
                  </a:extLst>
                </a:gridCol>
              </a:tblGrid>
              <a:tr h="126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dirty="0"/>
                        <a:t>模型版本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/>
                        <a:t>物种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/>
                        <a:t>训练细胞数 </a:t>
                      </a:r>
                      <a:r>
                        <a:rPr lang="en-US" altLang="zh-CN" sz="1000"/>
                        <a:t>/ </a:t>
                      </a:r>
                      <a:r>
                        <a:rPr lang="zh-CN" altLang="en-US" sz="1000"/>
                        <a:t>数据版本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hidden size / embedding dim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layers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num of attention heads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total params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029649"/>
                  </a:ext>
                </a:extLst>
              </a:tr>
              <a:tr h="126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Stack Base−</a:t>
                      </a:r>
                      <a:endParaRPr lang="en" sz="10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Human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60.2M</a:t>
                      </a:r>
                      <a:r>
                        <a:rPr lang="en" sz="1000"/>
                        <a:t>，scBaseCount subset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800</a:t>
                      </a:r>
                      <a:r>
                        <a:rPr lang="en" sz="1000"/>
                        <a:t> = 100 tokens × 8 dim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/>
                        <a:t>3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/>
                        <a:t>8 / 8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69.1M</a:t>
                      </a:r>
                      <a:endParaRPr lang="en" sz="10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1070695"/>
                  </a:ext>
                </a:extLst>
              </a:tr>
              <a:tr h="203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Stack Base</a:t>
                      </a:r>
                      <a:endParaRPr lang="en" sz="10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Human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73.7M / 60.2M / 148.8M</a:t>
                      </a:r>
                      <a:r>
                        <a:rPr lang="en" sz="1000"/>
                        <a:t> </a:t>
                      </a:r>
                      <a:r>
                        <a:rPr lang="zh-CN" altLang="en-US" sz="1000"/>
                        <a:t>三种数据版本都训练过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800</a:t>
                      </a:r>
                      <a:r>
                        <a:rPr lang="en" sz="1000"/>
                        <a:t> = 100 tokens × 8 dim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/>
                        <a:t>6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/>
                        <a:t>8 / 8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76.7M</a:t>
                      </a:r>
                      <a:endParaRPr lang="en" sz="10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7080759"/>
                  </a:ext>
                </a:extLst>
              </a:tr>
              <a:tr h="126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Stack Base+</a:t>
                      </a:r>
                      <a:endParaRPr lang="en" sz="10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Human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60.2M</a:t>
                      </a:r>
                      <a:r>
                        <a:rPr lang="en" sz="1000"/>
                        <a:t>，scBaseCount subset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800</a:t>
                      </a:r>
                      <a:r>
                        <a:rPr lang="en" sz="1000"/>
                        <a:t> = 100 tokens × 8 dim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/>
                        <a:t>9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/>
                        <a:t>8 / 8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84.4M</a:t>
                      </a:r>
                      <a:endParaRPr lang="en" sz="10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061929"/>
                  </a:ext>
                </a:extLst>
              </a:tr>
              <a:tr h="126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Stack Medium</a:t>
                      </a:r>
                      <a:endParaRPr lang="en" sz="10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Human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60.2M</a:t>
                      </a:r>
                      <a:r>
                        <a:rPr lang="en" sz="1000"/>
                        <a:t>，scBaseCount subset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1600</a:t>
                      </a:r>
                      <a:r>
                        <a:rPr lang="en" sz="1000"/>
                        <a:t> = 100 tokens × 16 dim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/>
                        <a:t>6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/>
                        <a:t>8 / 8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186M</a:t>
                      </a:r>
                      <a:endParaRPr lang="en" sz="10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435348"/>
                  </a:ext>
                </a:extLst>
              </a:tr>
              <a:tr h="165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Stack Large</a:t>
                      </a:r>
                      <a:endParaRPr lang="en" sz="10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Human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60.2M / 148.8M</a:t>
                      </a:r>
                      <a:r>
                        <a:rPr lang="en" sz="1000"/>
                        <a:t> </a:t>
                      </a:r>
                      <a:r>
                        <a:rPr lang="zh-CN" altLang="en-US" sz="1000"/>
                        <a:t>两种数据版本都训练过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1600</a:t>
                      </a:r>
                      <a:r>
                        <a:rPr lang="en" sz="1000"/>
                        <a:t> = 100 tokens × 16 dim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/>
                        <a:t>9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/>
                        <a:t>8 / 8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217M</a:t>
                      </a:r>
                      <a:endParaRPr lang="en" sz="10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45184"/>
                  </a:ext>
                </a:extLst>
              </a:tr>
              <a:tr h="126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Stack XLarge</a:t>
                      </a:r>
                      <a:endParaRPr lang="en" sz="10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Human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148.8M</a:t>
                      </a:r>
                      <a:r>
                        <a:rPr lang="en" sz="1000"/>
                        <a:t>，full scBaseCount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3200</a:t>
                      </a:r>
                      <a:r>
                        <a:rPr lang="en" sz="1000"/>
                        <a:t> = 100 tokens × 32 dim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/>
                        <a:t>6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gene-attn 8；cell-attn 20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506M</a:t>
                      </a:r>
                      <a:endParaRPr lang="en" sz="10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740190"/>
                  </a:ext>
                </a:extLst>
              </a:tr>
              <a:tr h="126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 dirty="0"/>
                        <a:t>Stack Huge</a:t>
                      </a:r>
                      <a:endParaRPr lang="en" sz="1000" dirty="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Human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148.8M</a:t>
                      </a:r>
                      <a:r>
                        <a:rPr lang="en" sz="1000"/>
                        <a:t>，full scBaseCount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/>
                        <a:t>3200</a:t>
                      </a:r>
                      <a:r>
                        <a:rPr lang="en" sz="1000"/>
                        <a:t> = 100 tokens × 32 dim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/>
                        <a:t>9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gene-attn 8；cell-attn 20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b="1" dirty="0"/>
                        <a:t>629M</a:t>
                      </a:r>
                      <a:endParaRPr lang="en" sz="1000" dirty="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7676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7498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2D535CB-26E1-E455-CEA2-D4698E7297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957960"/>
              </p:ext>
            </p:extLst>
          </p:nvPr>
        </p:nvGraphicFramePr>
        <p:xfrm>
          <a:off x="164459" y="862263"/>
          <a:ext cx="11622567" cy="57687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47084">
                  <a:extLst>
                    <a:ext uri="{9D8B030D-6E8A-4147-A177-3AD203B41FA5}">
                      <a16:colId xmlns:a16="http://schemas.microsoft.com/office/drawing/2014/main" val="508817748"/>
                    </a:ext>
                  </a:extLst>
                </a:gridCol>
                <a:gridCol w="1803505">
                  <a:extLst>
                    <a:ext uri="{9D8B030D-6E8A-4147-A177-3AD203B41FA5}">
                      <a16:colId xmlns:a16="http://schemas.microsoft.com/office/drawing/2014/main" val="3678072301"/>
                    </a:ext>
                  </a:extLst>
                </a:gridCol>
                <a:gridCol w="1676508">
                  <a:extLst>
                    <a:ext uri="{9D8B030D-6E8A-4147-A177-3AD203B41FA5}">
                      <a16:colId xmlns:a16="http://schemas.microsoft.com/office/drawing/2014/main" val="1080240012"/>
                    </a:ext>
                  </a:extLst>
                </a:gridCol>
                <a:gridCol w="1923631">
                  <a:extLst>
                    <a:ext uri="{9D8B030D-6E8A-4147-A177-3AD203B41FA5}">
                      <a16:colId xmlns:a16="http://schemas.microsoft.com/office/drawing/2014/main" val="2610577045"/>
                    </a:ext>
                  </a:extLst>
                </a:gridCol>
                <a:gridCol w="3115008">
                  <a:extLst>
                    <a:ext uri="{9D8B030D-6E8A-4147-A177-3AD203B41FA5}">
                      <a16:colId xmlns:a16="http://schemas.microsoft.com/office/drawing/2014/main" val="1888588768"/>
                    </a:ext>
                  </a:extLst>
                </a:gridCol>
                <a:gridCol w="1456831">
                  <a:extLst>
                    <a:ext uri="{9D8B030D-6E8A-4147-A177-3AD203B41FA5}">
                      <a16:colId xmlns:a16="http://schemas.microsoft.com/office/drawing/2014/main" val="1657155705"/>
                    </a:ext>
                  </a:extLst>
                </a:gridCol>
              </a:tblGrid>
              <a:tr h="2978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kern="100">
                          <a:effectLst/>
                        </a:rPr>
                        <a:t>方法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lr</a:t>
                      </a:r>
                      <a:r>
                        <a:rPr lang="en-US" sz="1600" kern="100" dirty="0">
                          <a:effectLst/>
                        </a:rPr>
                        <a:t> (max)(min)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Warmups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Epochs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Schedular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dropout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extLst>
                  <a:ext uri="{0D108BD9-81ED-4DB2-BD59-A6C34878D82A}">
                    <a16:rowId xmlns:a16="http://schemas.microsoft.com/office/drawing/2014/main" val="3030499210"/>
                  </a:ext>
                </a:extLst>
              </a:tr>
              <a:tr h="2978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Geneformer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1e-3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10000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3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Linear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0.02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extLst>
                  <a:ext uri="{0D108BD9-81ED-4DB2-BD59-A6C34878D82A}">
                    <a16:rowId xmlns:a16="http://schemas.microsoft.com/office/drawing/2014/main" val="2455725381"/>
                  </a:ext>
                </a:extLst>
              </a:tr>
              <a:tr h="2978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scGPT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1e-4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6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r>
                        <a:rPr lang="en-US" altLang="zh-CN" sz="1600" kern="100" dirty="0">
                          <a:effectLst/>
                        </a:rPr>
                        <a:t>Linear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0.1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extLst>
                  <a:ext uri="{0D108BD9-81ED-4DB2-BD59-A6C34878D82A}">
                    <a16:rowId xmlns:a16="http://schemas.microsoft.com/office/drawing/2014/main" val="3734723557"/>
                  </a:ext>
                </a:extLst>
              </a:tr>
              <a:tr h="2978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scFoundation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1e-4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10000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1?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extLst>
                  <a:ext uri="{0D108BD9-81ED-4DB2-BD59-A6C34878D82A}">
                    <a16:rowId xmlns:a16="http://schemas.microsoft.com/office/drawing/2014/main" val="592270350"/>
                  </a:ext>
                </a:extLst>
              </a:tr>
              <a:tr h="2978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Genecompass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5e-5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10000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3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linear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0.02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extLst>
                  <a:ext uri="{0D108BD9-81ED-4DB2-BD59-A6C34878D82A}">
                    <a16:rowId xmlns:a16="http://schemas.microsoft.com/office/drawing/2014/main" val="3613279227"/>
                  </a:ext>
                </a:extLst>
              </a:tr>
              <a:tr h="2978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UCE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 epoch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8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linear+exponentially decay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0.05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extLst>
                  <a:ext uri="{0D108BD9-81ED-4DB2-BD59-A6C34878D82A}">
                    <a16:rowId xmlns:a16="http://schemas.microsoft.com/office/drawing/2014/main" val="344629163"/>
                  </a:ext>
                </a:extLst>
              </a:tr>
              <a:tr h="2978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CellFM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1e-7(1e-6)(5e-7)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2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0.1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extLst>
                  <a:ext uri="{0D108BD9-81ED-4DB2-BD59-A6C34878D82A}">
                    <a16:rowId xmlns:a16="http://schemas.microsoft.com/office/drawing/2014/main" val="2956881335"/>
                  </a:ext>
                </a:extLst>
              </a:tr>
              <a:tr h="2978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AIDO.Cell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3e-4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5%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150000 step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linear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0.0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extLst>
                  <a:ext uri="{0D108BD9-81ED-4DB2-BD59-A6C34878D82A}">
                    <a16:rowId xmlns:a16="http://schemas.microsoft.com/office/drawing/2014/main" val="3077165384"/>
                  </a:ext>
                </a:extLst>
              </a:tr>
              <a:tr h="2978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GeneMamba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5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extLst>
                  <a:ext uri="{0D108BD9-81ED-4DB2-BD59-A6C34878D82A}">
                    <a16:rowId xmlns:a16="http://schemas.microsoft.com/office/drawing/2014/main" val="1925331642"/>
                  </a:ext>
                </a:extLst>
              </a:tr>
              <a:tr h="2978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CellPLM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2e-4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0.2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extLst>
                  <a:ext uri="{0D108BD9-81ED-4DB2-BD59-A6C34878D82A}">
                    <a16:rowId xmlns:a16="http://schemas.microsoft.com/office/drawing/2014/main" val="3038023008"/>
                  </a:ext>
                </a:extLst>
              </a:tr>
              <a:tr h="2978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STATE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3e-6/1e-5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3%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4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linear+cosine</a:t>
                      </a:r>
                      <a:r>
                        <a:rPr lang="en-US" sz="1600" kern="100" dirty="0">
                          <a:effectLst/>
                        </a:rPr>
                        <a:t> annealing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0.1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extLst>
                  <a:ext uri="{0D108BD9-81ED-4DB2-BD59-A6C34878D82A}">
                    <a16:rowId xmlns:a16="http://schemas.microsoft.com/office/drawing/2014/main" val="3526502223"/>
                  </a:ext>
                </a:extLst>
              </a:tr>
              <a:tr h="2978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STACK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1e-4/3e-5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10%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10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linear+cosine annealing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0.0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extLst>
                  <a:ext uri="{0D108BD9-81ED-4DB2-BD59-A6C34878D82A}">
                    <a16:rowId xmlns:a16="http://schemas.microsoft.com/office/drawing/2014/main" val="548040269"/>
                  </a:ext>
                </a:extLst>
              </a:tr>
              <a:tr h="501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TranscriptFormer</a:t>
                      </a:r>
                      <a:endParaRPr lang="zh-CN" sz="16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(bs 4-16)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1e-5/1.5e-4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10%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15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linear+cosine decay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0.1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extLst>
                  <a:ext uri="{0D108BD9-81ED-4DB2-BD59-A6C34878D82A}">
                    <a16:rowId xmlns:a16="http://schemas.microsoft.com/office/drawing/2014/main" val="2526011659"/>
                  </a:ext>
                </a:extLst>
              </a:tr>
              <a:tr h="2978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Tahoe-X1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3e-4/3e-5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5%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5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cosine annealing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0.1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extLst>
                  <a:ext uri="{0D108BD9-81ED-4DB2-BD59-A6C34878D82A}">
                    <a16:rowId xmlns:a16="http://schemas.microsoft.com/office/drawing/2014/main" val="435975194"/>
                  </a:ext>
                </a:extLst>
              </a:tr>
              <a:tr h="2978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scMMGPT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1e-5(1e-6)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1000 steps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5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linear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0.02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extLst>
                  <a:ext uri="{0D108BD9-81ED-4DB2-BD59-A6C34878D82A}">
                    <a16:rowId xmlns:a16="http://schemas.microsoft.com/office/drawing/2014/main" val="1798467266"/>
                  </a:ext>
                </a:extLst>
              </a:tr>
              <a:tr h="2978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AlphaCell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extLst>
                  <a:ext uri="{0D108BD9-81ED-4DB2-BD59-A6C34878D82A}">
                    <a16:rowId xmlns:a16="http://schemas.microsoft.com/office/drawing/2014/main" val="575190369"/>
                  </a:ext>
                </a:extLst>
              </a:tr>
              <a:tr h="501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Lingshu-Cell</a:t>
                      </a:r>
                      <a:endParaRPr lang="zh-CN" sz="16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(bs 256 global)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2e-5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100/1000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linear wa cosine annealing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extLst>
                  <a:ext uri="{0D108BD9-81ED-4DB2-BD59-A6C34878D82A}">
                    <a16:rowId xmlns:a16="http://schemas.microsoft.com/office/drawing/2014/main" val="2193534988"/>
                  </a:ext>
                </a:extLst>
              </a:tr>
              <a:tr h="2978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SpeciesLLM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1e-4 (6e-5)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2000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5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Linear+cosine decay</a:t>
                      </a:r>
                      <a:endParaRPr lang="zh-CN" sz="16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0.02-5</a:t>
                      </a:r>
                      <a:endParaRPr lang="zh-CN" sz="16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567" marR="7567" marT="0" marB="0" anchor="ctr"/>
                </a:tc>
                <a:extLst>
                  <a:ext uri="{0D108BD9-81ED-4DB2-BD59-A6C34878D82A}">
                    <a16:rowId xmlns:a16="http://schemas.microsoft.com/office/drawing/2014/main" val="119634746"/>
                  </a:ext>
                </a:extLst>
              </a:tr>
            </a:tbl>
          </a:graphicData>
        </a:graphic>
      </p:graphicFrame>
      <p:sp>
        <p:nvSpPr>
          <p:cNvPr id="3" name="object 2">
            <a:extLst>
              <a:ext uri="{FF2B5EF4-FFF2-40B4-BE49-F238E27FC236}">
                <a16:creationId xmlns:a16="http://schemas.microsoft.com/office/drawing/2014/main" id="{E49E74AD-CAE1-1563-45FD-22A0373D9778}"/>
              </a:ext>
            </a:extLst>
          </p:cNvPr>
          <p:cNvSpPr txBox="1"/>
          <p:nvPr/>
        </p:nvSpPr>
        <p:spPr>
          <a:xfrm>
            <a:off x="509573" y="107341"/>
            <a:ext cx="5324542" cy="461215"/>
          </a:xfrm>
          <a:prstGeom prst="rect">
            <a:avLst/>
          </a:prstGeom>
        </p:spPr>
        <p:txBody>
          <a:bodyPr vert="horz" wrap="square" lIns="0" tIns="33972" rIns="0" bIns="0" rtlCol="0">
            <a:spAutoFit/>
          </a:bodyPr>
          <a:lstStyle/>
          <a:p>
            <a:pPr marL="25164">
              <a:spcBef>
                <a:spcPts val="267"/>
              </a:spcBef>
            </a:pPr>
            <a:r>
              <a:rPr lang="en-US" altLang="zh-CN" sz="2774" spc="-20" dirty="0">
                <a:solidFill>
                  <a:srgbClr val="FFFFFF"/>
                </a:solidFill>
                <a:latin typeface="Gill Sans MT"/>
                <a:cs typeface="Gill Sans MT"/>
              </a:rPr>
              <a:t>Single-cell</a:t>
            </a:r>
            <a:r>
              <a:rPr lang="zh-CN" altLang="en-US" sz="2774" spc="-2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lang="en-US" altLang="zh-CN" sz="2774" spc="-20" dirty="0">
                <a:solidFill>
                  <a:srgbClr val="FFFFFF"/>
                </a:solidFill>
                <a:latin typeface="Gill Sans MT"/>
                <a:cs typeface="Gill Sans MT"/>
              </a:rPr>
              <a:t>foundation</a:t>
            </a:r>
            <a:r>
              <a:rPr lang="zh-CN" altLang="en-US" sz="2774" spc="-2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lang="en-US" altLang="zh-CN" sz="2774" spc="-20" dirty="0">
                <a:solidFill>
                  <a:srgbClr val="FFFFFF"/>
                </a:solidFill>
                <a:latin typeface="Gill Sans MT"/>
                <a:cs typeface="Gill Sans MT"/>
              </a:rPr>
              <a:t>models</a:t>
            </a:r>
            <a:endParaRPr lang="en" sz="2774" spc="-20" dirty="0">
              <a:solidFill>
                <a:srgbClr val="FFFFFF"/>
              </a:solidFill>
              <a:latin typeface="Gill Sans MT"/>
              <a:cs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003717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4AB89-A870-B228-A842-5737AE4D5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CF19F79-7FD0-9137-D1B2-927037B97542}"/>
              </a:ext>
            </a:extLst>
          </p:cNvPr>
          <p:cNvSpPr txBox="1"/>
          <p:nvPr/>
        </p:nvSpPr>
        <p:spPr>
          <a:xfrm>
            <a:off x="469489" y="124823"/>
            <a:ext cx="5324542" cy="461215"/>
          </a:xfrm>
          <a:prstGeom prst="rect">
            <a:avLst/>
          </a:prstGeom>
        </p:spPr>
        <p:txBody>
          <a:bodyPr vert="horz" wrap="square" lIns="0" tIns="33972" rIns="0" bIns="0" rtlCol="0">
            <a:spAutoFit/>
          </a:bodyPr>
          <a:lstStyle/>
          <a:p>
            <a:pPr marL="25164">
              <a:spcBef>
                <a:spcPts val="267"/>
              </a:spcBef>
            </a:pPr>
            <a:r>
              <a:rPr lang="en-US" altLang="zh-CN" sz="2774" spc="-20" dirty="0">
                <a:solidFill>
                  <a:srgbClr val="FFFFFF"/>
                </a:solidFill>
                <a:latin typeface="Gill Sans MT"/>
                <a:cs typeface="Gill Sans MT"/>
              </a:rPr>
              <a:t>Scaling</a:t>
            </a:r>
            <a:r>
              <a:rPr lang="zh-CN" altLang="en-US" sz="2774" spc="-2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lang="en-US" altLang="zh-CN" sz="2774" spc="-20" dirty="0">
                <a:solidFill>
                  <a:srgbClr val="FFFFFF"/>
                </a:solidFill>
                <a:latin typeface="Gill Sans MT"/>
                <a:cs typeface="Gill Sans MT"/>
              </a:rPr>
              <a:t>laws</a:t>
            </a:r>
            <a:endParaRPr lang="en" sz="2774" spc="-20" dirty="0">
              <a:solidFill>
                <a:srgbClr val="FFFFFF"/>
              </a:solidFill>
              <a:latin typeface="Gill Sans MT"/>
              <a:cs typeface="Gill Sans MT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F2893AD-9AAD-FB34-B386-E39824DDA913}"/>
              </a:ext>
            </a:extLst>
          </p:cNvPr>
          <p:cNvGrpSpPr/>
          <p:nvPr/>
        </p:nvGrpSpPr>
        <p:grpSpPr>
          <a:xfrm>
            <a:off x="0" y="6667139"/>
            <a:ext cx="12192000" cy="181181"/>
            <a:chOff x="0" y="3364623"/>
            <a:chExt cx="4608195" cy="914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FFF2880-0E0A-8280-CE85-3429835D137D}"/>
                </a:ext>
              </a:extLst>
            </p:cNvPr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7D1C5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18310EC-5246-F385-D548-B156008FD22B}"/>
                </a:ext>
              </a:extLst>
            </p:cNvPr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A6AA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7587CB9-D031-4D15-55D7-921775EBB160}"/>
                </a:ext>
              </a:extLst>
            </p:cNvPr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C4E52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893FC4FD-B8EF-9945-59D7-AEE24C9FABC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774341" y="6677624"/>
            <a:ext cx="579372" cy="1410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5164">
              <a:lnSpc>
                <a:spcPts val="1149"/>
              </a:lnSpc>
            </a:pPr>
            <a:r>
              <a:rPr lang="en-US" altLang="zh-CN" spc="-20" dirty="0"/>
              <a:t>Results</a:t>
            </a:r>
            <a:endParaRPr spc="-20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2C55051-DEA6-69EE-58A8-01F2F7284A1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0255925" y="6677624"/>
            <a:ext cx="520595" cy="1410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75483">
              <a:lnSpc>
                <a:spcPts val="1149"/>
              </a:lnSpc>
            </a:pPr>
            <a:fld id="{81D60167-4931-47E6-BA6A-407CBD079E47}" type="slidenum">
              <a:rPr dirty="0"/>
              <a:pPr marL="75483">
                <a:lnSpc>
                  <a:spcPts val="1149"/>
                </a:lnSpc>
              </a:pPr>
              <a:t>5</a:t>
            </a:fld>
            <a:r>
              <a:rPr spc="30" dirty="0"/>
              <a:t> </a:t>
            </a:r>
            <a:r>
              <a:rPr spc="139" dirty="0"/>
              <a:t>/</a:t>
            </a:r>
            <a:r>
              <a:rPr spc="30" dirty="0"/>
              <a:t> </a:t>
            </a:r>
            <a:r>
              <a:rPr lang="en-US" altLang="zh-CN" spc="-99" dirty="0"/>
              <a:t>31</a:t>
            </a:r>
            <a:endParaRPr spc="-99" dirty="0"/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B30E19DF-96C1-4D2B-F17E-0C6A06DF1390}"/>
              </a:ext>
            </a:extLst>
          </p:cNvPr>
          <p:cNvSpPr txBox="1"/>
          <p:nvPr/>
        </p:nvSpPr>
        <p:spPr>
          <a:xfrm>
            <a:off x="5643047" y="6671927"/>
            <a:ext cx="826783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4">
              <a:lnSpc>
                <a:spcPts val="1149"/>
              </a:lnSpc>
            </a:pPr>
            <a:r>
              <a:rPr lang="en-US" altLang="zh-CN" sz="991" spc="-20" dirty="0">
                <a:solidFill>
                  <a:schemeClr val="tx2"/>
                </a:solidFill>
                <a:latin typeface="Tahoma"/>
                <a:cs typeface="Tahoma"/>
              </a:rPr>
              <a:t>SpeciesLLM</a:t>
            </a:r>
            <a:endParaRPr sz="991" dirty="0">
              <a:solidFill>
                <a:schemeClr val="tx2"/>
              </a:solidFill>
              <a:latin typeface="Tahoma"/>
              <a:cs typeface="Tahoma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78146C-6A02-C960-E8BD-8E48B14BE86B}"/>
              </a:ext>
            </a:extLst>
          </p:cNvPr>
          <p:cNvSpPr/>
          <p:nvPr/>
        </p:nvSpPr>
        <p:spPr>
          <a:xfrm>
            <a:off x="7152892" y="6448693"/>
            <a:ext cx="4982489" cy="1811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567"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91FDC88E-91CD-B7E9-98DE-8E590589DD61}"/>
              </a:ext>
            </a:extLst>
          </p:cNvPr>
          <p:cNvSpPr txBox="1">
            <a:spLocks/>
          </p:cNvSpPr>
          <p:nvPr/>
        </p:nvSpPr>
        <p:spPr>
          <a:xfrm>
            <a:off x="8872151" y="6671926"/>
            <a:ext cx="1149446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25164">
              <a:lnSpc>
                <a:spcPts val="1149"/>
              </a:lnSpc>
            </a:pPr>
            <a:r>
              <a:rPr lang="en-US" altLang="zh-CN" sz="991" dirty="0"/>
              <a:t>September</a:t>
            </a:r>
            <a:r>
              <a:rPr lang="en-US" sz="991" spc="-40" dirty="0"/>
              <a:t> </a:t>
            </a:r>
            <a:r>
              <a:rPr lang="en-US" altLang="zh-CN" sz="991" spc="-40" dirty="0"/>
              <a:t>18</a:t>
            </a:r>
            <a:r>
              <a:rPr lang="en-US" sz="991" dirty="0"/>
              <a:t>,</a:t>
            </a:r>
            <a:r>
              <a:rPr lang="en-US" sz="991" spc="-30" dirty="0"/>
              <a:t> </a:t>
            </a:r>
            <a:r>
              <a:rPr lang="en-US" sz="991" spc="-40" dirty="0"/>
              <a:t>202</a:t>
            </a:r>
            <a:r>
              <a:rPr lang="en-US" altLang="zh-CN" sz="991" spc="-40" dirty="0"/>
              <a:t>5</a:t>
            </a:r>
            <a:endParaRPr lang="en-US" sz="991" spc="-4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3038987-A725-FF5A-CB02-1A503F2A5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1078" y="4127877"/>
            <a:ext cx="6794303" cy="243067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E390A99-061D-A734-EDCD-7904FC5C0D52}"/>
              </a:ext>
            </a:extLst>
          </p:cNvPr>
          <p:cNvSpPr txBox="1"/>
          <p:nvPr/>
        </p:nvSpPr>
        <p:spPr>
          <a:xfrm>
            <a:off x="300628" y="5748811"/>
            <a:ext cx="1483098" cy="4582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378" dirty="0"/>
              <a:t>Tahoe-X1</a:t>
            </a:r>
            <a:endParaRPr kumimoji="1" lang="zh-CN" altLang="en-US" sz="2378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A855D1B-B262-860C-B114-FCA2BBEFA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794" y="873689"/>
            <a:ext cx="5247094" cy="3428607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98358ECB-02C9-1535-A4BB-BEE77C9EFF4A}"/>
              </a:ext>
            </a:extLst>
          </p:cNvPr>
          <p:cNvSpPr txBox="1"/>
          <p:nvPr/>
        </p:nvSpPr>
        <p:spPr>
          <a:xfrm>
            <a:off x="2623357" y="4457579"/>
            <a:ext cx="1035861" cy="275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89" dirty="0"/>
              <a:t>Batch</a:t>
            </a:r>
            <a:r>
              <a:rPr kumimoji="1" lang="zh-CN" altLang="en-US" sz="1189" dirty="0"/>
              <a:t> </a:t>
            </a:r>
            <a:r>
              <a:rPr kumimoji="1" lang="en-US" altLang="zh-CN" sz="1189" dirty="0"/>
              <a:t>size</a:t>
            </a:r>
            <a:r>
              <a:rPr kumimoji="1" lang="zh-CN" altLang="en-US" sz="1189" dirty="0"/>
              <a:t> </a:t>
            </a:r>
            <a:r>
              <a:rPr kumimoji="1" lang="en-US" altLang="zh-CN" sz="1189" dirty="0"/>
              <a:t>20</a:t>
            </a:r>
            <a:endParaRPr kumimoji="1" lang="zh-CN" altLang="en-US" sz="1189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C14A24F-C2FC-A53D-246D-39A5B21DE0A5}"/>
              </a:ext>
            </a:extLst>
          </p:cNvPr>
          <p:cNvSpPr txBox="1"/>
          <p:nvPr/>
        </p:nvSpPr>
        <p:spPr>
          <a:xfrm>
            <a:off x="1488193" y="4457579"/>
            <a:ext cx="955711" cy="275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89" dirty="0"/>
              <a:t>Batch</a:t>
            </a:r>
            <a:r>
              <a:rPr kumimoji="1" lang="zh-CN" altLang="en-US" sz="1189" dirty="0"/>
              <a:t> </a:t>
            </a:r>
            <a:r>
              <a:rPr kumimoji="1" lang="en-US" altLang="zh-CN" sz="1189" dirty="0"/>
              <a:t>size</a:t>
            </a:r>
            <a:r>
              <a:rPr kumimoji="1" lang="zh-CN" altLang="en-US" sz="1189" dirty="0"/>
              <a:t> </a:t>
            </a:r>
            <a:r>
              <a:rPr kumimoji="1" lang="en-US" altLang="zh-CN" sz="1189" dirty="0"/>
              <a:t>8</a:t>
            </a:r>
            <a:endParaRPr kumimoji="1" lang="zh-CN" altLang="en-US" sz="1189" dirty="0"/>
          </a:p>
        </p:txBody>
      </p:sp>
    </p:spTree>
    <p:extLst>
      <p:ext uri="{BB962C8B-B14F-4D97-AF65-F5344CB8AC3E}">
        <p14:creationId xmlns:p14="http://schemas.microsoft.com/office/powerpoint/2010/main" val="475725479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18694-E791-1C4B-1967-DD8369B5C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5E3D532-A5D3-46C8-33FF-F86CD3BA671C}"/>
              </a:ext>
            </a:extLst>
          </p:cNvPr>
          <p:cNvSpPr txBox="1"/>
          <p:nvPr/>
        </p:nvSpPr>
        <p:spPr>
          <a:xfrm>
            <a:off x="469489" y="124823"/>
            <a:ext cx="5324542" cy="461215"/>
          </a:xfrm>
          <a:prstGeom prst="rect">
            <a:avLst/>
          </a:prstGeom>
        </p:spPr>
        <p:txBody>
          <a:bodyPr vert="horz" wrap="square" lIns="0" tIns="33972" rIns="0" bIns="0" rtlCol="0">
            <a:spAutoFit/>
          </a:bodyPr>
          <a:lstStyle/>
          <a:p>
            <a:pPr marL="25164">
              <a:spcBef>
                <a:spcPts val="267"/>
              </a:spcBef>
            </a:pPr>
            <a:r>
              <a:rPr lang="en-US" altLang="zh-CN" sz="2774" spc="-20" dirty="0">
                <a:solidFill>
                  <a:srgbClr val="FFFFFF"/>
                </a:solidFill>
                <a:latin typeface="Gill Sans MT"/>
                <a:cs typeface="Gill Sans MT"/>
              </a:rPr>
              <a:t>Scaling</a:t>
            </a:r>
            <a:r>
              <a:rPr lang="zh-CN" altLang="en-US" sz="2774" spc="-2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lang="en-US" altLang="zh-CN" sz="2774" spc="-20" dirty="0">
                <a:solidFill>
                  <a:srgbClr val="FFFFFF"/>
                </a:solidFill>
                <a:latin typeface="Gill Sans MT"/>
                <a:cs typeface="Gill Sans MT"/>
              </a:rPr>
              <a:t>laws</a:t>
            </a:r>
            <a:endParaRPr lang="en" sz="2774" spc="-20" dirty="0">
              <a:solidFill>
                <a:srgbClr val="FFFFFF"/>
              </a:solidFill>
              <a:latin typeface="Gill Sans MT"/>
              <a:cs typeface="Gill Sans MT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AE25A1D-26A6-B429-3401-34CDA8D43873}"/>
              </a:ext>
            </a:extLst>
          </p:cNvPr>
          <p:cNvGrpSpPr/>
          <p:nvPr/>
        </p:nvGrpSpPr>
        <p:grpSpPr>
          <a:xfrm>
            <a:off x="0" y="6667139"/>
            <a:ext cx="12192000" cy="181181"/>
            <a:chOff x="0" y="3364623"/>
            <a:chExt cx="4608195" cy="914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8BA1687-138A-4C2F-0DFE-29EC64A815A1}"/>
                </a:ext>
              </a:extLst>
            </p:cNvPr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7D1C5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7C12E48-B865-1A29-FEE5-27DFCBFDDE08}"/>
                </a:ext>
              </a:extLst>
            </p:cNvPr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A6AA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C7193DF-FBB3-93B1-0E59-7E44291D82F8}"/>
                </a:ext>
              </a:extLst>
            </p:cNvPr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C4E52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38929F53-40C1-05AE-10D8-E6817FD4679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774341" y="6677624"/>
            <a:ext cx="579372" cy="1410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5164">
              <a:lnSpc>
                <a:spcPts val="1149"/>
              </a:lnSpc>
            </a:pPr>
            <a:r>
              <a:rPr lang="en-US" altLang="zh-CN" spc="-20" dirty="0"/>
              <a:t>Results</a:t>
            </a:r>
            <a:endParaRPr spc="-20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BEF05DC3-BA58-BA4F-F8B6-5D6F9FA3879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0255925" y="6677624"/>
            <a:ext cx="520595" cy="1410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75483">
              <a:lnSpc>
                <a:spcPts val="1149"/>
              </a:lnSpc>
            </a:pPr>
            <a:fld id="{81D60167-4931-47E6-BA6A-407CBD079E47}" type="slidenum">
              <a:rPr dirty="0"/>
              <a:pPr marL="75483">
                <a:lnSpc>
                  <a:spcPts val="1149"/>
                </a:lnSpc>
              </a:pPr>
              <a:t>6</a:t>
            </a:fld>
            <a:r>
              <a:rPr spc="30" dirty="0"/>
              <a:t> </a:t>
            </a:r>
            <a:r>
              <a:rPr spc="139" dirty="0"/>
              <a:t>/</a:t>
            </a:r>
            <a:r>
              <a:rPr spc="30" dirty="0"/>
              <a:t> </a:t>
            </a:r>
            <a:r>
              <a:rPr lang="en-US" altLang="zh-CN" spc="-99" dirty="0"/>
              <a:t>31</a:t>
            </a:r>
            <a:endParaRPr spc="-99" dirty="0"/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33801F27-B43D-ED24-F1AB-567CDB6004F4}"/>
              </a:ext>
            </a:extLst>
          </p:cNvPr>
          <p:cNvSpPr txBox="1"/>
          <p:nvPr/>
        </p:nvSpPr>
        <p:spPr>
          <a:xfrm>
            <a:off x="5643047" y="6671927"/>
            <a:ext cx="826783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4">
              <a:lnSpc>
                <a:spcPts val="1149"/>
              </a:lnSpc>
            </a:pPr>
            <a:r>
              <a:rPr lang="en-US" altLang="zh-CN" sz="991" spc="-20" dirty="0">
                <a:solidFill>
                  <a:schemeClr val="tx2"/>
                </a:solidFill>
                <a:latin typeface="Tahoma"/>
                <a:cs typeface="Tahoma"/>
              </a:rPr>
              <a:t>SpeciesLLM</a:t>
            </a:r>
            <a:endParaRPr sz="991" dirty="0">
              <a:solidFill>
                <a:schemeClr val="tx2"/>
              </a:solidFill>
              <a:latin typeface="Tahoma"/>
              <a:cs typeface="Tahoma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8BA10A6-6F92-0FE1-B848-1399B79ED2E8}"/>
              </a:ext>
            </a:extLst>
          </p:cNvPr>
          <p:cNvSpPr/>
          <p:nvPr/>
        </p:nvSpPr>
        <p:spPr>
          <a:xfrm>
            <a:off x="7152892" y="6448693"/>
            <a:ext cx="4982489" cy="1811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567"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2C50A383-DE37-33F6-12BF-F4115EFA3E75}"/>
              </a:ext>
            </a:extLst>
          </p:cNvPr>
          <p:cNvSpPr txBox="1">
            <a:spLocks/>
          </p:cNvSpPr>
          <p:nvPr/>
        </p:nvSpPr>
        <p:spPr>
          <a:xfrm>
            <a:off x="8872151" y="6671926"/>
            <a:ext cx="1149446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25164">
              <a:lnSpc>
                <a:spcPts val="1149"/>
              </a:lnSpc>
            </a:pPr>
            <a:r>
              <a:rPr lang="en-US" altLang="zh-CN" sz="991" dirty="0"/>
              <a:t>September</a:t>
            </a:r>
            <a:r>
              <a:rPr lang="en-US" sz="991" spc="-40" dirty="0"/>
              <a:t> </a:t>
            </a:r>
            <a:r>
              <a:rPr lang="en-US" altLang="zh-CN" sz="991" spc="-40" dirty="0"/>
              <a:t>18</a:t>
            </a:r>
            <a:r>
              <a:rPr lang="en-US" sz="991" dirty="0"/>
              <a:t>,</a:t>
            </a:r>
            <a:r>
              <a:rPr lang="en-US" sz="991" spc="-30" dirty="0"/>
              <a:t> </a:t>
            </a:r>
            <a:r>
              <a:rPr lang="en-US" sz="991" spc="-40" dirty="0"/>
              <a:t>202</a:t>
            </a:r>
            <a:r>
              <a:rPr lang="en-US" altLang="zh-CN" sz="991" spc="-40" dirty="0"/>
              <a:t>5</a:t>
            </a:r>
            <a:endParaRPr lang="en-US" sz="991" spc="-4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22FA192-C5B7-0455-8B42-69749875B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2" y="759571"/>
            <a:ext cx="6905031" cy="215006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03BFFC2-FA9C-7993-C962-3CAA5BC00C0A}"/>
              </a:ext>
            </a:extLst>
          </p:cNvPr>
          <p:cNvSpPr txBox="1"/>
          <p:nvPr/>
        </p:nvSpPr>
        <p:spPr>
          <a:xfrm>
            <a:off x="358588" y="5868386"/>
            <a:ext cx="1050288" cy="4582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378" dirty="0"/>
              <a:t>STACK</a:t>
            </a:r>
            <a:endParaRPr kumimoji="1" lang="zh-CN" altLang="en-US" sz="2378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601779C-2A13-1B1F-15D9-D274279C5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5054" y="4942236"/>
            <a:ext cx="5079527" cy="154209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CFFD5D9-DFE8-51DA-833C-CE79DEEA7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25" y="3035854"/>
            <a:ext cx="6905031" cy="205397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87E8F1C5-D3A5-8213-06F8-8FAD5CEE4EB7}"/>
              </a:ext>
            </a:extLst>
          </p:cNvPr>
          <p:cNvSpPr txBox="1"/>
          <p:nvPr/>
        </p:nvSpPr>
        <p:spPr>
          <a:xfrm>
            <a:off x="7303877" y="1753514"/>
            <a:ext cx="790601" cy="336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85" dirty="0"/>
              <a:t>Full</a:t>
            </a:r>
            <a:r>
              <a:rPr kumimoji="1" lang="zh-CN" altLang="en-US" sz="1585" dirty="0"/>
              <a:t> </a:t>
            </a:r>
            <a:r>
              <a:rPr kumimoji="1" lang="en-US" altLang="zh-CN" sz="1585" dirty="0"/>
              <a:t>set</a:t>
            </a:r>
            <a:endParaRPr kumimoji="1" lang="zh-CN" altLang="en-US" sz="1585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134932-4ACD-C795-8BD6-CACC5D20CB4C}"/>
              </a:ext>
            </a:extLst>
          </p:cNvPr>
          <p:cNvSpPr txBox="1"/>
          <p:nvPr/>
        </p:nvSpPr>
        <p:spPr>
          <a:xfrm>
            <a:off x="7303877" y="3922046"/>
            <a:ext cx="825867" cy="336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85" dirty="0"/>
              <a:t>Sub</a:t>
            </a:r>
            <a:r>
              <a:rPr kumimoji="1" lang="zh-CN" altLang="en-US" sz="1585" dirty="0"/>
              <a:t> </a:t>
            </a:r>
            <a:r>
              <a:rPr kumimoji="1" lang="en-US" altLang="zh-CN" sz="1585" dirty="0"/>
              <a:t>set</a:t>
            </a:r>
            <a:endParaRPr kumimoji="1" lang="zh-CN" altLang="en-US" sz="1585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44FFEF4-D492-1B73-D6A7-50408B4F46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3877" y="2382342"/>
            <a:ext cx="4714194" cy="110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067283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57646-F2CE-CC64-9E24-D64DA4C4F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8A644DB-30BF-C846-46FD-8CD80AF864FF}"/>
              </a:ext>
            </a:extLst>
          </p:cNvPr>
          <p:cNvSpPr txBox="1"/>
          <p:nvPr/>
        </p:nvSpPr>
        <p:spPr>
          <a:xfrm>
            <a:off x="469489" y="124823"/>
            <a:ext cx="5324542" cy="461215"/>
          </a:xfrm>
          <a:prstGeom prst="rect">
            <a:avLst/>
          </a:prstGeom>
        </p:spPr>
        <p:txBody>
          <a:bodyPr vert="horz" wrap="square" lIns="0" tIns="33972" rIns="0" bIns="0" rtlCol="0">
            <a:spAutoFit/>
          </a:bodyPr>
          <a:lstStyle/>
          <a:p>
            <a:pPr marL="25164">
              <a:spcBef>
                <a:spcPts val="267"/>
              </a:spcBef>
            </a:pPr>
            <a:r>
              <a:rPr lang="en-US" altLang="zh-CN" sz="2774" spc="-20" dirty="0">
                <a:solidFill>
                  <a:srgbClr val="FFFFFF"/>
                </a:solidFill>
                <a:latin typeface="Gill Sans MT"/>
                <a:cs typeface="Gill Sans MT"/>
              </a:rPr>
              <a:t>Data</a:t>
            </a:r>
            <a:r>
              <a:rPr lang="zh-CN" altLang="en-US" sz="2774" spc="-2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lang="en-US" altLang="zh-CN" sz="2774" spc="-20" dirty="0">
                <a:solidFill>
                  <a:srgbClr val="FFFFFF"/>
                </a:solidFill>
                <a:latin typeface="Gill Sans MT"/>
                <a:cs typeface="Gill Sans MT"/>
              </a:rPr>
              <a:t>sampling</a:t>
            </a:r>
            <a:endParaRPr lang="en" sz="2774" spc="-20" dirty="0">
              <a:solidFill>
                <a:srgbClr val="FFFFFF"/>
              </a:solidFill>
              <a:latin typeface="Gill Sans MT"/>
              <a:cs typeface="Gill Sans MT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88ADF8F-4D3B-9C24-20C7-16936FC78FC7}"/>
              </a:ext>
            </a:extLst>
          </p:cNvPr>
          <p:cNvGrpSpPr/>
          <p:nvPr/>
        </p:nvGrpSpPr>
        <p:grpSpPr>
          <a:xfrm>
            <a:off x="0" y="6667139"/>
            <a:ext cx="12192000" cy="181181"/>
            <a:chOff x="0" y="3364623"/>
            <a:chExt cx="4608195" cy="914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07B906D-4794-74D5-E6FF-0B0F0EC8FD64}"/>
                </a:ext>
              </a:extLst>
            </p:cNvPr>
            <p:cNvSpPr/>
            <p:nvPr/>
          </p:nvSpPr>
          <p:spPr>
            <a:xfrm>
              <a:off x="0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5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7D1C5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A8435EF-E703-448B-EDCE-05E391D952D0}"/>
                </a:ext>
              </a:extLst>
            </p:cNvPr>
            <p:cNvSpPr/>
            <p:nvPr/>
          </p:nvSpPr>
          <p:spPr>
            <a:xfrm>
              <a:off x="1535976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00A6AA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8000FEE-2C08-97F4-77C7-EDD4EAEFE653}"/>
                </a:ext>
              </a:extLst>
            </p:cNvPr>
            <p:cNvSpPr/>
            <p:nvPr/>
          </p:nvSpPr>
          <p:spPr>
            <a:xfrm>
              <a:off x="3071952" y="3364623"/>
              <a:ext cx="1536065" cy="91440"/>
            </a:xfrm>
            <a:custGeom>
              <a:avLst/>
              <a:gdLst/>
              <a:ahLst/>
              <a:cxnLst/>
              <a:rect l="l" t="t" r="r" b="b"/>
              <a:pathLst>
                <a:path w="1536064" h="91439">
                  <a:moveTo>
                    <a:pt x="1535976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535976" y="91376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C4E52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33C85A2E-5D60-492C-FEC3-974698C87C8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774341" y="6677624"/>
            <a:ext cx="579372" cy="1410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5164">
              <a:lnSpc>
                <a:spcPts val="1149"/>
              </a:lnSpc>
            </a:pPr>
            <a:r>
              <a:rPr lang="en-US" altLang="zh-CN" spc="-20" dirty="0"/>
              <a:t>Results</a:t>
            </a:r>
            <a:endParaRPr spc="-20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C1AC5C8-F51F-7853-A3AF-DF99C03E616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0255925" y="6677624"/>
            <a:ext cx="520595" cy="1410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75483">
              <a:lnSpc>
                <a:spcPts val="1149"/>
              </a:lnSpc>
            </a:pPr>
            <a:fld id="{81D60167-4931-47E6-BA6A-407CBD079E47}" type="slidenum">
              <a:rPr dirty="0"/>
              <a:pPr marL="75483">
                <a:lnSpc>
                  <a:spcPts val="1149"/>
                </a:lnSpc>
              </a:pPr>
              <a:t>7</a:t>
            </a:fld>
            <a:r>
              <a:rPr spc="30" dirty="0"/>
              <a:t> </a:t>
            </a:r>
            <a:r>
              <a:rPr spc="139" dirty="0"/>
              <a:t>/</a:t>
            </a:r>
            <a:r>
              <a:rPr spc="30" dirty="0"/>
              <a:t> </a:t>
            </a:r>
            <a:r>
              <a:rPr lang="en-US" altLang="zh-CN" spc="-99" dirty="0"/>
              <a:t>31</a:t>
            </a:r>
            <a:endParaRPr spc="-99" dirty="0"/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BE12739A-5FD2-3D09-EFA2-4A350BD41E43}"/>
              </a:ext>
            </a:extLst>
          </p:cNvPr>
          <p:cNvSpPr txBox="1"/>
          <p:nvPr/>
        </p:nvSpPr>
        <p:spPr>
          <a:xfrm>
            <a:off x="5643047" y="6671927"/>
            <a:ext cx="826783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4">
              <a:lnSpc>
                <a:spcPts val="1149"/>
              </a:lnSpc>
            </a:pPr>
            <a:r>
              <a:rPr lang="en-US" altLang="zh-CN" sz="991" spc="-20" dirty="0">
                <a:solidFill>
                  <a:schemeClr val="tx2"/>
                </a:solidFill>
                <a:latin typeface="Tahoma"/>
                <a:cs typeface="Tahoma"/>
              </a:rPr>
              <a:t>SpeciesLLM</a:t>
            </a:r>
            <a:endParaRPr sz="991" dirty="0">
              <a:solidFill>
                <a:schemeClr val="tx2"/>
              </a:solidFill>
              <a:latin typeface="Tahoma"/>
              <a:cs typeface="Tahoma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6D81043-6A9D-57E0-9170-49C07FCB583E}"/>
              </a:ext>
            </a:extLst>
          </p:cNvPr>
          <p:cNvSpPr/>
          <p:nvPr/>
        </p:nvSpPr>
        <p:spPr>
          <a:xfrm>
            <a:off x="7152892" y="6448693"/>
            <a:ext cx="4982489" cy="1811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567"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098733D-C0A5-A3FD-AD6A-D2FBDEFF0054}"/>
              </a:ext>
            </a:extLst>
          </p:cNvPr>
          <p:cNvSpPr txBox="1">
            <a:spLocks/>
          </p:cNvSpPr>
          <p:nvPr/>
        </p:nvSpPr>
        <p:spPr>
          <a:xfrm>
            <a:off x="8872151" y="6671926"/>
            <a:ext cx="1149446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25164">
              <a:lnSpc>
                <a:spcPts val="1149"/>
              </a:lnSpc>
            </a:pPr>
            <a:r>
              <a:rPr lang="en-US" altLang="zh-CN" sz="991" dirty="0"/>
              <a:t>September</a:t>
            </a:r>
            <a:r>
              <a:rPr lang="en-US" sz="991" spc="-40" dirty="0"/>
              <a:t> </a:t>
            </a:r>
            <a:r>
              <a:rPr lang="en-US" altLang="zh-CN" sz="991" spc="-40" dirty="0"/>
              <a:t>18</a:t>
            </a:r>
            <a:r>
              <a:rPr lang="en-US" sz="991" dirty="0"/>
              <a:t>,</a:t>
            </a:r>
            <a:r>
              <a:rPr lang="en-US" sz="991" spc="-30" dirty="0"/>
              <a:t> </a:t>
            </a:r>
            <a:r>
              <a:rPr lang="en-US" sz="991" spc="-40" dirty="0"/>
              <a:t>202</a:t>
            </a:r>
            <a:r>
              <a:rPr lang="en-US" altLang="zh-CN" sz="991" spc="-40" dirty="0"/>
              <a:t>5</a:t>
            </a:r>
            <a:endParaRPr lang="en-US" sz="991" spc="-4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25F6382-BA1B-585B-249B-C5F132BEC3FC}"/>
              </a:ext>
            </a:extLst>
          </p:cNvPr>
          <p:cNvSpPr txBox="1"/>
          <p:nvPr/>
        </p:nvSpPr>
        <p:spPr>
          <a:xfrm>
            <a:off x="207605" y="673575"/>
            <a:ext cx="2127505" cy="412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80" dirty="0" err="1"/>
              <a:t>TranscriptFormer</a:t>
            </a:r>
            <a:endParaRPr kumimoji="1" lang="zh-CN" altLang="en-US" sz="208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DF124C4-8C46-BEC5-1CC2-6C0B96671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88" y="1377124"/>
            <a:ext cx="7662464" cy="157157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F8F06A0-E074-AED4-78BD-B704C9376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88" y="3283123"/>
            <a:ext cx="8002180" cy="216000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C2331D9-A9DB-F391-0322-0F0D55381F19}"/>
              </a:ext>
            </a:extLst>
          </p:cNvPr>
          <p:cNvSpPr txBox="1"/>
          <p:nvPr/>
        </p:nvSpPr>
        <p:spPr>
          <a:xfrm>
            <a:off x="358589" y="5683043"/>
            <a:ext cx="9555821" cy="397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981" dirty="0"/>
              <a:t>数据采样策略，从（完全平均）和（完全不采样）中取平衡，缩小细胞数目的比例；</a:t>
            </a:r>
          </a:p>
        </p:txBody>
      </p:sp>
    </p:spTree>
    <p:extLst>
      <p:ext uri="{BB962C8B-B14F-4D97-AF65-F5344CB8AC3E}">
        <p14:creationId xmlns:p14="http://schemas.microsoft.com/office/powerpoint/2010/main" val="843078886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769</Words>
  <Application>Microsoft Macintosh PowerPoint</Application>
  <PresentationFormat>宽屏</PresentationFormat>
  <Paragraphs>462</Paragraphs>
  <Slides>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等线</vt:lpstr>
      <vt:lpstr>等线</vt:lpstr>
      <vt:lpstr>等线 Light</vt:lpstr>
      <vt:lpstr>Arial</vt:lpstr>
      <vt:lpstr>Gill Sans MT</vt:lpstr>
      <vt:lpstr>Tahoma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gwlee1995</cp:lastModifiedBy>
  <cp:revision>24</cp:revision>
  <dcterms:created xsi:type="dcterms:W3CDTF">2026-04-24T07:05:09Z</dcterms:created>
  <dcterms:modified xsi:type="dcterms:W3CDTF">2026-04-28T09:30:01Z</dcterms:modified>
</cp:coreProperties>
</file>