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309" r:id="rId2"/>
    <p:sldId id="326" r:id="rId3"/>
    <p:sldId id="312" r:id="rId4"/>
    <p:sldId id="318" r:id="rId5"/>
    <p:sldId id="319" r:id="rId6"/>
    <p:sldId id="322" r:id="rId7"/>
    <p:sldId id="325"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72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B6A659-79D2-A049-98AF-90EEE538F1F8}" type="datetimeFigureOut">
              <a:rPr kumimoji="1" lang="zh-CN" altLang="en-US" smtClean="0"/>
              <a:t>2026/5/28</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C67CF5-F4CD-B442-8C62-9AD94867C08B}" type="slidenum">
              <a:rPr kumimoji="1" lang="zh-CN" altLang="en-US" smtClean="0"/>
              <a:t>‹#›</a:t>
            </a:fld>
            <a:endParaRPr kumimoji="1" lang="zh-CN" altLang="en-US"/>
          </a:p>
        </p:txBody>
      </p:sp>
    </p:spTree>
    <p:extLst>
      <p:ext uri="{BB962C8B-B14F-4D97-AF65-F5344CB8AC3E}">
        <p14:creationId xmlns:p14="http://schemas.microsoft.com/office/powerpoint/2010/main" val="236231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A7342-EE34-1A10-1CA3-58F14549B4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E11558-02D5-D252-043F-28BD42B05670}"/>
              </a:ext>
            </a:extLst>
          </p:cNvPr>
          <p:cNvSpPr>
            <a:spLocks noGrp="1" noRot="1" noChangeAspect="1"/>
          </p:cNvSpPr>
          <p:nvPr>
            <p:ph type="sldImg"/>
          </p:nvPr>
        </p:nvSpPr>
        <p:spPr>
          <a:xfrm>
            <a:off x="1268413" y="433388"/>
            <a:ext cx="2073275" cy="1166812"/>
          </a:xfrm>
        </p:spPr>
      </p:sp>
      <p:sp>
        <p:nvSpPr>
          <p:cNvPr id="3" name="备注占位符 2">
            <a:extLst>
              <a:ext uri="{FF2B5EF4-FFF2-40B4-BE49-F238E27FC236}">
                <a16:creationId xmlns:a16="http://schemas.microsoft.com/office/drawing/2014/main" id="{7A68CC0F-9584-F71E-51F1-4988C105486B}"/>
              </a:ext>
            </a:extLst>
          </p:cNvPr>
          <p:cNvSpPr>
            <a:spLocks noGrp="1"/>
          </p:cNvSpPr>
          <p:nvPr>
            <p:ph type="body" idx="1"/>
          </p:nvPr>
        </p:nvSpPr>
        <p:spPr/>
        <p:txBody>
          <a:bodyPr/>
          <a:lstStyle/>
          <a:p>
            <a:r>
              <a:rPr kumimoji="1" lang="en" altLang="zh-CN" dirty="0"/>
              <a:t>For the </a:t>
            </a:r>
            <a:r>
              <a:rPr kumimoji="1" lang="en-US" altLang="zh-CN" dirty="0"/>
              <a:t>first</a:t>
            </a:r>
            <a:r>
              <a:rPr kumimoji="1" lang="zh-CN" altLang="en-US" dirty="0"/>
              <a:t> </a:t>
            </a:r>
            <a:r>
              <a:rPr kumimoji="1" lang="en" altLang="zh-CN" dirty="0"/>
              <a:t>task, we also conducted modeling and analysis on the Chicken Atlas. We obtained the definitions of all cell ontology terms from the OLS database as cell type descriptions. We trained the model using all cell types in the Chicken Atlas, except for unknown cells. The training-validation ratio was 97:3, and the test set consisted of 600 samples.</a:t>
            </a:r>
          </a:p>
          <a:p>
            <a:r>
              <a:rPr kumimoji="1" lang="en" altLang="zh-CN" dirty="0"/>
              <a:t>We used the following metrics, commonly used in the NLP field, to evaluate the accuracy of the generated content:</a:t>
            </a:r>
          </a:p>
          <a:p>
            <a:r>
              <a:rPr kumimoji="1" lang="en" altLang="zh-CN" sz="1200" dirty="0"/>
              <a:t>As can be seen from the table, our generative model has very good performance in</a:t>
            </a:r>
            <a:r>
              <a:rPr kumimoji="1" lang="zh-CN" altLang="en-US" sz="1200" dirty="0"/>
              <a:t> </a:t>
            </a:r>
            <a:r>
              <a:rPr kumimoji="1" lang="en-US" altLang="zh-CN" sz="1200" dirty="0"/>
              <a:t>terms</a:t>
            </a:r>
            <a:r>
              <a:rPr kumimoji="1" lang="zh-CN" altLang="en-US" sz="1200" dirty="0"/>
              <a:t> </a:t>
            </a:r>
            <a:r>
              <a:rPr kumimoji="1" lang="en-US" altLang="zh-CN" sz="1200" dirty="0"/>
              <a:t>of</a:t>
            </a:r>
            <a:r>
              <a:rPr kumimoji="1" lang="en" altLang="zh-CN" sz="1200" dirty="0"/>
              <a:t> these </a:t>
            </a:r>
            <a:r>
              <a:rPr kumimoji="1" lang="en-US" altLang="zh-CN" sz="1200" dirty="0"/>
              <a:t>metrics</a:t>
            </a:r>
            <a:r>
              <a:rPr kumimoji="1" lang="en" altLang="zh-CN" sz="1200" dirty="0"/>
              <a:t>.</a:t>
            </a:r>
          </a:p>
          <a:p>
            <a:endParaRPr kumimoji="1" lang="en" altLang="zh-CN" dirty="0"/>
          </a:p>
          <a:p>
            <a:r>
              <a:rPr kumimoji="1" lang="en" altLang="zh-CN" dirty="0"/>
              <a:t>BLEU primarily measures the n-gram overlap between the generated text and the reference text; ROUGE-N (n-gram overlap) and ROUGE-L (</a:t>
            </a:r>
            <a:r>
              <a:rPr kumimoji="1" lang="en-US" altLang="zh-CN" dirty="0"/>
              <a:t>focused</a:t>
            </a:r>
            <a:r>
              <a:rPr kumimoji="1" lang="zh-CN" altLang="en-US" dirty="0"/>
              <a:t> </a:t>
            </a:r>
            <a:r>
              <a:rPr kumimoji="1" lang="en-US" altLang="zh-CN" dirty="0"/>
              <a:t>on</a:t>
            </a:r>
            <a:r>
              <a:rPr kumimoji="1" lang="zh-CN" altLang="en-US" dirty="0"/>
              <a:t> </a:t>
            </a:r>
            <a:r>
              <a:rPr kumimoji="1" lang="en" altLang="zh-CN" dirty="0"/>
              <a:t>longest common subsequence), commonly used in summary generation, focus on recall (the extent to which the generated text covers the reference text);</a:t>
            </a:r>
          </a:p>
          <a:p>
            <a:r>
              <a:rPr kumimoji="1" lang="en" altLang="zh-CN" dirty="0"/>
              <a:t>METEOR incorporates synonym matching and stemming, making it closer to human scores than BLEU; and LEVENSHTEIN primarily assesses the minimum number of edits required to transform a string into another, measuring the similarity between the generated text and the reference text.</a:t>
            </a:r>
          </a:p>
        </p:txBody>
      </p:sp>
      <p:sp>
        <p:nvSpPr>
          <p:cNvPr id="4" name="灯片编号占位符 3">
            <a:extLst>
              <a:ext uri="{FF2B5EF4-FFF2-40B4-BE49-F238E27FC236}">
                <a16:creationId xmlns:a16="http://schemas.microsoft.com/office/drawing/2014/main" id="{5AC75BC7-5F82-9051-D2B2-9BEA3C35B41E}"/>
              </a:ext>
            </a:extLst>
          </p:cNvPr>
          <p:cNvSpPr>
            <a:spLocks noGrp="1"/>
          </p:cNvSpPr>
          <p:nvPr>
            <p:ph type="sldNum" sz="quarter" idx="5"/>
          </p:nvPr>
        </p:nvSpPr>
        <p:spPr/>
        <p:txBody>
          <a:bodyPr/>
          <a:lstStyle/>
          <a:p>
            <a:fld id="{B7B6A61F-D5EC-D94C-AC77-FDDBB0B1C35D}" type="slidenum">
              <a:rPr kumimoji="1" lang="zh-CN" altLang="en-US" smtClean="0"/>
              <a:t>1</a:t>
            </a:fld>
            <a:endParaRPr kumimoji="1" lang="zh-CN" altLang="en-US"/>
          </a:p>
        </p:txBody>
      </p:sp>
    </p:spTree>
    <p:extLst>
      <p:ext uri="{BB962C8B-B14F-4D97-AF65-F5344CB8AC3E}">
        <p14:creationId xmlns:p14="http://schemas.microsoft.com/office/powerpoint/2010/main" val="24820210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0129-3A43-3C72-68FF-A05B0A75A0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23A9E6-F39B-C1B9-5DBE-BF194690C148}"/>
              </a:ext>
            </a:extLst>
          </p:cNvPr>
          <p:cNvSpPr>
            <a:spLocks noGrp="1" noRot="1" noChangeAspect="1"/>
          </p:cNvSpPr>
          <p:nvPr>
            <p:ph type="sldImg"/>
          </p:nvPr>
        </p:nvSpPr>
        <p:spPr>
          <a:xfrm>
            <a:off x="1268413" y="433388"/>
            <a:ext cx="2073275" cy="1166812"/>
          </a:xfrm>
        </p:spPr>
      </p:sp>
      <p:sp>
        <p:nvSpPr>
          <p:cNvPr id="3" name="备注占位符 2">
            <a:extLst>
              <a:ext uri="{FF2B5EF4-FFF2-40B4-BE49-F238E27FC236}">
                <a16:creationId xmlns:a16="http://schemas.microsoft.com/office/drawing/2014/main" id="{C6C7D504-4AEF-52EE-4827-23FE5F7AAF87}"/>
              </a:ext>
            </a:extLst>
          </p:cNvPr>
          <p:cNvSpPr>
            <a:spLocks noGrp="1"/>
          </p:cNvSpPr>
          <p:nvPr>
            <p:ph type="body" idx="1"/>
          </p:nvPr>
        </p:nvSpPr>
        <p:spPr/>
        <p:txBody>
          <a:bodyPr/>
          <a:lstStyle/>
          <a:p>
            <a:r>
              <a:rPr kumimoji="1" lang="en" altLang="zh-CN" dirty="0"/>
              <a:t>For the </a:t>
            </a:r>
            <a:r>
              <a:rPr kumimoji="1" lang="en-US" altLang="zh-CN" dirty="0"/>
              <a:t>first</a:t>
            </a:r>
            <a:r>
              <a:rPr kumimoji="1" lang="zh-CN" altLang="en-US" dirty="0"/>
              <a:t> </a:t>
            </a:r>
            <a:r>
              <a:rPr kumimoji="1" lang="en" altLang="zh-CN" dirty="0"/>
              <a:t>task, we also conducted modeling and analysis on the Chicken Atlas. We obtained the definitions of all cell ontology terms from the OLS database as cell type descriptions. We trained the model using all cell types in the Chicken Atlas, except for unknown cells. The training-validation ratio was 97:3, and the test set consisted of 600 samples.</a:t>
            </a:r>
          </a:p>
          <a:p>
            <a:r>
              <a:rPr kumimoji="1" lang="en" altLang="zh-CN" dirty="0"/>
              <a:t>We used the following metrics, commonly used in the NLP field, to evaluate the accuracy of the generated content:</a:t>
            </a:r>
          </a:p>
          <a:p>
            <a:r>
              <a:rPr kumimoji="1" lang="en" altLang="zh-CN" sz="1200" dirty="0"/>
              <a:t>As can be seen from the table, our generative model has very good performance in</a:t>
            </a:r>
            <a:r>
              <a:rPr kumimoji="1" lang="zh-CN" altLang="en-US" sz="1200" dirty="0"/>
              <a:t> </a:t>
            </a:r>
            <a:r>
              <a:rPr kumimoji="1" lang="en-US" altLang="zh-CN" sz="1200" dirty="0"/>
              <a:t>terms</a:t>
            </a:r>
            <a:r>
              <a:rPr kumimoji="1" lang="zh-CN" altLang="en-US" sz="1200" dirty="0"/>
              <a:t> </a:t>
            </a:r>
            <a:r>
              <a:rPr kumimoji="1" lang="en-US" altLang="zh-CN" sz="1200" dirty="0"/>
              <a:t>of</a:t>
            </a:r>
            <a:r>
              <a:rPr kumimoji="1" lang="en" altLang="zh-CN" sz="1200" dirty="0"/>
              <a:t> these </a:t>
            </a:r>
            <a:r>
              <a:rPr kumimoji="1" lang="en-US" altLang="zh-CN" sz="1200" dirty="0"/>
              <a:t>metrics</a:t>
            </a:r>
            <a:r>
              <a:rPr kumimoji="1" lang="en" altLang="zh-CN" sz="1200" dirty="0"/>
              <a:t>.</a:t>
            </a:r>
          </a:p>
          <a:p>
            <a:endParaRPr kumimoji="1" lang="en" altLang="zh-CN" dirty="0"/>
          </a:p>
          <a:p>
            <a:r>
              <a:rPr kumimoji="1" lang="en" altLang="zh-CN" dirty="0"/>
              <a:t>BLEU primarily measures the n-gram overlap between the generated text and the reference text; ROUGE-N (n-gram overlap) and ROUGE-L (</a:t>
            </a:r>
            <a:r>
              <a:rPr kumimoji="1" lang="en-US" altLang="zh-CN" dirty="0"/>
              <a:t>focused</a:t>
            </a:r>
            <a:r>
              <a:rPr kumimoji="1" lang="zh-CN" altLang="en-US" dirty="0"/>
              <a:t> </a:t>
            </a:r>
            <a:r>
              <a:rPr kumimoji="1" lang="en-US" altLang="zh-CN" dirty="0"/>
              <a:t>on</a:t>
            </a:r>
            <a:r>
              <a:rPr kumimoji="1" lang="zh-CN" altLang="en-US" dirty="0"/>
              <a:t> </a:t>
            </a:r>
            <a:r>
              <a:rPr kumimoji="1" lang="en" altLang="zh-CN" dirty="0"/>
              <a:t>longest common subsequence), commonly used in summary generation, focus on recall (the extent to which the generated text covers the reference text);</a:t>
            </a:r>
          </a:p>
          <a:p>
            <a:r>
              <a:rPr kumimoji="1" lang="en" altLang="zh-CN" dirty="0"/>
              <a:t>METEOR incorporates synonym matching and stemming, making it closer to human scores than BLEU; and LEVENSHTEIN primarily assesses the minimum number of edits required to transform a string into another, measuring the similarity between the generated text and the reference text.</a:t>
            </a:r>
          </a:p>
        </p:txBody>
      </p:sp>
      <p:sp>
        <p:nvSpPr>
          <p:cNvPr id="4" name="灯片编号占位符 3">
            <a:extLst>
              <a:ext uri="{FF2B5EF4-FFF2-40B4-BE49-F238E27FC236}">
                <a16:creationId xmlns:a16="http://schemas.microsoft.com/office/drawing/2014/main" id="{E818FBD0-AE10-EE26-78C3-29237E0ABFBC}"/>
              </a:ext>
            </a:extLst>
          </p:cNvPr>
          <p:cNvSpPr>
            <a:spLocks noGrp="1"/>
          </p:cNvSpPr>
          <p:nvPr>
            <p:ph type="sldNum" sz="quarter" idx="5"/>
          </p:nvPr>
        </p:nvSpPr>
        <p:spPr/>
        <p:txBody>
          <a:bodyPr/>
          <a:lstStyle/>
          <a:p>
            <a:fld id="{B7B6A61F-D5EC-D94C-AC77-FDDBB0B1C35D}" type="slidenum">
              <a:rPr kumimoji="1" lang="zh-CN" altLang="en-US" smtClean="0"/>
              <a:t>2</a:t>
            </a:fld>
            <a:endParaRPr kumimoji="1" lang="zh-CN" altLang="en-US"/>
          </a:p>
        </p:txBody>
      </p:sp>
    </p:spTree>
    <p:extLst>
      <p:ext uri="{BB962C8B-B14F-4D97-AF65-F5344CB8AC3E}">
        <p14:creationId xmlns:p14="http://schemas.microsoft.com/office/powerpoint/2010/main" val="3937699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87A4A-9285-8937-691F-F536606B1C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E118BD-1E0D-5C11-0CDD-346E7EE2637C}"/>
              </a:ext>
            </a:extLst>
          </p:cNvPr>
          <p:cNvSpPr>
            <a:spLocks noGrp="1" noRot="1" noChangeAspect="1"/>
          </p:cNvSpPr>
          <p:nvPr>
            <p:ph type="sldImg"/>
          </p:nvPr>
        </p:nvSpPr>
        <p:spPr>
          <a:xfrm>
            <a:off x="1268413" y="433388"/>
            <a:ext cx="2073275" cy="1166812"/>
          </a:xfrm>
        </p:spPr>
      </p:sp>
      <p:sp>
        <p:nvSpPr>
          <p:cNvPr id="3" name="备注占位符 2">
            <a:extLst>
              <a:ext uri="{FF2B5EF4-FFF2-40B4-BE49-F238E27FC236}">
                <a16:creationId xmlns:a16="http://schemas.microsoft.com/office/drawing/2014/main" id="{E393BD7F-2C66-EE40-DE13-E291C7F09CE7}"/>
              </a:ext>
            </a:extLst>
          </p:cNvPr>
          <p:cNvSpPr>
            <a:spLocks noGrp="1"/>
          </p:cNvSpPr>
          <p:nvPr>
            <p:ph type="body" idx="1"/>
          </p:nvPr>
        </p:nvSpPr>
        <p:spPr/>
        <p:txBody>
          <a:bodyPr/>
          <a:lstStyle/>
          <a:p>
            <a:r>
              <a:rPr kumimoji="1" lang="en" altLang="zh-CN" dirty="0"/>
              <a:t>For the </a:t>
            </a:r>
            <a:r>
              <a:rPr kumimoji="1" lang="en-US" altLang="zh-CN" dirty="0"/>
              <a:t>first</a:t>
            </a:r>
            <a:r>
              <a:rPr kumimoji="1" lang="zh-CN" altLang="en-US" dirty="0"/>
              <a:t> </a:t>
            </a:r>
            <a:r>
              <a:rPr kumimoji="1" lang="en" altLang="zh-CN" dirty="0"/>
              <a:t>task, we also conducted modeling and analysis on the Chicken Atlas. We obtained the definitions of all cell ontology terms from the OLS database as cell type descriptions. We trained the model using all cell types in the Chicken Atlas, except for unknown cells. The training-validation ratio was 97:3, and the test set consisted of 600 samples.</a:t>
            </a:r>
          </a:p>
          <a:p>
            <a:r>
              <a:rPr kumimoji="1" lang="en" altLang="zh-CN" dirty="0"/>
              <a:t>We used the following metrics, commonly used in the NLP field, to evaluate the accuracy of the generated content:</a:t>
            </a:r>
          </a:p>
          <a:p>
            <a:r>
              <a:rPr kumimoji="1" lang="en" altLang="zh-CN" sz="1200" dirty="0"/>
              <a:t>As can be seen from the table, our generative model has very good performance in</a:t>
            </a:r>
            <a:r>
              <a:rPr kumimoji="1" lang="zh-CN" altLang="en-US" sz="1200" dirty="0"/>
              <a:t> </a:t>
            </a:r>
            <a:r>
              <a:rPr kumimoji="1" lang="en-US" altLang="zh-CN" sz="1200" dirty="0"/>
              <a:t>terms</a:t>
            </a:r>
            <a:r>
              <a:rPr kumimoji="1" lang="zh-CN" altLang="en-US" sz="1200" dirty="0"/>
              <a:t> </a:t>
            </a:r>
            <a:r>
              <a:rPr kumimoji="1" lang="en-US" altLang="zh-CN" sz="1200" dirty="0"/>
              <a:t>of</a:t>
            </a:r>
            <a:r>
              <a:rPr kumimoji="1" lang="en" altLang="zh-CN" sz="1200" dirty="0"/>
              <a:t> these </a:t>
            </a:r>
            <a:r>
              <a:rPr kumimoji="1" lang="en-US" altLang="zh-CN" sz="1200" dirty="0"/>
              <a:t>metrics</a:t>
            </a:r>
            <a:r>
              <a:rPr kumimoji="1" lang="en" altLang="zh-CN" sz="1200" dirty="0"/>
              <a:t>.</a:t>
            </a:r>
          </a:p>
          <a:p>
            <a:endParaRPr kumimoji="1" lang="en" altLang="zh-CN" dirty="0"/>
          </a:p>
          <a:p>
            <a:r>
              <a:rPr kumimoji="1" lang="en" altLang="zh-CN" dirty="0"/>
              <a:t>BLEU primarily measures the n-gram overlap between the generated text and the reference text; ROUGE-N (n-gram overlap) and ROUGE-L (</a:t>
            </a:r>
            <a:r>
              <a:rPr kumimoji="1" lang="en-US" altLang="zh-CN" dirty="0"/>
              <a:t>focused</a:t>
            </a:r>
            <a:r>
              <a:rPr kumimoji="1" lang="zh-CN" altLang="en-US" dirty="0"/>
              <a:t> </a:t>
            </a:r>
            <a:r>
              <a:rPr kumimoji="1" lang="en-US" altLang="zh-CN" dirty="0"/>
              <a:t>on</a:t>
            </a:r>
            <a:r>
              <a:rPr kumimoji="1" lang="zh-CN" altLang="en-US" dirty="0"/>
              <a:t> </a:t>
            </a:r>
            <a:r>
              <a:rPr kumimoji="1" lang="en" altLang="zh-CN" dirty="0"/>
              <a:t>longest common subsequence), commonly used in summary generation, focus on recall (the extent to which the generated text covers the reference text);</a:t>
            </a:r>
          </a:p>
          <a:p>
            <a:r>
              <a:rPr kumimoji="1" lang="en" altLang="zh-CN" dirty="0"/>
              <a:t>METEOR incorporates synonym matching and stemming, making it closer to human scores than BLEU; and LEVENSHTEIN primarily assesses the minimum number of edits required to transform a string into another, measuring the similarity between the generated text and the reference text.</a:t>
            </a:r>
          </a:p>
        </p:txBody>
      </p:sp>
      <p:sp>
        <p:nvSpPr>
          <p:cNvPr id="4" name="灯片编号占位符 3">
            <a:extLst>
              <a:ext uri="{FF2B5EF4-FFF2-40B4-BE49-F238E27FC236}">
                <a16:creationId xmlns:a16="http://schemas.microsoft.com/office/drawing/2014/main" id="{75D91AEC-E72E-DB81-B2AC-307A6B523D22}"/>
              </a:ext>
            </a:extLst>
          </p:cNvPr>
          <p:cNvSpPr>
            <a:spLocks noGrp="1"/>
          </p:cNvSpPr>
          <p:nvPr>
            <p:ph type="sldNum" sz="quarter" idx="5"/>
          </p:nvPr>
        </p:nvSpPr>
        <p:spPr/>
        <p:txBody>
          <a:bodyPr/>
          <a:lstStyle/>
          <a:p>
            <a:fld id="{B7B6A61F-D5EC-D94C-AC77-FDDBB0B1C35D}" type="slidenum">
              <a:rPr kumimoji="1" lang="zh-CN" altLang="en-US" smtClean="0"/>
              <a:t>3</a:t>
            </a:fld>
            <a:endParaRPr kumimoji="1" lang="zh-CN" altLang="en-US"/>
          </a:p>
        </p:txBody>
      </p:sp>
    </p:spTree>
    <p:extLst>
      <p:ext uri="{BB962C8B-B14F-4D97-AF65-F5344CB8AC3E}">
        <p14:creationId xmlns:p14="http://schemas.microsoft.com/office/powerpoint/2010/main" val="3815863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64370-032F-ECC5-ACF9-47F667E13D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F6DD06-7B03-1FE7-F020-5719D4377CE0}"/>
              </a:ext>
            </a:extLst>
          </p:cNvPr>
          <p:cNvSpPr>
            <a:spLocks noGrp="1" noRot="1" noChangeAspect="1"/>
          </p:cNvSpPr>
          <p:nvPr>
            <p:ph type="sldImg"/>
          </p:nvPr>
        </p:nvSpPr>
        <p:spPr>
          <a:xfrm>
            <a:off x="1268413" y="433388"/>
            <a:ext cx="2073275" cy="1166812"/>
          </a:xfrm>
        </p:spPr>
      </p:sp>
      <p:sp>
        <p:nvSpPr>
          <p:cNvPr id="3" name="备注占位符 2">
            <a:extLst>
              <a:ext uri="{FF2B5EF4-FFF2-40B4-BE49-F238E27FC236}">
                <a16:creationId xmlns:a16="http://schemas.microsoft.com/office/drawing/2014/main" id="{5E7F64F9-7D3D-B19E-8F5E-E597F7987B50}"/>
              </a:ext>
            </a:extLst>
          </p:cNvPr>
          <p:cNvSpPr>
            <a:spLocks noGrp="1"/>
          </p:cNvSpPr>
          <p:nvPr>
            <p:ph type="body" idx="1"/>
          </p:nvPr>
        </p:nvSpPr>
        <p:spPr/>
        <p:txBody>
          <a:bodyPr/>
          <a:lstStyle/>
          <a:p>
            <a:r>
              <a:rPr kumimoji="1" lang="en" altLang="zh-CN" dirty="0"/>
              <a:t>For the </a:t>
            </a:r>
            <a:r>
              <a:rPr kumimoji="1" lang="en-US" altLang="zh-CN" dirty="0"/>
              <a:t>first</a:t>
            </a:r>
            <a:r>
              <a:rPr kumimoji="1" lang="zh-CN" altLang="en-US" dirty="0"/>
              <a:t> </a:t>
            </a:r>
            <a:r>
              <a:rPr kumimoji="1" lang="en" altLang="zh-CN" dirty="0"/>
              <a:t>task, we also conducted modeling and analysis on the Chicken Atlas. We obtained the definitions of all cell ontology terms from the OLS database as cell type descriptions. We trained the model using all cell types in the Chicken Atlas, except for unknown cells. The training-validation ratio was 97:3, and the test set consisted of 600 samples.</a:t>
            </a:r>
          </a:p>
          <a:p>
            <a:r>
              <a:rPr kumimoji="1" lang="en" altLang="zh-CN" dirty="0"/>
              <a:t>We used the following metrics, commonly used in the NLP field, to evaluate the accuracy of the generated content:</a:t>
            </a:r>
          </a:p>
          <a:p>
            <a:r>
              <a:rPr kumimoji="1" lang="en" altLang="zh-CN" sz="1200" dirty="0"/>
              <a:t>As can be seen from the table, our generative model has very good performance in</a:t>
            </a:r>
            <a:r>
              <a:rPr kumimoji="1" lang="zh-CN" altLang="en-US" sz="1200" dirty="0"/>
              <a:t> </a:t>
            </a:r>
            <a:r>
              <a:rPr kumimoji="1" lang="en-US" altLang="zh-CN" sz="1200" dirty="0"/>
              <a:t>terms</a:t>
            </a:r>
            <a:r>
              <a:rPr kumimoji="1" lang="zh-CN" altLang="en-US" sz="1200" dirty="0"/>
              <a:t> </a:t>
            </a:r>
            <a:r>
              <a:rPr kumimoji="1" lang="en-US" altLang="zh-CN" sz="1200" dirty="0"/>
              <a:t>of</a:t>
            </a:r>
            <a:r>
              <a:rPr kumimoji="1" lang="en" altLang="zh-CN" sz="1200" dirty="0"/>
              <a:t> these </a:t>
            </a:r>
            <a:r>
              <a:rPr kumimoji="1" lang="en-US" altLang="zh-CN" sz="1200" dirty="0"/>
              <a:t>metrics</a:t>
            </a:r>
            <a:r>
              <a:rPr kumimoji="1" lang="en" altLang="zh-CN" sz="1200" dirty="0"/>
              <a:t>.</a:t>
            </a:r>
          </a:p>
          <a:p>
            <a:endParaRPr kumimoji="1" lang="en" altLang="zh-CN" dirty="0"/>
          </a:p>
          <a:p>
            <a:r>
              <a:rPr kumimoji="1" lang="en" altLang="zh-CN" dirty="0"/>
              <a:t>BLEU primarily measures the n-gram overlap between the generated text and the reference text; ROUGE-N (n-gram overlap) and ROUGE-L (</a:t>
            </a:r>
            <a:r>
              <a:rPr kumimoji="1" lang="en-US" altLang="zh-CN" dirty="0"/>
              <a:t>focused</a:t>
            </a:r>
            <a:r>
              <a:rPr kumimoji="1" lang="zh-CN" altLang="en-US" dirty="0"/>
              <a:t> </a:t>
            </a:r>
            <a:r>
              <a:rPr kumimoji="1" lang="en-US" altLang="zh-CN" dirty="0"/>
              <a:t>on</a:t>
            </a:r>
            <a:r>
              <a:rPr kumimoji="1" lang="zh-CN" altLang="en-US" dirty="0"/>
              <a:t> </a:t>
            </a:r>
            <a:r>
              <a:rPr kumimoji="1" lang="en" altLang="zh-CN" dirty="0"/>
              <a:t>longest common subsequence), commonly used in summary generation, focus on recall (the extent to which the generated text covers the reference text);</a:t>
            </a:r>
          </a:p>
          <a:p>
            <a:r>
              <a:rPr kumimoji="1" lang="en" altLang="zh-CN" dirty="0"/>
              <a:t>METEOR incorporates synonym matching and stemming, making it closer to human scores than BLEU; and LEVENSHTEIN primarily assesses the minimum number of edits required to transform a string into another, measuring the similarity between the generated text and the reference text.</a:t>
            </a:r>
          </a:p>
        </p:txBody>
      </p:sp>
      <p:sp>
        <p:nvSpPr>
          <p:cNvPr id="4" name="灯片编号占位符 3">
            <a:extLst>
              <a:ext uri="{FF2B5EF4-FFF2-40B4-BE49-F238E27FC236}">
                <a16:creationId xmlns:a16="http://schemas.microsoft.com/office/drawing/2014/main" id="{ED82F3D5-9B59-A9D9-E87B-F0F4AA9C62F0}"/>
              </a:ext>
            </a:extLst>
          </p:cNvPr>
          <p:cNvSpPr>
            <a:spLocks noGrp="1"/>
          </p:cNvSpPr>
          <p:nvPr>
            <p:ph type="sldNum" sz="quarter" idx="5"/>
          </p:nvPr>
        </p:nvSpPr>
        <p:spPr/>
        <p:txBody>
          <a:bodyPr/>
          <a:lstStyle/>
          <a:p>
            <a:fld id="{B7B6A61F-D5EC-D94C-AC77-FDDBB0B1C35D}" type="slidenum">
              <a:rPr kumimoji="1" lang="zh-CN" altLang="en-US" smtClean="0"/>
              <a:t>4</a:t>
            </a:fld>
            <a:endParaRPr kumimoji="1" lang="zh-CN" altLang="en-US"/>
          </a:p>
        </p:txBody>
      </p:sp>
    </p:spTree>
    <p:extLst>
      <p:ext uri="{BB962C8B-B14F-4D97-AF65-F5344CB8AC3E}">
        <p14:creationId xmlns:p14="http://schemas.microsoft.com/office/powerpoint/2010/main" val="3382069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A0802-FC9C-656C-3FAD-450F2FD20FD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06DC568-BBAB-D14E-589C-81AEC3EA822C}"/>
              </a:ext>
            </a:extLst>
          </p:cNvPr>
          <p:cNvSpPr>
            <a:spLocks noGrp="1" noRot="1" noChangeAspect="1"/>
          </p:cNvSpPr>
          <p:nvPr>
            <p:ph type="sldImg"/>
          </p:nvPr>
        </p:nvSpPr>
        <p:spPr>
          <a:xfrm>
            <a:off x="1268413" y="433388"/>
            <a:ext cx="2073275" cy="1166812"/>
          </a:xfrm>
        </p:spPr>
      </p:sp>
      <p:sp>
        <p:nvSpPr>
          <p:cNvPr id="3" name="备注占位符 2">
            <a:extLst>
              <a:ext uri="{FF2B5EF4-FFF2-40B4-BE49-F238E27FC236}">
                <a16:creationId xmlns:a16="http://schemas.microsoft.com/office/drawing/2014/main" id="{B0DA2157-89C6-3B73-732A-2A89B6B6065A}"/>
              </a:ext>
            </a:extLst>
          </p:cNvPr>
          <p:cNvSpPr>
            <a:spLocks noGrp="1"/>
          </p:cNvSpPr>
          <p:nvPr>
            <p:ph type="body" idx="1"/>
          </p:nvPr>
        </p:nvSpPr>
        <p:spPr/>
        <p:txBody>
          <a:bodyPr/>
          <a:lstStyle/>
          <a:p>
            <a:endParaRPr kumimoji="1" lang="en" altLang="zh-CN" dirty="0"/>
          </a:p>
        </p:txBody>
      </p:sp>
      <p:sp>
        <p:nvSpPr>
          <p:cNvPr id="4" name="灯片编号占位符 3">
            <a:extLst>
              <a:ext uri="{FF2B5EF4-FFF2-40B4-BE49-F238E27FC236}">
                <a16:creationId xmlns:a16="http://schemas.microsoft.com/office/drawing/2014/main" id="{AB9EC057-E44A-42F6-4E9F-6D35F2DD5DFD}"/>
              </a:ext>
            </a:extLst>
          </p:cNvPr>
          <p:cNvSpPr>
            <a:spLocks noGrp="1"/>
          </p:cNvSpPr>
          <p:nvPr>
            <p:ph type="sldNum" sz="quarter" idx="5"/>
          </p:nvPr>
        </p:nvSpPr>
        <p:spPr/>
        <p:txBody>
          <a:bodyPr/>
          <a:lstStyle/>
          <a:p>
            <a:fld id="{B7B6A61F-D5EC-D94C-AC77-FDDBB0B1C35D}" type="slidenum">
              <a:rPr kumimoji="1" lang="zh-CN" altLang="en-US" smtClean="0"/>
              <a:t>5</a:t>
            </a:fld>
            <a:endParaRPr kumimoji="1" lang="zh-CN" altLang="en-US"/>
          </a:p>
        </p:txBody>
      </p:sp>
    </p:spTree>
    <p:extLst>
      <p:ext uri="{BB962C8B-B14F-4D97-AF65-F5344CB8AC3E}">
        <p14:creationId xmlns:p14="http://schemas.microsoft.com/office/powerpoint/2010/main" val="3724843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38307-6973-3158-1B30-568FAA34546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82F2BFE-CA63-3512-A3C5-3BF816A42167}"/>
              </a:ext>
            </a:extLst>
          </p:cNvPr>
          <p:cNvSpPr>
            <a:spLocks noGrp="1" noRot="1" noChangeAspect="1"/>
          </p:cNvSpPr>
          <p:nvPr>
            <p:ph type="sldImg"/>
          </p:nvPr>
        </p:nvSpPr>
        <p:spPr>
          <a:xfrm>
            <a:off x="1268413" y="433388"/>
            <a:ext cx="2073275" cy="1166812"/>
          </a:xfrm>
        </p:spPr>
      </p:sp>
      <p:sp>
        <p:nvSpPr>
          <p:cNvPr id="3" name="备注占位符 2">
            <a:extLst>
              <a:ext uri="{FF2B5EF4-FFF2-40B4-BE49-F238E27FC236}">
                <a16:creationId xmlns:a16="http://schemas.microsoft.com/office/drawing/2014/main" id="{CE340D35-7989-0FB7-A636-606EAF28C2BE}"/>
              </a:ext>
            </a:extLst>
          </p:cNvPr>
          <p:cNvSpPr>
            <a:spLocks noGrp="1"/>
          </p:cNvSpPr>
          <p:nvPr>
            <p:ph type="body" idx="1"/>
          </p:nvPr>
        </p:nvSpPr>
        <p:spPr/>
        <p:txBody>
          <a:bodyPr/>
          <a:lstStyle/>
          <a:p>
            <a:endParaRPr kumimoji="1" lang="en" altLang="zh-CN" dirty="0"/>
          </a:p>
        </p:txBody>
      </p:sp>
      <p:sp>
        <p:nvSpPr>
          <p:cNvPr id="4" name="灯片编号占位符 3">
            <a:extLst>
              <a:ext uri="{FF2B5EF4-FFF2-40B4-BE49-F238E27FC236}">
                <a16:creationId xmlns:a16="http://schemas.microsoft.com/office/drawing/2014/main" id="{1F60D1C5-AD41-DCF2-ACB6-894F62FA3CD7}"/>
              </a:ext>
            </a:extLst>
          </p:cNvPr>
          <p:cNvSpPr>
            <a:spLocks noGrp="1"/>
          </p:cNvSpPr>
          <p:nvPr>
            <p:ph type="sldNum" sz="quarter" idx="5"/>
          </p:nvPr>
        </p:nvSpPr>
        <p:spPr/>
        <p:txBody>
          <a:bodyPr/>
          <a:lstStyle/>
          <a:p>
            <a:fld id="{B7B6A61F-D5EC-D94C-AC77-FDDBB0B1C35D}" type="slidenum">
              <a:rPr kumimoji="1" lang="zh-CN" altLang="en-US" smtClean="0"/>
              <a:t>6</a:t>
            </a:fld>
            <a:endParaRPr kumimoji="1" lang="zh-CN" altLang="en-US"/>
          </a:p>
        </p:txBody>
      </p:sp>
    </p:spTree>
    <p:extLst>
      <p:ext uri="{BB962C8B-B14F-4D97-AF65-F5344CB8AC3E}">
        <p14:creationId xmlns:p14="http://schemas.microsoft.com/office/powerpoint/2010/main" val="325525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670BC-176D-1FC8-4EEB-615DBAB38A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5D75B02-4B2B-2A67-CF33-47D477AEFC52}"/>
              </a:ext>
            </a:extLst>
          </p:cNvPr>
          <p:cNvSpPr>
            <a:spLocks noGrp="1" noRot="1" noChangeAspect="1"/>
          </p:cNvSpPr>
          <p:nvPr>
            <p:ph type="sldImg"/>
          </p:nvPr>
        </p:nvSpPr>
        <p:spPr>
          <a:xfrm>
            <a:off x="1268413" y="433388"/>
            <a:ext cx="2073275" cy="1166812"/>
          </a:xfrm>
        </p:spPr>
      </p:sp>
      <p:sp>
        <p:nvSpPr>
          <p:cNvPr id="3" name="备注占位符 2">
            <a:extLst>
              <a:ext uri="{FF2B5EF4-FFF2-40B4-BE49-F238E27FC236}">
                <a16:creationId xmlns:a16="http://schemas.microsoft.com/office/drawing/2014/main" id="{FADA9EE9-A982-474A-6DF8-D0A70E207821}"/>
              </a:ext>
            </a:extLst>
          </p:cNvPr>
          <p:cNvSpPr>
            <a:spLocks noGrp="1"/>
          </p:cNvSpPr>
          <p:nvPr>
            <p:ph type="body" idx="1"/>
          </p:nvPr>
        </p:nvSpPr>
        <p:spPr/>
        <p:txBody>
          <a:bodyPr/>
          <a:lstStyle/>
          <a:p>
            <a:endParaRPr kumimoji="1" lang="en" altLang="zh-CN" dirty="0"/>
          </a:p>
        </p:txBody>
      </p:sp>
      <p:sp>
        <p:nvSpPr>
          <p:cNvPr id="4" name="灯片编号占位符 3">
            <a:extLst>
              <a:ext uri="{FF2B5EF4-FFF2-40B4-BE49-F238E27FC236}">
                <a16:creationId xmlns:a16="http://schemas.microsoft.com/office/drawing/2014/main" id="{7281F848-C18F-CFB3-FDFB-D78F40B34A3F}"/>
              </a:ext>
            </a:extLst>
          </p:cNvPr>
          <p:cNvSpPr>
            <a:spLocks noGrp="1"/>
          </p:cNvSpPr>
          <p:nvPr>
            <p:ph type="sldNum" sz="quarter" idx="5"/>
          </p:nvPr>
        </p:nvSpPr>
        <p:spPr/>
        <p:txBody>
          <a:bodyPr/>
          <a:lstStyle/>
          <a:p>
            <a:fld id="{B7B6A61F-D5EC-D94C-AC77-FDDBB0B1C35D}" type="slidenum">
              <a:rPr kumimoji="1" lang="zh-CN" altLang="en-US" smtClean="0"/>
              <a:t>7</a:t>
            </a:fld>
            <a:endParaRPr kumimoji="1" lang="zh-CN" altLang="en-US"/>
          </a:p>
        </p:txBody>
      </p:sp>
    </p:spTree>
    <p:extLst>
      <p:ext uri="{BB962C8B-B14F-4D97-AF65-F5344CB8AC3E}">
        <p14:creationId xmlns:p14="http://schemas.microsoft.com/office/powerpoint/2010/main" val="2024369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8DB651-A6BD-4BFC-6917-2E93B6C17E15}"/>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7E6EE78F-C0C7-DF7A-88AB-84B9528B47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F3455F5-EB59-1EA3-28B2-494E37AE5393}"/>
              </a:ext>
            </a:extLst>
          </p:cNvPr>
          <p:cNvSpPr>
            <a:spLocks noGrp="1"/>
          </p:cNvSpPr>
          <p:nvPr>
            <p:ph type="dt" sz="half" idx="10"/>
          </p:nvPr>
        </p:nvSpPr>
        <p:spPr/>
        <p:txBody>
          <a:bodyPr/>
          <a:lstStyle/>
          <a:p>
            <a:fld id="{D957A410-3760-AE45-91D5-C85FB40CDBF2}" type="datetimeFigureOut">
              <a:rPr kumimoji="1" lang="zh-CN" altLang="en-US" smtClean="0"/>
              <a:t>2026/5/28</a:t>
            </a:fld>
            <a:endParaRPr kumimoji="1" lang="zh-CN" altLang="en-US"/>
          </a:p>
        </p:txBody>
      </p:sp>
      <p:sp>
        <p:nvSpPr>
          <p:cNvPr id="5" name="页脚占位符 4">
            <a:extLst>
              <a:ext uri="{FF2B5EF4-FFF2-40B4-BE49-F238E27FC236}">
                <a16:creationId xmlns:a16="http://schemas.microsoft.com/office/drawing/2014/main" id="{6C80E4CE-CA51-307C-594E-F81877A8C70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FA2F8BB-C8B9-8656-6EB2-FA17A61BFD4E}"/>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1337836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6B7A40-3D9C-67F3-CA92-FFB8F7A1A5A1}"/>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C9B34551-A9F3-EB50-6663-1C25568DC7EC}"/>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D01FE50-1739-1040-F60E-56D842EFB109}"/>
              </a:ext>
            </a:extLst>
          </p:cNvPr>
          <p:cNvSpPr>
            <a:spLocks noGrp="1"/>
          </p:cNvSpPr>
          <p:nvPr>
            <p:ph type="dt" sz="half" idx="10"/>
          </p:nvPr>
        </p:nvSpPr>
        <p:spPr/>
        <p:txBody>
          <a:bodyPr/>
          <a:lstStyle/>
          <a:p>
            <a:fld id="{D957A410-3760-AE45-91D5-C85FB40CDBF2}" type="datetimeFigureOut">
              <a:rPr kumimoji="1" lang="zh-CN" altLang="en-US" smtClean="0"/>
              <a:t>2026/5/28</a:t>
            </a:fld>
            <a:endParaRPr kumimoji="1" lang="zh-CN" altLang="en-US"/>
          </a:p>
        </p:txBody>
      </p:sp>
      <p:sp>
        <p:nvSpPr>
          <p:cNvPr id="5" name="页脚占位符 4">
            <a:extLst>
              <a:ext uri="{FF2B5EF4-FFF2-40B4-BE49-F238E27FC236}">
                <a16:creationId xmlns:a16="http://schemas.microsoft.com/office/drawing/2014/main" id="{E863B0A6-4897-A54C-51B6-C0774226685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B586627-1C45-EBEB-6719-817ADDF5D27D}"/>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211959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F39954-EC1C-5652-C7D1-12527DEE0C64}"/>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9E506CC8-15F7-477F-13C4-497D94919D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06AB7AB4-F79F-827E-C71E-1BD85C45662F}"/>
              </a:ext>
            </a:extLst>
          </p:cNvPr>
          <p:cNvSpPr>
            <a:spLocks noGrp="1"/>
          </p:cNvSpPr>
          <p:nvPr>
            <p:ph type="dt" sz="half" idx="10"/>
          </p:nvPr>
        </p:nvSpPr>
        <p:spPr/>
        <p:txBody>
          <a:bodyPr/>
          <a:lstStyle/>
          <a:p>
            <a:fld id="{D957A410-3760-AE45-91D5-C85FB40CDBF2}" type="datetimeFigureOut">
              <a:rPr kumimoji="1" lang="zh-CN" altLang="en-US" smtClean="0"/>
              <a:t>2026/5/28</a:t>
            </a:fld>
            <a:endParaRPr kumimoji="1" lang="zh-CN" altLang="en-US"/>
          </a:p>
        </p:txBody>
      </p:sp>
      <p:sp>
        <p:nvSpPr>
          <p:cNvPr id="5" name="页脚占位符 4">
            <a:extLst>
              <a:ext uri="{FF2B5EF4-FFF2-40B4-BE49-F238E27FC236}">
                <a16:creationId xmlns:a16="http://schemas.microsoft.com/office/drawing/2014/main" id="{9928FB63-DA03-8AEF-D264-1D610AC4802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794350C-3345-8EF9-FE6A-63916FD9A994}"/>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2143827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2A6F6F-E347-95A6-5CA3-9CCFCC82530C}"/>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F3B82D76-E447-5D16-97BA-1889D2E9A7AF}"/>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039D33B6-BA75-9795-A2B8-30058EF08207}"/>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23C9CCBA-E6F0-4CD1-0782-B4EFDAB739BE}"/>
              </a:ext>
            </a:extLst>
          </p:cNvPr>
          <p:cNvSpPr>
            <a:spLocks noGrp="1"/>
          </p:cNvSpPr>
          <p:nvPr>
            <p:ph type="dt" sz="half" idx="10"/>
          </p:nvPr>
        </p:nvSpPr>
        <p:spPr/>
        <p:txBody>
          <a:bodyPr/>
          <a:lstStyle/>
          <a:p>
            <a:fld id="{D957A410-3760-AE45-91D5-C85FB40CDBF2}" type="datetimeFigureOut">
              <a:rPr kumimoji="1" lang="zh-CN" altLang="en-US" smtClean="0"/>
              <a:t>2026/5/28</a:t>
            </a:fld>
            <a:endParaRPr kumimoji="1" lang="zh-CN" altLang="en-US"/>
          </a:p>
        </p:txBody>
      </p:sp>
      <p:sp>
        <p:nvSpPr>
          <p:cNvPr id="6" name="页脚占位符 5">
            <a:extLst>
              <a:ext uri="{FF2B5EF4-FFF2-40B4-BE49-F238E27FC236}">
                <a16:creationId xmlns:a16="http://schemas.microsoft.com/office/drawing/2014/main" id="{F577A154-9DFD-B938-614B-64EB8D0F796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9912415F-31DF-D131-5454-4B62A3D9DED4}"/>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149064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389AC2-D8AB-E966-3B4B-FFA876A68EB4}"/>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C13F6B2-D427-16B3-8E74-6876A1C468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6E49B058-64B6-3890-A378-71212725A463}"/>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F90B0D2A-BDE1-C14D-9FF2-0981BCAC2D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22981D2A-2212-A62D-F9BC-B89735B1CCFC}"/>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53B96C79-F754-ED85-DC1B-9EE4878E40D5}"/>
              </a:ext>
            </a:extLst>
          </p:cNvPr>
          <p:cNvSpPr>
            <a:spLocks noGrp="1"/>
          </p:cNvSpPr>
          <p:nvPr>
            <p:ph type="dt" sz="half" idx="10"/>
          </p:nvPr>
        </p:nvSpPr>
        <p:spPr/>
        <p:txBody>
          <a:bodyPr/>
          <a:lstStyle/>
          <a:p>
            <a:fld id="{D957A410-3760-AE45-91D5-C85FB40CDBF2}" type="datetimeFigureOut">
              <a:rPr kumimoji="1" lang="zh-CN" altLang="en-US" smtClean="0"/>
              <a:t>2026/5/28</a:t>
            </a:fld>
            <a:endParaRPr kumimoji="1" lang="zh-CN" altLang="en-US"/>
          </a:p>
        </p:txBody>
      </p:sp>
      <p:sp>
        <p:nvSpPr>
          <p:cNvPr id="8" name="页脚占位符 7">
            <a:extLst>
              <a:ext uri="{FF2B5EF4-FFF2-40B4-BE49-F238E27FC236}">
                <a16:creationId xmlns:a16="http://schemas.microsoft.com/office/drawing/2014/main" id="{95C42397-B004-9D14-0CB8-EC1285E033B2}"/>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8B16A517-4860-5615-E16D-68C75069CE10}"/>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81962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E16341-8654-0C1C-5599-89A92846F7D6}"/>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FA1668C-15B9-4E9D-0357-695F46F99784}"/>
              </a:ext>
            </a:extLst>
          </p:cNvPr>
          <p:cNvSpPr>
            <a:spLocks noGrp="1"/>
          </p:cNvSpPr>
          <p:nvPr>
            <p:ph type="dt" sz="half" idx="10"/>
          </p:nvPr>
        </p:nvSpPr>
        <p:spPr/>
        <p:txBody>
          <a:bodyPr/>
          <a:lstStyle/>
          <a:p>
            <a:fld id="{D957A410-3760-AE45-91D5-C85FB40CDBF2}" type="datetimeFigureOut">
              <a:rPr kumimoji="1" lang="zh-CN" altLang="en-US" smtClean="0"/>
              <a:t>2026/5/28</a:t>
            </a:fld>
            <a:endParaRPr kumimoji="1" lang="zh-CN" altLang="en-US"/>
          </a:p>
        </p:txBody>
      </p:sp>
      <p:sp>
        <p:nvSpPr>
          <p:cNvPr id="4" name="页脚占位符 3">
            <a:extLst>
              <a:ext uri="{FF2B5EF4-FFF2-40B4-BE49-F238E27FC236}">
                <a16:creationId xmlns:a16="http://schemas.microsoft.com/office/drawing/2014/main" id="{27C476E3-488E-6EF8-026A-E4F549544BC7}"/>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418A0B0C-66C0-DF49-148B-8E8923EF27AF}"/>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1198954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6B5D1D0-DDEF-920A-6BB4-F859B5B10A7B}"/>
              </a:ext>
            </a:extLst>
          </p:cNvPr>
          <p:cNvSpPr>
            <a:spLocks noGrp="1"/>
          </p:cNvSpPr>
          <p:nvPr>
            <p:ph type="dt" sz="half" idx="10"/>
          </p:nvPr>
        </p:nvSpPr>
        <p:spPr/>
        <p:txBody>
          <a:bodyPr/>
          <a:lstStyle/>
          <a:p>
            <a:fld id="{D957A410-3760-AE45-91D5-C85FB40CDBF2}" type="datetimeFigureOut">
              <a:rPr kumimoji="1" lang="zh-CN" altLang="en-US" smtClean="0"/>
              <a:t>2026/5/28</a:t>
            </a:fld>
            <a:endParaRPr kumimoji="1" lang="zh-CN" altLang="en-US"/>
          </a:p>
        </p:txBody>
      </p:sp>
      <p:sp>
        <p:nvSpPr>
          <p:cNvPr id="3" name="页脚占位符 2">
            <a:extLst>
              <a:ext uri="{FF2B5EF4-FFF2-40B4-BE49-F238E27FC236}">
                <a16:creationId xmlns:a16="http://schemas.microsoft.com/office/drawing/2014/main" id="{4BED9966-0486-F89D-4214-8977257A9A3E}"/>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236044D1-C2DF-5F4C-69C4-0849A7562FFF}"/>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3645380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F74EFA-5A64-C512-13E5-FCA7DCA1E747}"/>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496B7A20-2FD3-8510-C83D-1E6F1E07B7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95A0B6F5-2D6E-606C-43E2-EEA6B5D084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434A55B-CD9B-75E8-3938-CC6B07792486}"/>
              </a:ext>
            </a:extLst>
          </p:cNvPr>
          <p:cNvSpPr>
            <a:spLocks noGrp="1"/>
          </p:cNvSpPr>
          <p:nvPr>
            <p:ph type="dt" sz="half" idx="10"/>
          </p:nvPr>
        </p:nvSpPr>
        <p:spPr/>
        <p:txBody>
          <a:bodyPr/>
          <a:lstStyle/>
          <a:p>
            <a:fld id="{D957A410-3760-AE45-91D5-C85FB40CDBF2}" type="datetimeFigureOut">
              <a:rPr kumimoji="1" lang="zh-CN" altLang="en-US" smtClean="0"/>
              <a:t>2026/5/28</a:t>
            </a:fld>
            <a:endParaRPr kumimoji="1" lang="zh-CN" altLang="en-US"/>
          </a:p>
        </p:txBody>
      </p:sp>
      <p:sp>
        <p:nvSpPr>
          <p:cNvPr id="6" name="页脚占位符 5">
            <a:extLst>
              <a:ext uri="{FF2B5EF4-FFF2-40B4-BE49-F238E27FC236}">
                <a16:creationId xmlns:a16="http://schemas.microsoft.com/office/drawing/2014/main" id="{CA1C529F-F879-540E-253E-30B0F6F5ECD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00594C5-EE23-4EA7-409F-EC47192D1E9B}"/>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3618634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8B400-57C1-BC01-28CE-2389717315F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04377F48-F201-3BE4-AE33-D26A0E9E33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F7D5C56E-B88A-D0E0-7D51-62CCF934F3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120D6AFA-8A42-CABE-DED3-6CF68CFE5EF7}"/>
              </a:ext>
            </a:extLst>
          </p:cNvPr>
          <p:cNvSpPr>
            <a:spLocks noGrp="1"/>
          </p:cNvSpPr>
          <p:nvPr>
            <p:ph type="dt" sz="half" idx="10"/>
          </p:nvPr>
        </p:nvSpPr>
        <p:spPr/>
        <p:txBody>
          <a:bodyPr/>
          <a:lstStyle/>
          <a:p>
            <a:fld id="{D957A410-3760-AE45-91D5-C85FB40CDBF2}" type="datetimeFigureOut">
              <a:rPr kumimoji="1" lang="zh-CN" altLang="en-US" smtClean="0"/>
              <a:t>2026/5/28</a:t>
            </a:fld>
            <a:endParaRPr kumimoji="1" lang="zh-CN" altLang="en-US"/>
          </a:p>
        </p:txBody>
      </p:sp>
      <p:sp>
        <p:nvSpPr>
          <p:cNvPr id="6" name="页脚占位符 5">
            <a:extLst>
              <a:ext uri="{FF2B5EF4-FFF2-40B4-BE49-F238E27FC236}">
                <a16:creationId xmlns:a16="http://schemas.microsoft.com/office/drawing/2014/main" id="{00B5A6CD-0C6F-F919-A89A-B6036008ED13}"/>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641D84C-4BCB-A63D-5EA6-8BF360C293D0}"/>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3100977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C65250-542C-1AC6-DACD-0EBF1C7F2713}"/>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9F2967C-2817-A1CB-10E3-EF85F15CFE10}"/>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58DA685-85E1-A363-967B-8DEDD2A54CFC}"/>
              </a:ext>
            </a:extLst>
          </p:cNvPr>
          <p:cNvSpPr>
            <a:spLocks noGrp="1"/>
          </p:cNvSpPr>
          <p:nvPr>
            <p:ph type="dt" sz="half" idx="10"/>
          </p:nvPr>
        </p:nvSpPr>
        <p:spPr/>
        <p:txBody>
          <a:bodyPr/>
          <a:lstStyle/>
          <a:p>
            <a:fld id="{D957A410-3760-AE45-91D5-C85FB40CDBF2}" type="datetimeFigureOut">
              <a:rPr kumimoji="1" lang="zh-CN" altLang="en-US" smtClean="0"/>
              <a:t>2026/5/28</a:t>
            </a:fld>
            <a:endParaRPr kumimoji="1" lang="zh-CN" altLang="en-US"/>
          </a:p>
        </p:txBody>
      </p:sp>
      <p:sp>
        <p:nvSpPr>
          <p:cNvPr id="5" name="页脚占位符 4">
            <a:extLst>
              <a:ext uri="{FF2B5EF4-FFF2-40B4-BE49-F238E27FC236}">
                <a16:creationId xmlns:a16="http://schemas.microsoft.com/office/drawing/2014/main" id="{F2442188-ECEE-9759-B7B1-AB1C9DC871A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92BC12E-8A52-ACAA-B9EE-0E9E6A3E2A86}"/>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3515580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83BBA43-00D5-4349-A147-FF70A70B59FB}"/>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C45DE97-BE9E-4EE6-A68C-55D5CAC489B6}"/>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7CF6A98-C4DE-30B6-61D9-23CB67CCF551}"/>
              </a:ext>
            </a:extLst>
          </p:cNvPr>
          <p:cNvSpPr>
            <a:spLocks noGrp="1"/>
          </p:cNvSpPr>
          <p:nvPr>
            <p:ph type="dt" sz="half" idx="10"/>
          </p:nvPr>
        </p:nvSpPr>
        <p:spPr/>
        <p:txBody>
          <a:bodyPr/>
          <a:lstStyle/>
          <a:p>
            <a:fld id="{D957A410-3760-AE45-91D5-C85FB40CDBF2}" type="datetimeFigureOut">
              <a:rPr kumimoji="1" lang="zh-CN" altLang="en-US" smtClean="0"/>
              <a:t>2026/5/28</a:t>
            </a:fld>
            <a:endParaRPr kumimoji="1" lang="zh-CN" altLang="en-US"/>
          </a:p>
        </p:txBody>
      </p:sp>
      <p:sp>
        <p:nvSpPr>
          <p:cNvPr id="5" name="页脚占位符 4">
            <a:extLst>
              <a:ext uri="{FF2B5EF4-FFF2-40B4-BE49-F238E27FC236}">
                <a16:creationId xmlns:a16="http://schemas.microsoft.com/office/drawing/2014/main" id="{A2AF17A5-D8FA-B238-11E8-67B69D98D31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D60AE62-18F9-0637-D437-46D12466D2B6}"/>
              </a:ext>
            </a:extLst>
          </p:cNvPr>
          <p:cNvSpPr>
            <a:spLocks noGrp="1"/>
          </p:cNvSpPr>
          <p:nvPr>
            <p:ph type="sldNum" sz="quarter" idx="12"/>
          </p:nvPr>
        </p:nvSpPr>
        <p:spPr/>
        <p:txBody>
          <a:body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25298588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16584" y="6499519"/>
            <a:ext cx="114195" cy="60401"/>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sz="3567"/>
          </a:p>
        </p:txBody>
      </p:sp>
      <p:sp>
        <p:nvSpPr>
          <p:cNvPr id="17" name="bg object 17"/>
          <p:cNvSpPr/>
          <p:nvPr/>
        </p:nvSpPr>
        <p:spPr>
          <a:xfrm>
            <a:off x="7906023" y="6491668"/>
            <a:ext cx="67174" cy="75501"/>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sz="3567"/>
          </a:p>
        </p:txBody>
      </p:sp>
      <p:sp>
        <p:nvSpPr>
          <p:cNvPr id="18" name="bg object 18"/>
          <p:cNvSpPr/>
          <p:nvPr/>
        </p:nvSpPr>
        <p:spPr>
          <a:xfrm>
            <a:off x="8376245" y="6491668"/>
            <a:ext cx="67174" cy="75501"/>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sz="3567"/>
          </a:p>
        </p:txBody>
      </p:sp>
      <p:sp>
        <p:nvSpPr>
          <p:cNvPr id="19" name="bg object 19"/>
          <p:cNvSpPr/>
          <p:nvPr/>
        </p:nvSpPr>
        <p:spPr>
          <a:xfrm>
            <a:off x="8789726" y="6479084"/>
            <a:ext cx="169614" cy="100668"/>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sz="3567"/>
          </a:p>
        </p:txBody>
      </p:sp>
      <p:sp>
        <p:nvSpPr>
          <p:cNvPr id="20" name="bg object 20"/>
          <p:cNvSpPr/>
          <p:nvPr/>
        </p:nvSpPr>
        <p:spPr>
          <a:xfrm>
            <a:off x="8622666" y="6491668"/>
            <a:ext cx="537388" cy="75501"/>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sz="3567"/>
          </a:p>
        </p:txBody>
      </p:sp>
      <p:sp>
        <p:nvSpPr>
          <p:cNvPr id="21" name="bg object 21"/>
          <p:cNvSpPr/>
          <p:nvPr/>
        </p:nvSpPr>
        <p:spPr>
          <a:xfrm>
            <a:off x="9574416" y="6504251"/>
            <a:ext cx="100759"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sz="3567"/>
          </a:p>
        </p:txBody>
      </p:sp>
      <p:sp>
        <p:nvSpPr>
          <p:cNvPr id="22" name="bg object 22"/>
          <p:cNvSpPr/>
          <p:nvPr/>
        </p:nvSpPr>
        <p:spPr>
          <a:xfrm>
            <a:off x="9339307" y="6491668"/>
            <a:ext cx="537388" cy="75501"/>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sz="3567"/>
          </a:p>
        </p:txBody>
      </p:sp>
      <p:sp>
        <p:nvSpPr>
          <p:cNvPr id="23" name="bg object 23"/>
          <p:cNvSpPr/>
          <p:nvPr/>
        </p:nvSpPr>
        <p:spPr>
          <a:xfrm>
            <a:off x="9540829" y="6479084"/>
            <a:ext cx="134347" cy="100668"/>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sz="3567"/>
          </a:p>
        </p:txBody>
      </p:sp>
      <p:sp>
        <p:nvSpPr>
          <p:cNvPr id="24" name="bg object 24"/>
          <p:cNvSpPr/>
          <p:nvPr/>
        </p:nvSpPr>
        <p:spPr>
          <a:xfrm>
            <a:off x="10257437" y="6479084"/>
            <a:ext cx="134347" cy="50334"/>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sz="3567"/>
          </a:p>
        </p:txBody>
      </p:sp>
      <p:sp>
        <p:nvSpPr>
          <p:cNvPr id="25" name="bg object 25"/>
          <p:cNvSpPr/>
          <p:nvPr/>
        </p:nvSpPr>
        <p:spPr>
          <a:xfrm>
            <a:off x="10055917" y="6491668"/>
            <a:ext cx="537388" cy="75501"/>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sz="3567"/>
          </a:p>
        </p:txBody>
      </p:sp>
      <p:sp>
        <p:nvSpPr>
          <p:cNvPr id="26" name="bg object 26"/>
          <p:cNvSpPr/>
          <p:nvPr/>
        </p:nvSpPr>
        <p:spPr>
          <a:xfrm>
            <a:off x="10257437" y="6554585"/>
            <a:ext cx="134347" cy="25167"/>
          </a:xfrm>
          <a:custGeom>
            <a:avLst/>
            <a:gdLst/>
            <a:ahLst/>
            <a:cxnLst/>
            <a:rect l="l" t="t" r="r" b="b"/>
            <a:pathLst>
              <a:path w="50800" h="12700">
                <a:moveTo>
                  <a:pt x="0" y="0"/>
                </a:moveTo>
                <a:lnTo>
                  <a:pt x="38100" y="0"/>
                </a:lnTo>
              </a:path>
              <a:path w="50800" h="12700">
                <a:moveTo>
                  <a:pt x="12700" y="12700"/>
                </a:moveTo>
                <a:lnTo>
                  <a:pt x="50800" y="12700"/>
                </a:lnTo>
              </a:path>
            </a:pathLst>
          </a:custGeom>
          <a:ln w="7591">
            <a:solidFill>
              <a:srgbClr val="D6D6EF"/>
            </a:solidFill>
          </a:ln>
        </p:spPr>
        <p:txBody>
          <a:bodyPr wrap="square" lIns="0" tIns="0" rIns="0" bIns="0" rtlCol="0"/>
          <a:lstStyle/>
          <a:p>
            <a:endParaRPr sz="3567"/>
          </a:p>
        </p:txBody>
      </p:sp>
      <p:sp>
        <p:nvSpPr>
          <p:cNvPr id="27" name="bg object 27"/>
          <p:cNvSpPr/>
          <p:nvPr/>
        </p:nvSpPr>
        <p:spPr>
          <a:xfrm>
            <a:off x="10974081" y="6479084"/>
            <a:ext cx="134347" cy="100668"/>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sz="3567"/>
          </a:p>
        </p:txBody>
      </p:sp>
      <p:sp>
        <p:nvSpPr>
          <p:cNvPr id="28" name="bg object 28"/>
          <p:cNvSpPr/>
          <p:nvPr/>
        </p:nvSpPr>
        <p:spPr>
          <a:xfrm>
            <a:off x="11771331" y="6539485"/>
            <a:ext cx="53738" cy="40267"/>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sz="3567"/>
          </a:p>
        </p:txBody>
      </p:sp>
      <p:sp>
        <p:nvSpPr>
          <p:cNvPr id="29" name="bg object 29"/>
          <p:cNvSpPr/>
          <p:nvPr/>
        </p:nvSpPr>
        <p:spPr>
          <a:xfrm>
            <a:off x="11699753" y="6486983"/>
            <a:ext cx="80608" cy="60401"/>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sz="3567"/>
          </a:p>
        </p:txBody>
      </p:sp>
      <p:sp>
        <p:nvSpPr>
          <p:cNvPr id="30" name="bg object 30"/>
          <p:cNvSpPr/>
          <p:nvPr/>
        </p:nvSpPr>
        <p:spPr>
          <a:xfrm>
            <a:off x="11448895" y="6479084"/>
            <a:ext cx="617994" cy="100668"/>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sz="3567"/>
          </a:p>
        </p:txBody>
      </p:sp>
      <p:sp>
        <p:nvSpPr>
          <p:cNvPr id="31" name="bg object 31"/>
          <p:cNvSpPr/>
          <p:nvPr/>
        </p:nvSpPr>
        <p:spPr>
          <a:xfrm>
            <a:off x="11" y="0"/>
            <a:ext cx="12186961" cy="749976"/>
          </a:xfrm>
          <a:custGeom>
            <a:avLst/>
            <a:gdLst/>
            <a:ahLst/>
            <a:cxnLst/>
            <a:rect l="l" t="t" r="r" b="b"/>
            <a:pathLst>
              <a:path w="4608195" h="378460">
                <a:moveTo>
                  <a:pt x="4608004" y="0"/>
                </a:moveTo>
                <a:lnTo>
                  <a:pt x="0" y="0"/>
                </a:lnTo>
                <a:lnTo>
                  <a:pt x="0" y="378409"/>
                </a:lnTo>
                <a:lnTo>
                  <a:pt x="4608004" y="378409"/>
                </a:lnTo>
                <a:lnTo>
                  <a:pt x="4608004" y="0"/>
                </a:lnTo>
                <a:close/>
              </a:path>
            </a:pathLst>
          </a:custGeom>
          <a:solidFill>
            <a:srgbClr val="00A6AA"/>
          </a:solidFill>
        </p:spPr>
        <p:txBody>
          <a:bodyPr wrap="square" lIns="0" tIns="0" rIns="0" bIns="0" rtlCol="0"/>
          <a:lstStyle/>
          <a:p>
            <a:endParaRPr sz="3567"/>
          </a:p>
        </p:txBody>
      </p:sp>
      <p:pic>
        <p:nvPicPr>
          <p:cNvPr id="32" name="bg object 32"/>
          <p:cNvPicPr/>
          <p:nvPr/>
        </p:nvPicPr>
        <p:blipFill>
          <a:blip r:embed="rId2" cstate="print"/>
          <a:stretch>
            <a:fillRect/>
          </a:stretch>
        </p:blipFill>
        <p:spPr>
          <a:xfrm>
            <a:off x="8889043" y="15"/>
            <a:ext cx="3297415" cy="777055"/>
          </a:xfrm>
          <a:prstGeom prst="rect">
            <a:avLst/>
          </a:prstGeom>
        </p:spPr>
      </p:pic>
      <p:sp>
        <p:nvSpPr>
          <p:cNvPr id="2" name="Holder 2"/>
          <p:cNvSpPr>
            <a:spLocks noGrp="1"/>
          </p:cNvSpPr>
          <p:nvPr>
            <p:ph type="ftr" sz="quarter" idx="5"/>
          </p:nvPr>
        </p:nvSpPr>
        <p:spPr/>
        <p:txBody>
          <a:bodyPr lIns="0" tIns="0" rIns="0" bIns="0"/>
          <a:lstStyle>
            <a:lvl1pPr>
              <a:defRPr sz="991" b="0" i="0">
                <a:solidFill>
                  <a:srgbClr val="5E3032"/>
                </a:solidFill>
                <a:latin typeface="Tahoma"/>
                <a:cs typeface="Tahoma"/>
              </a:defRPr>
            </a:lvl1pPr>
          </a:lstStyle>
          <a:p>
            <a:pPr marL="25164">
              <a:lnSpc>
                <a:spcPts val="1149"/>
              </a:lnSpc>
            </a:pPr>
            <a:r>
              <a:rPr lang="en" spc="-20"/>
              <a:t>Author</a:t>
            </a:r>
            <a:endParaRPr lang="en" spc="-20" dirty="0"/>
          </a:p>
        </p:txBody>
      </p:sp>
      <p:sp>
        <p:nvSpPr>
          <p:cNvPr id="3" name="Holder 3"/>
          <p:cNvSpPr>
            <a:spLocks noGrp="1"/>
          </p:cNvSpPr>
          <p:nvPr>
            <p:ph type="dt" sz="half" idx="6"/>
          </p:nvPr>
        </p:nvSpPr>
        <p:spPr/>
        <p:txBody>
          <a:bodyPr lIns="0" tIns="0" rIns="0" bIns="0"/>
          <a:lstStyle>
            <a:lvl1pPr>
              <a:defRPr sz="991" b="0" i="0">
                <a:solidFill>
                  <a:schemeClr val="bg1"/>
                </a:solidFill>
                <a:latin typeface="Tahoma"/>
                <a:cs typeface="Tahoma"/>
              </a:defRPr>
            </a:lvl1pPr>
          </a:lstStyle>
          <a:p>
            <a:pPr marL="25164">
              <a:lnSpc>
                <a:spcPts val="1149"/>
              </a:lnSpc>
            </a:pPr>
            <a:r>
              <a:rPr lang="en"/>
              <a:t>September</a:t>
            </a:r>
            <a:r>
              <a:rPr lang="en" spc="-40"/>
              <a:t> </a:t>
            </a:r>
            <a:r>
              <a:rPr lang="en"/>
              <a:t>3,</a:t>
            </a:r>
            <a:r>
              <a:rPr lang="en" spc="-30"/>
              <a:t> </a:t>
            </a:r>
            <a:r>
              <a:rPr lang="en" spc="-40"/>
              <a:t>2021</a:t>
            </a:r>
            <a:endParaRPr lang="en" spc="-40" dirty="0"/>
          </a:p>
        </p:txBody>
      </p:sp>
      <p:sp>
        <p:nvSpPr>
          <p:cNvPr id="4" name="Holder 4"/>
          <p:cNvSpPr>
            <a:spLocks noGrp="1"/>
          </p:cNvSpPr>
          <p:nvPr>
            <p:ph type="sldNum" sz="quarter" idx="7"/>
          </p:nvPr>
        </p:nvSpPr>
        <p:spPr/>
        <p:txBody>
          <a:bodyPr lIns="0" tIns="0" rIns="0" bIns="0"/>
          <a:lstStyle>
            <a:lvl1pPr>
              <a:defRPr sz="991" b="0" i="0">
                <a:solidFill>
                  <a:schemeClr val="bg1"/>
                </a:solidFill>
                <a:latin typeface="Tahoma"/>
                <a:cs typeface="Tahoma"/>
              </a:defRPr>
            </a:lvl1pPr>
          </a:lstStyle>
          <a:p>
            <a:pPr marL="75483">
              <a:lnSpc>
                <a:spcPts val="1149"/>
              </a:lnSpc>
            </a:pPr>
            <a:fld id="{81D60167-4931-47E6-BA6A-407CBD079E47}" type="slidenum">
              <a:rPr lang="en-US" altLang="zh-CN" smtClean="0"/>
              <a:pPr marL="75483">
                <a:lnSpc>
                  <a:spcPts val="1149"/>
                </a:lnSpc>
              </a:pPr>
              <a:t>‹#›</a:t>
            </a:fld>
            <a:r>
              <a:rPr lang="zh-CN" altLang="en-US" spc="30"/>
              <a:t> </a:t>
            </a:r>
            <a:r>
              <a:rPr lang="en-US" altLang="zh-CN" spc="139"/>
              <a:t>/</a:t>
            </a:r>
            <a:r>
              <a:rPr lang="zh-CN" altLang="en-US" spc="30"/>
              <a:t> </a:t>
            </a:r>
            <a:r>
              <a:rPr lang="en-US" altLang="zh-CN" spc="-99"/>
              <a:t>8</a:t>
            </a:r>
            <a:endParaRPr lang="en-US" altLang="zh-CN" spc="-99" dirty="0"/>
          </a:p>
        </p:txBody>
      </p:sp>
    </p:spTree>
    <p:extLst>
      <p:ext uri="{BB962C8B-B14F-4D97-AF65-F5344CB8AC3E}">
        <p14:creationId xmlns:p14="http://schemas.microsoft.com/office/powerpoint/2010/main" val="3822068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93E364A-C97F-EEE6-7BD9-608B114AA1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B7E261F4-3466-F2D9-491F-10344C8C09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191FD5E-E945-5CF6-7CE0-DA5452C13A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57A410-3760-AE45-91D5-C85FB40CDBF2}" type="datetimeFigureOut">
              <a:rPr kumimoji="1" lang="zh-CN" altLang="en-US" smtClean="0"/>
              <a:t>2026/5/28</a:t>
            </a:fld>
            <a:endParaRPr kumimoji="1" lang="zh-CN" altLang="en-US"/>
          </a:p>
        </p:txBody>
      </p:sp>
      <p:sp>
        <p:nvSpPr>
          <p:cNvPr id="5" name="页脚占位符 4">
            <a:extLst>
              <a:ext uri="{FF2B5EF4-FFF2-40B4-BE49-F238E27FC236}">
                <a16:creationId xmlns:a16="http://schemas.microsoft.com/office/drawing/2014/main" id="{CEBE72A0-D53D-B579-9DF0-D95E6166B3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DEB421FD-9E13-BA1B-6F15-D2CB9DFE27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CAB699-F001-374A-BD90-CAA1262EB043}" type="slidenum">
              <a:rPr kumimoji="1" lang="zh-CN" altLang="en-US" smtClean="0"/>
              <a:t>‹#›</a:t>
            </a:fld>
            <a:endParaRPr kumimoji="1" lang="zh-CN" altLang="en-US"/>
          </a:p>
        </p:txBody>
      </p:sp>
    </p:spTree>
    <p:extLst>
      <p:ext uri="{BB962C8B-B14F-4D97-AF65-F5344CB8AC3E}">
        <p14:creationId xmlns:p14="http://schemas.microsoft.com/office/powerpoint/2010/main" val="1312679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04440-54A1-2051-8EC3-8A44EB1699D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A307145-DDD4-574B-F917-CBA5ED79C8E4}"/>
              </a:ext>
            </a:extLst>
          </p:cNvPr>
          <p:cNvSpPr txBox="1"/>
          <p:nvPr/>
        </p:nvSpPr>
        <p:spPr>
          <a:xfrm>
            <a:off x="590309" y="124823"/>
            <a:ext cx="5203722" cy="461215"/>
          </a:xfrm>
          <a:prstGeom prst="rect">
            <a:avLst/>
          </a:prstGeom>
        </p:spPr>
        <p:txBody>
          <a:bodyPr vert="horz" wrap="square" lIns="0" tIns="33972" rIns="0" bIns="0" rtlCol="0">
            <a:spAutoFit/>
          </a:bodyPr>
          <a:lstStyle/>
          <a:p>
            <a:pPr marL="25164">
              <a:spcBef>
                <a:spcPts val="267"/>
              </a:spcBef>
            </a:pPr>
            <a:r>
              <a:rPr lang="en-US" altLang="zh-CN" sz="2774" spc="-20" dirty="0">
                <a:solidFill>
                  <a:srgbClr val="FFFFFF"/>
                </a:solidFill>
                <a:latin typeface="Gill Sans MT"/>
                <a:cs typeface="Gill Sans MT"/>
              </a:rPr>
              <a:t>Cell</a:t>
            </a:r>
            <a:r>
              <a:rPr lang="zh-CN" altLang="en-US" sz="2774" spc="-20" dirty="0">
                <a:solidFill>
                  <a:srgbClr val="FFFFFF"/>
                </a:solidFill>
                <a:latin typeface="Gill Sans MT"/>
                <a:cs typeface="Gill Sans MT"/>
              </a:rPr>
              <a:t> </a:t>
            </a:r>
            <a:r>
              <a:rPr lang="en-US" altLang="zh-CN" sz="2774" spc="-20" dirty="0">
                <a:solidFill>
                  <a:srgbClr val="FFFFFF"/>
                </a:solidFill>
                <a:latin typeface="Gill Sans MT"/>
                <a:cs typeface="Gill Sans MT"/>
              </a:rPr>
              <a:t>Type</a:t>
            </a:r>
            <a:r>
              <a:rPr lang="zh-CN" altLang="en-US" sz="2774" spc="-20" dirty="0">
                <a:solidFill>
                  <a:srgbClr val="FFFFFF"/>
                </a:solidFill>
                <a:latin typeface="Gill Sans MT"/>
                <a:cs typeface="Gill Sans MT"/>
              </a:rPr>
              <a:t> </a:t>
            </a:r>
            <a:r>
              <a:rPr lang="en-US" altLang="zh-CN" sz="2774" spc="-20" dirty="0">
                <a:solidFill>
                  <a:srgbClr val="FFFFFF"/>
                </a:solidFill>
                <a:latin typeface="Gill Sans MT"/>
                <a:cs typeface="Gill Sans MT"/>
              </a:rPr>
              <a:t>description</a:t>
            </a:r>
            <a:r>
              <a:rPr lang="en" sz="2774" spc="-20" dirty="0">
                <a:solidFill>
                  <a:srgbClr val="FFFFFF"/>
                </a:solidFill>
                <a:latin typeface="Gill Sans MT"/>
                <a:cs typeface="Gill Sans MT"/>
              </a:rPr>
              <a:t> generation</a:t>
            </a:r>
          </a:p>
        </p:txBody>
      </p:sp>
      <p:grpSp>
        <p:nvGrpSpPr>
          <p:cNvPr id="3" name="object 3">
            <a:extLst>
              <a:ext uri="{FF2B5EF4-FFF2-40B4-BE49-F238E27FC236}">
                <a16:creationId xmlns:a16="http://schemas.microsoft.com/office/drawing/2014/main" id="{BE60C3E8-A448-0ACE-4FD7-F8B9391B03F7}"/>
              </a:ext>
            </a:extLst>
          </p:cNvPr>
          <p:cNvGrpSpPr/>
          <p:nvPr/>
        </p:nvGrpSpPr>
        <p:grpSpPr>
          <a:xfrm>
            <a:off x="0" y="6667139"/>
            <a:ext cx="12192000" cy="181181"/>
            <a:chOff x="0" y="3364623"/>
            <a:chExt cx="4608195" cy="91440"/>
          </a:xfrm>
        </p:grpSpPr>
        <p:sp>
          <p:nvSpPr>
            <p:cNvPr id="4" name="object 4">
              <a:extLst>
                <a:ext uri="{FF2B5EF4-FFF2-40B4-BE49-F238E27FC236}">
                  <a16:creationId xmlns:a16="http://schemas.microsoft.com/office/drawing/2014/main" id="{0A110095-EA7A-A3B0-F014-EA36E4E49DE1}"/>
                </a:ext>
              </a:extLst>
            </p:cNvPr>
            <p:cNvSpPr/>
            <p:nvPr/>
          </p:nvSpPr>
          <p:spPr>
            <a:xfrm>
              <a:off x="0" y="3364623"/>
              <a:ext cx="1536065" cy="91440"/>
            </a:xfrm>
            <a:custGeom>
              <a:avLst/>
              <a:gdLst/>
              <a:ahLst/>
              <a:cxnLst/>
              <a:rect l="l" t="t" r="r" b="b"/>
              <a:pathLst>
                <a:path w="1536065" h="91439">
                  <a:moveTo>
                    <a:pt x="1535976" y="0"/>
                  </a:moveTo>
                  <a:lnTo>
                    <a:pt x="0" y="0"/>
                  </a:lnTo>
                  <a:lnTo>
                    <a:pt x="0" y="91376"/>
                  </a:lnTo>
                  <a:lnTo>
                    <a:pt x="1535976" y="91376"/>
                  </a:lnTo>
                  <a:lnTo>
                    <a:pt x="1535976" y="0"/>
                  </a:lnTo>
                  <a:close/>
                </a:path>
              </a:pathLst>
            </a:custGeom>
            <a:solidFill>
              <a:srgbClr val="C7D1C5"/>
            </a:solidFill>
          </p:spPr>
          <p:txBody>
            <a:bodyPr wrap="square" lIns="0" tIns="0" rIns="0" bIns="0" rtlCol="0"/>
            <a:lstStyle/>
            <a:p>
              <a:endParaRPr sz="3567"/>
            </a:p>
          </p:txBody>
        </p:sp>
        <p:sp>
          <p:nvSpPr>
            <p:cNvPr id="5" name="object 5">
              <a:extLst>
                <a:ext uri="{FF2B5EF4-FFF2-40B4-BE49-F238E27FC236}">
                  <a16:creationId xmlns:a16="http://schemas.microsoft.com/office/drawing/2014/main" id="{91C602FE-33D8-96FC-11BE-76DF9796E578}"/>
                </a:ext>
              </a:extLst>
            </p:cNvPr>
            <p:cNvSpPr/>
            <p:nvPr/>
          </p:nvSpPr>
          <p:spPr>
            <a:xfrm>
              <a:off x="1535976"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00A6AA"/>
            </a:solidFill>
          </p:spPr>
          <p:txBody>
            <a:bodyPr wrap="square" lIns="0" tIns="0" rIns="0" bIns="0" rtlCol="0"/>
            <a:lstStyle/>
            <a:p>
              <a:endParaRPr sz="3567"/>
            </a:p>
          </p:txBody>
        </p:sp>
        <p:sp>
          <p:nvSpPr>
            <p:cNvPr id="6" name="object 6">
              <a:extLst>
                <a:ext uri="{FF2B5EF4-FFF2-40B4-BE49-F238E27FC236}">
                  <a16:creationId xmlns:a16="http://schemas.microsoft.com/office/drawing/2014/main" id="{F9677BD9-18F8-458E-74D0-71E17604DC9C}"/>
                </a:ext>
              </a:extLst>
            </p:cNvPr>
            <p:cNvSpPr/>
            <p:nvPr/>
          </p:nvSpPr>
          <p:spPr>
            <a:xfrm>
              <a:off x="3071952"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4C4E52"/>
            </a:solidFill>
          </p:spPr>
          <p:txBody>
            <a:bodyPr wrap="square" lIns="0" tIns="0" rIns="0" bIns="0" rtlCol="0"/>
            <a:lstStyle/>
            <a:p>
              <a:endParaRPr sz="3567"/>
            </a:p>
          </p:txBody>
        </p:sp>
      </p:grpSp>
      <p:sp>
        <p:nvSpPr>
          <p:cNvPr id="7" name="object 7">
            <a:extLst>
              <a:ext uri="{FF2B5EF4-FFF2-40B4-BE49-F238E27FC236}">
                <a16:creationId xmlns:a16="http://schemas.microsoft.com/office/drawing/2014/main" id="{9A625F3F-FF9C-34C1-26AB-E1758FB6D6AB}"/>
              </a:ext>
            </a:extLst>
          </p:cNvPr>
          <p:cNvSpPr txBox="1">
            <a:spLocks noGrp="1"/>
          </p:cNvSpPr>
          <p:nvPr>
            <p:ph type="ftr" sz="quarter" idx="5"/>
          </p:nvPr>
        </p:nvSpPr>
        <p:spPr>
          <a:xfrm>
            <a:off x="2774341" y="6677624"/>
            <a:ext cx="579372" cy="141064"/>
          </a:xfrm>
          <a:prstGeom prst="rect">
            <a:avLst/>
          </a:prstGeom>
        </p:spPr>
        <p:txBody>
          <a:bodyPr vert="horz" wrap="square" lIns="0" tIns="0" rIns="0" bIns="0" rtlCol="0" anchor="ctr">
            <a:spAutoFit/>
          </a:bodyPr>
          <a:lstStyle/>
          <a:p>
            <a:pPr marL="25164">
              <a:lnSpc>
                <a:spcPts val="1149"/>
              </a:lnSpc>
            </a:pPr>
            <a:r>
              <a:rPr lang="en-US" altLang="zh-CN" spc="-20" dirty="0"/>
              <a:t>Results</a:t>
            </a:r>
            <a:endParaRPr spc="-20" dirty="0"/>
          </a:p>
        </p:txBody>
      </p:sp>
      <p:sp>
        <p:nvSpPr>
          <p:cNvPr id="10" name="object 10">
            <a:extLst>
              <a:ext uri="{FF2B5EF4-FFF2-40B4-BE49-F238E27FC236}">
                <a16:creationId xmlns:a16="http://schemas.microsoft.com/office/drawing/2014/main" id="{B24CA1EC-5E3F-E89F-2617-E8D184F67B01}"/>
              </a:ext>
            </a:extLst>
          </p:cNvPr>
          <p:cNvSpPr txBox="1">
            <a:spLocks noGrp="1"/>
          </p:cNvSpPr>
          <p:nvPr>
            <p:ph type="sldNum" sz="quarter" idx="7"/>
          </p:nvPr>
        </p:nvSpPr>
        <p:spPr>
          <a:xfrm>
            <a:off x="10255925" y="6677624"/>
            <a:ext cx="520595" cy="141064"/>
          </a:xfrm>
          <a:prstGeom prst="rect">
            <a:avLst/>
          </a:prstGeom>
        </p:spPr>
        <p:txBody>
          <a:bodyPr vert="horz" wrap="square" lIns="0" tIns="0" rIns="0" bIns="0" rtlCol="0" anchor="ctr">
            <a:spAutoFit/>
          </a:bodyPr>
          <a:lstStyle/>
          <a:p>
            <a:pPr marL="75483">
              <a:lnSpc>
                <a:spcPts val="1149"/>
              </a:lnSpc>
            </a:pPr>
            <a:fld id="{81D60167-4931-47E6-BA6A-407CBD079E47}" type="slidenum">
              <a:rPr dirty="0"/>
              <a:pPr marL="75483">
                <a:lnSpc>
                  <a:spcPts val="1149"/>
                </a:lnSpc>
              </a:pPr>
              <a:t>1</a:t>
            </a:fld>
            <a:r>
              <a:rPr spc="30" dirty="0"/>
              <a:t> </a:t>
            </a:r>
            <a:r>
              <a:rPr spc="139" dirty="0"/>
              <a:t>/</a:t>
            </a:r>
            <a:r>
              <a:rPr spc="30" dirty="0"/>
              <a:t> </a:t>
            </a:r>
            <a:r>
              <a:rPr lang="en-US" altLang="zh-CN" spc="-99" dirty="0"/>
              <a:t>31</a:t>
            </a:r>
            <a:endParaRPr spc="-99" dirty="0"/>
          </a:p>
        </p:txBody>
      </p:sp>
      <p:sp>
        <p:nvSpPr>
          <p:cNvPr id="13" name="文本框 12">
            <a:extLst>
              <a:ext uri="{FF2B5EF4-FFF2-40B4-BE49-F238E27FC236}">
                <a16:creationId xmlns:a16="http://schemas.microsoft.com/office/drawing/2014/main" id="{CF5F8B28-5B6A-54C0-C18A-4F64E737114F}"/>
              </a:ext>
            </a:extLst>
          </p:cNvPr>
          <p:cNvSpPr txBox="1"/>
          <p:nvPr/>
        </p:nvSpPr>
        <p:spPr>
          <a:xfrm>
            <a:off x="359553" y="785561"/>
            <a:ext cx="3623628" cy="397160"/>
          </a:xfrm>
          <a:prstGeom prst="rect">
            <a:avLst/>
          </a:prstGeom>
          <a:noFill/>
        </p:spPr>
        <p:txBody>
          <a:bodyPr wrap="square" rtlCol="0">
            <a:spAutoFit/>
          </a:bodyPr>
          <a:lstStyle/>
          <a:p>
            <a:r>
              <a:rPr kumimoji="1" lang="en-US" altLang="zh-CN" sz="1981" b="1" dirty="0">
                <a:solidFill>
                  <a:schemeClr val="accent2"/>
                </a:solidFill>
              </a:rPr>
              <a:t>Evaluation</a:t>
            </a:r>
            <a:endParaRPr kumimoji="1" lang="en" altLang="zh-CN" sz="1981" b="1" dirty="0">
              <a:solidFill>
                <a:schemeClr val="accent2"/>
              </a:solidFill>
            </a:endParaRPr>
          </a:p>
        </p:txBody>
      </p:sp>
      <p:sp>
        <p:nvSpPr>
          <p:cNvPr id="22" name="object 8">
            <a:extLst>
              <a:ext uri="{FF2B5EF4-FFF2-40B4-BE49-F238E27FC236}">
                <a16:creationId xmlns:a16="http://schemas.microsoft.com/office/drawing/2014/main" id="{1ADE7A8D-C088-AFF1-4FA9-70E53F63FC0E}"/>
              </a:ext>
            </a:extLst>
          </p:cNvPr>
          <p:cNvSpPr txBox="1"/>
          <p:nvPr/>
        </p:nvSpPr>
        <p:spPr>
          <a:xfrm>
            <a:off x="5643047" y="6671927"/>
            <a:ext cx="826783" cy="141064"/>
          </a:xfrm>
          <a:prstGeom prst="rect">
            <a:avLst/>
          </a:prstGeom>
        </p:spPr>
        <p:txBody>
          <a:bodyPr vert="horz" wrap="square" lIns="0" tIns="0" rIns="0" bIns="0" rtlCol="0">
            <a:spAutoFit/>
          </a:bodyPr>
          <a:lstStyle/>
          <a:p>
            <a:pPr marL="25164">
              <a:lnSpc>
                <a:spcPts val="1149"/>
              </a:lnSpc>
            </a:pPr>
            <a:r>
              <a:rPr lang="en-US" altLang="zh-CN" sz="991" spc="-20" dirty="0">
                <a:solidFill>
                  <a:schemeClr val="tx2"/>
                </a:solidFill>
                <a:latin typeface="Tahoma"/>
                <a:cs typeface="Tahoma"/>
              </a:rPr>
              <a:t>SpeciesLLM</a:t>
            </a:r>
            <a:endParaRPr sz="991" dirty="0">
              <a:solidFill>
                <a:schemeClr val="tx2"/>
              </a:solidFill>
              <a:latin typeface="Tahoma"/>
              <a:cs typeface="Tahoma"/>
            </a:endParaRPr>
          </a:p>
        </p:txBody>
      </p:sp>
      <p:sp>
        <p:nvSpPr>
          <p:cNvPr id="23" name="矩形 22">
            <a:extLst>
              <a:ext uri="{FF2B5EF4-FFF2-40B4-BE49-F238E27FC236}">
                <a16:creationId xmlns:a16="http://schemas.microsoft.com/office/drawing/2014/main" id="{9BE70359-8D73-AC14-A04D-6566DE9E6A84}"/>
              </a:ext>
            </a:extLst>
          </p:cNvPr>
          <p:cNvSpPr/>
          <p:nvPr/>
        </p:nvSpPr>
        <p:spPr>
          <a:xfrm>
            <a:off x="7152892" y="6448693"/>
            <a:ext cx="4982489" cy="1811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3567"/>
          </a:p>
        </p:txBody>
      </p:sp>
      <p:pic>
        <p:nvPicPr>
          <p:cNvPr id="20" name="图片 19">
            <a:extLst>
              <a:ext uri="{FF2B5EF4-FFF2-40B4-BE49-F238E27FC236}">
                <a16:creationId xmlns:a16="http://schemas.microsoft.com/office/drawing/2014/main" id="{367A649A-5D00-9CAE-DBAE-2AAE892D877C}"/>
              </a:ext>
            </a:extLst>
          </p:cNvPr>
          <p:cNvPicPr>
            <a:picLocks noChangeAspect="1"/>
          </p:cNvPicPr>
          <p:nvPr/>
        </p:nvPicPr>
        <p:blipFill>
          <a:blip r:embed="rId3"/>
          <a:stretch>
            <a:fillRect/>
          </a:stretch>
        </p:blipFill>
        <p:spPr>
          <a:xfrm>
            <a:off x="8694941" y="1356804"/>
            <a:ext cx="3209820" cy="592583"/>
          </a:xfrm>
          <a:prstGeom prst="rect">
            <a:avLst/>
          </a:prstGeom>
        </p:spPr>
      </p:pic>
      <p:cxnSp>
        <p:nvCxnSpPr>
          <p:cNvPr id="24" name="直线箭头连接符 23">
            <a:extLst>
              <a:ext uri="{FF2B5EF4-FFF2-40B4-BE49-F238E27FC236}">
                <a16:creationId xmlns:a16="http://schemas.microsoft.com/office/drawing/2014/main" id="{791F7F6B-6442-303B-227D-D04C4C93473C}"/>
              </a:ext>
            </a:extLst>
          </p:cNvPr>
          <p:cNvCxnSpPr>
            <a:cxnSpLocks/>
          </p:cNvCxnSpPr>
          <p:nvPr/>
        </p:nvCxnSpPr>
        <p:spPr>
          <a:xfrm flipH="1">
            <a:off x="7152892" y="1685606"/>
            <a:ext cx="1373773" cy="0"/>
          </a:xfrm>
          <a:prstGeom prst="straightConnector1">
            <a:avLst/>
          </a:prstGeom>
          <a:ln>
            <a:solidFill>
              <a:srgbClr val="4B506C"/>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0B97F38F-8E98-2AD6-FF07-400E87B66943}"/>
              </a:ext>
            </a:extLst>
          </p:cNvPr>
          <p:cNvSpPr txBox="1"/>
          <p:nvPr/>
        </p:nvSpPr>
        <p:spPr>
          <a:xfrm>
            <a:off x="359553" y="1859780"/>
            <a:ext cx="10541010" cy="2013436"/>
          </a:xfrm>
          <a:prstGeom prst="rect">
            <a:avLst/>
          </a:prstGeom>
          <a:noFill/>
        </p:spPr>
        <p:txBody>
          <a:bodyPr wrap="square" rtlCol="0">
            <a:spAutoFit/>
          </a:bodyPr>
          <a:lstStyle/>
          <a:p>
            <a:r>
              <a:rPr kumimoji="1" lang="en-US" altLang="zh-CN" sz="1387" dirty="0" err="1">
                <a:solidFill>
                  <a:srgbClr val="C00000"/>
                </a:solidFill>
              </a:rPr>
              <a:t>Zeroshot</a:t>
            </a:r>
            <a:r>
              <a:rPr kumimoji="1" lang="zh-CN" altLang="en-US" sz="1387" dirty="0">
                <a:solidFill>
                  <a:srgbClr val="C00000"/>
                </a:solidFill>
              </a:rPr>
              <a:t> </a:t>
            </a:r>
            <a:r>
              <a:rPr kumimoji="1" lang="en-US" altLang="zh-CN" sz="1387" dirty="0">
                <a:solidFill>
                  <a:srgbClr val="C00000"/>
                </a:solidFill>
              </a:rPr>
              <a:t>setting</a:t>
            </a:r>
          </a:p>
          <a:p>
            <a:r>
              <a:rPr kumimoji="1" lang="en-US" altLang="zh-CN" sz="1387" dirty="0"/>
              <a:t>1. Test</a:t>
            </a:r>
            <a:r>
              <a:rPr kumimoji="1" lang="zh-CN" altLang="en-US" sz="1387" dirty="0"/>
              <a:t> </a:t>
            </a:r>
            <a:r>
              <a:rPr kumimoji="1" lang="en-US" altLang="zh-CN" sz="1387" dirty="0"/>
              <a:t>samples:</a:t>
            </a:r>
            <a:r>
              <a:rPr kumimoji="1" lang="zh-CN" altLang="en-US" sz="1387" dirty="0"/>
              <a:t> </a:t>
            </a:r>
            <a:r>
              <a:rPr kumimoji="1" lang="en-US" altLang="zh-CN" sz="1387" dirty="0"/>
              <a:t>2700</a:t>
            </a:r>
          </a:p>
          <a:p>
            <a:r>
              <a:rPr kumimoji="1" lang="en-US" altLang="zh-CN" sz="1387" dirty="0">
                <a:solidFill>
                  <a:srgbClr val="C00000"/>
                </a:solidFill>
              </a:rPr>
              <a:t>Evaluation</a:t>
            </a:r>
            <a:r>
              <a:rPr kumimoji="1" lang="zh-CN" altLang="en-US" sz="1387" dirty="0">
                <a:solidFill>
                  <a:srgbClr val="C00000"/>
                </a:solidFill>
              </a:rPr>
              <a:t> </a:t>
            </a:r>
            <a:r>
              <a:rPr kumimoji="1" lang="en-US" altLang="zh-CN" sz="1387" dirty="0">
                <a:solidFill>
                  <a:srgbClr val="C00000"/>
                </a:solidFill>
              </a:rPr>
              <a:t>metrics</a:t>
            </a:r>
          </a:p>
          <a:p>
            <a:pPr marL="339711" indent="-339711">
              <a:buFont typeface="Arial" panose="020B0604020202020204" pitchFamily="34" charset="0"/>
              <a:buChar char="•"/>
            </a:pPr>
            <a:r>
              <a:rPr lang="en-US" altLang="zh-CN" sz="1387" b="1" dirty="0"/>
              <a:t>PCC</a:t>
            </a:r>
            <a:r>
              <a:rPr lang="en" altLang="zh-CN" sz="1387" b="1" dirty="0"/>
              <a:t> </a:t>
            </a:r>
            <a:r>
              <a:rPr lang="en-US" altLang="zh-CN" sz="1387" dirty="0"/>
              <a:t>SPCC</a:t>
            </a:r>
            <a:r>
              <a:rPr lang="zh-CN" altLang="en-US" sz="1387" dirty="0"/>
              <a:t> </a:t>
            </a:r>
            <a:r>
              <a:rPr lang="en-US" altLang="zh-CN" sz="1387" dirty="0"/>
              <a:t>MMD</a:t>
            </a:r>
            <a:endParaRPr lang="en" altLang="zh-CN" sz="1387" dirty="0"/>
          </a:p>
          <a:p>
            <a:pPr marL="339711" indent="-339711">
              <a:buFont typeface="Arial" panose="020B0604020202020204" pitchFamily="34" charset="0"/>
              <a:buChar char="•"/>
            </a:pPr>
            <a:r>
              <a:rPr lang="en-US" altLang="zh-CN" sz="1387" b="1" dirty="0"/>
              <a:t>KNN</a:t>
            </a:r>
            <a:r>
              <a:rPr lang="zh-CN" altLang="en-US" sz="1387" b="1" dirty="0"/>
              <a:t> </a:t>
            </a:r>
            <a:r>
              <a:rPr lang="en-US" altLang="zh-CN" sz="1387" b="1" dirty="0" err="1"/>
              <a:t>topk</a:t>
            </a:r>
            <a:r>
              <a:rPr lang="zh-CN" altLang="en-US" sz="1387" b="1" dirty="0"/>
              <a:t> </a:t>
            </a:r>
            <a:r>
              <a:rPr lang="en-US" altLang="zh-CN" sz="1387" b="1" dirty="0"/>
              <a:t>acc</a:t>
            </a:r>
            <a:r>
              <a:rPr lang="en" altLang="zh-CN" sz="1387" b="1" dirty="0"/>
              <a:t> </a:t>
            </a:r>
            <a:r>
              <a:rPr lang="en-US" altLang="zh-CN" sz="1387" b="1" dirty="0"/>
              <a:t>(k=1,3,5,7,10,15,25,35,45)</a:t>
            </a:r>
            <a:endParaRPr lang="en" altLang="zh-CN" sz="1387" b="1" dirty="0"/>
          </a:p>
          <a:p>
            <a:pPr marL="339711" indent="-339711">
              <a:buFont typeface="Arial" panose="020B0604020202020204" pitchFamily="34" charset="0"/>
              <a:buChar char="•"/>
            </a:pPr>
            <a:r>
              <a:rPr lang="en-US" altLang="zh-CN" sz="1387" dirty="0" err="1"/>
              <a:t>pKNN</a:t>
            </a:r>
            <a:r>
              <a:rPr lang="en-US" altLang="zh-CN" sz="1387" dirty="0"/>
              <a:t>,</a:t>
            </a:r>
            <a:r>
              <a:rPr lang="zh-CN" altLang="en-US" sz="1387" dirty="0"/>
              <a:t> </a:t>
            </a:r>
            <a:r>
              <a:rPr lang="en-US" altLang="zh-CN" sz="1387" dirty="0"/>
              <a:t>delta</a:t>
            </a:r>
            <a:r>
              <a:rPr lang="zh-CN" altLang="en-US" sz="1387" dirty="0"/>
              <a:t> </a:t>
            </a:r>
            <a:r>
              <a:rPr lang="en-US" altLang="zh-CN" sz="1387" dirty="0" err="1"/>
              <a:t>sKNN</a:t>
            </a:r>
            <a:endParaRPr lang="en" altLang="zh-CN" sz="1387" dirty="0"/>
          </a:p>
          <a:p>
            <a:pPr marL="339711" indent="-339711">
              <a:buFont typeface="Arial" panose="020B0604020202020204" pitchFamily="34" charset="0"/>
              <a:buChar char="•"/>
            </a:pPr>
            <a:r>
              <a:rPr lang="en-US" altLang="zh-CN" sz="1387" b="1" dirty="0"/>
              <a:t>UMAP</a:t>
            </a:r>
            <a:r>
              <a:rPr lang="en" altLang="zh-CN" sz="1387" b="1" dirty="0"/>
              <a:t> </a:t>
            </a:r>
            <a:r>
              <a:rPr lang="en" altLang="zh-CN" sz="1387" dirty="0"/>
              <a:t>(</a:t>
            </a:r>
            <a:r>
              <a:rPr lang="en-US" altLang="zh-CN" sz="1387" dirty="0" err="1"/>
              <a:t>generted</a:t>
            </a:r>
            <a:r>
              <a:rPr lang="zh-CN" altLang="en-US" sz="1387" dirty="0"/>
              <a:t> </a:t>
            </a:r>
            <a:r>
              <a:rPr lang="en-US" altLang="zh-CN" sz="1387" dirty="0"/>
              <a:t>vs.</a:t>
            </a:r>
            <a:r>
              <a:rPr lang="zh-CN" altLang="en-US" sz="1387" dirty="0"/>
              <a:t> </a:t>
            </a:r>
            <a:r>
              <a:rPr lang="en-US" altLang="zh-CN" sz="1387" dirty="0"/>
              <a:t>true;</a:t>
            </a:r>
            <a:r>
              <a:rPr lang="zh-CN" altLang="en-US" sz="1387" dirty="0"/>
              <a:t> </a:t>
            </a:r>
            <a:r>
              <a:rPr lang="en-US" altLang="zh-CN" sz="1387" dirty="0"/>
              <a:t>Cell-type</a:t>
            </a:r>
            <a:r>
              <a:rPr lang="en" altLang="zh-CN" sz="1387" dirty="0"/>
              <a:t>)</a:t>
            </a:r>
          </a:p>
          <a:p>
            <a:pPr marL="339711" indent="-339711">
              <a:buFont typeface="Arial" panose="020B0604020202020204" pitchFamily="34" charset="0"/>
              <a:buChar char="•"/>
            </a:pPr>
            <a:r>
              <a:rPr lang="en-US" altLang="zh-CN" sz="1387" b="1" dirty="0"/>
              <a:t>Scatter</a:t>
            </a:r>
            <a:r>
              <a:rPr lang="zh-CN" altLang="en-US" sz="1387" b="1" dirty="0"/>
              <a:t> </a:t>
            </a:r>
            <a:r>
              <a:rPr lang="en-US" altLang="zh-CN" sz="1387" b="1" dirty="0"/>
              <a:t>plot</a:t>
            </a:r>
          </a:p>
          <a:p>
            <a:endParaRPr kumimoji="1" lang="en-US" altLang="zh-CN" sz="1387" dirty="0"/>
          </a:p>
        </p:txBody>
      </p:sp>
      <p:sp>
        <p:nvSpPr>
          <p:cNvPr id="28" name="文本框 27">
            <a:extLst>
              <a:ext uri="{FF2B5EF4-FFF2-40B4-BE49-F238E27FC236}">
                <a16:creationId xmlns:a16="http://schemas.microsoft.com/office/drawing/2014/main" id="{93C995DF-BF09-37B8-99AA-5A921BD6652C}"/>
              </a:ext>
            </a:extLst>
          </p:cNvPr>
          <p:cNvSpPr txBox="1"/>
          <p:nvPr/>
        </p:nvSpPr>
        <p:spPr>
          <a:xfrm>
            <a:off x="4503470" y="947928"/>
            <a:ext cx="872355" cy="275332"/>
          </a:xfrm>
          <a:prstGeom prst="rect">
            <a:avLst/>
          </a:prstGeom>
          <a:noFill/>
        </p:spPr>
        <p:txBody>
          <a:bodyPr wrap="none" rtlCol="0">
            <a:spAutoFit/>
          </a:bodyPr>
          <a:lstStyle/>
          <a:p>
            <a:r>
              <a:rPr kumimoji="1" lang="en-US" altLang="zh-CN" sz="1189" dirty="0"/>
              <a:t>Cell</a:t>
            </a:r>
            <a:r>
              <a:rPr kumimoji="1" lang="zh-CN" altLang="en-US" sz="1189" dirty="0"/>
              <a:t> </a:t>
            </a:r>
            <a:r>
              <a:rPr kumimoji="1" lang="en-US" altLang="zh-CN" sz="1189" dirty="0"/>
              <a:t>matrix</a:t>
            </a:r>
            <a:endParaRPr kumimoji="1" lang="zh-CN" altLang="en-US" sz="1189" dirty="0"/>
          </a:p>
        </p:txBody>
      </p:sp>
      <p:sp>
        <p:nvSpPr>
          <p:cNvPr id="8" name="文本框 7">
            <a:extLst>
              <a:ext uri="{FF2B5EF4-FFF2-40B4-BE49-F238E27FC236}">
                <a16:creationId xmlns:a16="http://schemas.microsoft.com/office/drawing/2014/main" id="{266A0BC0-9451-C530-C2F5-2F0EA4281CB4}"/>
              </a:ext>
            </a:extLst>
          </p:cNvPr>
          <p:cNvSpPr txBox="1"/>
          <p:nvPr/>
        </p:nvSpPr>
        <p:spPr>
          <a:xfrm>
            <a:off x="359554" y="1190402"/>
            <a:ext cx="2135521" cy="305789"/>
          </a:xfrm>
          <a:prstGeom prst="rect">
            <a:avLst/>
          </a:prstGeom>
          <a:noFill/>
        </p:spPr>
        <p:txBody>
          <a:bodyPr wrap="none" rtlCol="0">
            <a:spAutoFit/>
          </a:bodyPr>
          <a:lstStyle/>
          <a:p>
            <a:r>
              <a:rPr kumimoji="1" lang="en-US" altLang="zh-CN" sz="1387" b="1" dirty="0"/>
              <a:t>Human</a:t>
            </a:r>
            <a:r>
              <a:rPr kumimoji="1" lang="zh-CN" altLang="en-US" sz="1387" b="1" dirty="0"/>
              <a:t> </a:t>
            </a:r>
            <a:r>
              <a:rPr kumimoji="1" lang="en-US" altLang="zh-CN" sz="1387" b="1" dirty="0"/>
              <a:t>Immune</a:t>
            </a:r>
            <a:r>
              <a:rPr kumimoji="1" lang="zh-CN" altLang="en-US" sz="1387" b="1" dirty="0"/>
              <a:t> </a:t>
            </a:r>
            <a:r>
              <a:rPr kumimoji="1" lang="en-US" altLang="zh-CN" sz="1387" b="1" dirty="0"/>
              <a:t>dataset</a:t>
            </a:r>
            <a:endParaRPr kumimoji="1" lang="zh-CN" altLang="en-US" sz="1387" b="1" dirty="0"/>
          </a:p>
        </p:txBody>
      </p:sp>
      <p:sp>
        <p:nvSpPr>
          <p:cNvPr id="14" name="object 13">
            <a:extLst>
              <a:ext uri="{FF2B5EF4-FFF2-40B4-BE49-F238E27FC236}">
                <a16:creationId xmlns:a16="http://schemas.microsoft.com/office/drawing/2014/main" id="{68F69EB3-FB3C-C5CC-930C-FE2F49E33E5D}"/>
              </a:ext>
            </a:extLst>
          </p:cNvPr>
          <p:cNvSpPr txBox="1">
            <a:spLocks/>
          </p:cNvSpPr>
          <p:nvPr/>
        </p:nvSpPr>
        <p:spPr>
          <a:xfrm>
            <a:off x="8872151" y="6671926"/>
            <a:ext cx="1149446" cy="141064"/>
          </a:xfrm>
          <a:prstGeom prst="rect">
            <a:avLst/>
          </a:prstGeom>
        </p:spPr>
        <p:txBody>
          <a:bodyPr vert="horz" wrap="square" lIns="0" tIns="0" rIns="0" bIns="0" rtlCol="0">
            <a:spAutoFit/>
          </a:bodyPr>
          <a:lstStyle>
            <a:defPPr>
              <a:defRPr kern="0"/>
            </a:defPPr>
            <a:lvl1pPr>
              <a:defRPr sz="500" b="0" i="0">
                <a:solidFill>
                  <a:schemeClr val="bg1"/>
                </a:solidFill>
                <a:latin typeface="Tahoma"/>
                <a:cs typeface="Tahoma"/>
              </a:defRPr>
            </a:lvl1pPr>
          </a:lstStyle>
          <a:p>
            <a:pPr marL="25164">
              <a:lnSpc>
                <a:spcPts val="1149"/>
              </a:lnSpc>
            </a:pPr>
            <a:r>
              <a:rPr lang="en-US" altLang="zh-CN" sz="991" dirty="0"/>
              <a:t>September</a:t>
            </a:r>
            <a:r>
              <a:rPr lang="en-US" sz="991" spc="-40" dirty="0"/>
              <a:t> </a:t>
            </a:r>
            <a:r>
              <a:rPr lang="en-US" altLang="zh-CN" sz="991" spc="-40" dirty="0"/>
              <a:t>18</a:t>
            </a:r>
            <a:r>
              <a:rPr lang="en-US" sz="991" dirty="0"/>
              <a:t>,</a:t>
            </a:r>
            <a:r>
              <a:rPr lang="en-US" sz="991" spc="-30" dirty="0"/>
              <a:t> </a:t>
            </a:r>
            <a:r>
              <a:rPr lang="en-US" sz="991" spc="-40" dirty="0"/>
              <a:t>202</a:t>
            </a:r>
            <a:r>
              <a:rPr lang="en-US" altLang="zh-CN" sz="991" spc="-40" dirty="0"/>
              <a:t>5</a:t>
            </a:r>
            <a:endParaRPr lang="en-US" sz="991" spc="-40" dirty="0"/>
          </a:p>
        </p:txBody>
      </p:sp>
      <p:pic>
        <p:nvPicPr>
          <p:cNvPr id="17" name="Picture 6">
            <a:extLst>
              <a:ext uri="{FF2B5EF4-FFF2-40B4-BE49-F238E27FC236}">
                <a16:creationId xmlns:a16="http://schemas.microsoft.com/office/drawing/2014/main" id="{E5E65FDD-7AF9-6E0F-E98E-7E11F216F9D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377" t="18815" r="66226" b="65210"/>
          <a:stretch/>
        </p:blipFill>
        <p:spPr bwMode="auto">
          <a:xfrm>
            <a:off x="4617222" y="1269203"/>
            <a:ext cx="1176809" cy="960997"/>
          </a:xfrm>
          <a:prstGeom prst="rect">
            <a:avLst/>
          </a:prstGeom>
          <a:noFill/>
          <a:extLst>
            <a:ext uri="{909E8E84-426E-40DD-AFC4-6F175D3DCCD1}">
              <a14:hiddenFill xmlns:a14="http://schemas.microsoft.com/office/drawing/2010/main">
                <a:solidFill>
                  <a:srgbClr val="FFFFFF"/>
                </a:solidFill>
              </a14:hiddenFill>
            </a:ext>
          </a:extLst>
        </p:spPr>
      </p:pic>
      <p:sp>
        <p:nvSpPr>
          <p:cNvPr id="25" name="文本框 24">
            <a:extLst>
              <a:ext uri="{FF2B5EF4-FFF2-40B4-BE49-F238E27FC236}">
                <a16:creationId xmlns:a16="http://schemas.microsoft.com/office/drawing/2014/main" id="{B405600F-7D2E-A3B3-6E0A-7BC5E42D3FAF}"/>
              </a:ext>
            </a:extLst>
          </p:cNvPr>
          <p:cNvSpPr txBox="1"/>
          <p:nvPr/>
        </p:nvSpPr>
        <p:spPr>
          <a:xfrm>
            <a:off x="4340970" y="2291560"/>
            <a:ext cx="1863011" cy="275332"/>
          </a:xfrm>
          <a:prstGeom prst="rect">
            <a:avLst/>
          </a:prstGeom>
          <a:noFill/>
        </p:spPr>
        <p:txBody>
          <a:bodyPr wrap="none" rtlCol="0">
            <a:spAutoFit/>
          </a:bodyPr>
          <a:lstStyle/>
          <a:p>
            <a:r>
              <a:rPr kumimoji="1" lang="en-US" altLang="zh-CN" sz="1189" dirty="0"/>
              <a:t>Generated</a:t>
            </a:r>
            <a:r>
              <a:rPr kumimoji="1" lang="zh-CN" altLang="en-US" sz="1189" dirty="0"/>
              <a:t> </a:t>
            </a:r>
            <a:r>
              <a:rPr kumimoji="1" lang="en-US" altLang="zh-CN" sz="1189" dirty="0"/>
              <a:t>cell</a:t>
            </a:r>
            <a:r>
              <a:rPr kumimoji="1" lang="zh-CN" altLang="en-US" sz="1189" dirty="0"/>
              <a:t> </a:t>
            </a:r>
            <a:r>
              <a:rPr kumimoji="1" lang="en-US" altLang="zh-CN" sz="1189" dirty="0"/>
              <a:t>expression</a:t>
            </a:r>
            <a:endParaRPr kumimoji="1" lang="zh-CN" altLang="en-US" sz="1189" dirty="0"/>
          </a:p>
        </p:txBody>
      </p:sp>
      <p:pic>
        <p:nvPicPr>
          <p:cNvPr id="11" name="图片 10">
            <a:extLst>
              <a:ext uri="{FF2B5EF4-FFF2-40B4-BE49-F238E27FC236}">
                <a16:creationId xmlns:a16="http://schemas.microsoft.com/office/drawing/2014/main" id="{3F722FAC-4312-D61F-30C7-6978B0714782}"/>
              </a:ext>
            </a:extLst>
          </p:cNvPr>
          <p:cNvPicPr>
            <a:picLocks noChangeAspect="1"/>
          </p:cNvPicPr>
          <p:nvPr/>
        </p:nvPicPr>
        <p:blipFill>
          <a:blip r:embed="rId5"/>
          <a:srcRect t="-2760"/>
          <a:stretch>
            <a:fillRect/>
          </a:stretch>
        </p:blipFill>
        <p:spPr>
          <a:xfrm>
            <a:off x="3064027" y="3415813"/>
            <a:ext cx="8533170" cy="3014247"/>
          </a:xfrm>
          <a:prstGeom prst="rect">
            <a:avLst/>
          </a:prstGeom>
        </p:spPr>
      </p:pic>
    </p:spTree>
    <p:extLst>
      <p:ext uri="{BB962C8B-B14F-4D97-AF65-F5344CB8AC3E}">
        <p14:creationId xmlns:p14="http://schemas.microsoft.com/office/powerpoint/2010/main" val="2738458764"/>
      </p:ext>
    </p:extLst>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8FE58-CD62-96ED-A11B-30A11049A91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AADB715-AEB9-2CEB-4A7A-F910EC8BF9C6}"/>
              </a:ext>
            </a:extLst>
          </p:cNvPr>
          <p:cNvSpPr txBox="1"/>
          <p:nvPr/>
        </p:nvSpPr>
        <p:spPr>
          <a:xfrm>
            <a:off x="469489" y="124823"/>
            <a:ext cx="5324542" cy="461215"/>
          </a:xfrm>
          <a:prstGeom prst="rect">
            <a:avLst/>
          </a:prstGeom>
        </p:spPr>
        <p:txBody>
          <a:bodyPr vert="horz" wrap="square" lIns="0" tIns="33972" rIns="0" bIns="0" rtlCol="0">
            <a:spAutoFit/>
          </a:bodyPr>
          <a:lstStyle/>
          <a:p>
            <a:pPr marL="25164">
              <a:spcBef>
                <a:spcPts val="267"/>
              </a:spcBef>
            </a:pPr>
            <a:r>
              <a:rPr lang="en" sz="2774" spc="-20" dirty="0">
                <a:solidFill>
                  <a:srgbClr val="FFFFFF"/>
                </a:solidFill>
                <a:latin typeface="Gill Sans MT"/>
                <a:cs typeface="Gill Sans MT"/>
              </a:rPr>
              <a:t>Pseudo</a:t>
            </a:r>
            <a:r>
              <a:rPr lang="en-US" altLang="zh-CN" sz="2774" spc="-20" dirty="0">
                <a:solidFill>
                  <a:srgbClr val="FFFFFF"/>
                </a:solidFill>
                <a:latin typeface="Gill Sans MT"/>
                <a:cs typeface="Gill Sans MT"/>
              </a:rPr>
              <a:t>-Cell</a:t>
            </a:r>
            <a:r>
              <a:rPr lang="en" sz="2774" spc="-20" dirty="0">
                <a:solidFill>
                  <a:srgbClr val="FFFFFF"/>
                </a:solidFill>
                <a:latin typeface="Gill Sans MT"/>
                <a:cs typeface="Gill Sans MT"/>
              </a:rPr>
              <a:t> generation</a:t>
            </a:r>
          </a:p>
        </p:txBody>
      </p:sp>
      <p:grpSp>
        <p:nvGrpSpPr>
          <p:cNvPr id="3" name="object 3">
            <a:extLst>
              <a:ext uri="{FF2B5EF4-FFF2-40B4-BE49-F238E27FC236}">
                <a16:creationId xmlns:a16="http://schemas.microsoft.com/office/drawing/2014/main" id="{F75ECA93-6FDB-CC7D-4D47-BFE2AB4E88C1}"/>
              </a:ext>
            </a:extLst>
          </p:cNvPr>
          <p:cNvGrpSpPr/>
          <p:nvPr/>
        </p:nvGrpSpPr>
        <p:grpSpPr>
          <a:xfrm>
            <a:off x="0" y="6667139"/>
            <a:ext cx="12192000" cy="181181"/>
            <a:chOff x="0" y="3364623"/>
            <a:chExt cx="4608195" cy="91440"/>
          </a:xfrm>
        </p:grpSpPr>
        <p:sp>
          <p:nvSpPr>
            <p:cNvPr id="4" name="object 4">
              <a:extLst>
                <a:ext uri="{FF2B5EF4-FFF2-40B4-BE49-F238E27FC236}">
                  <a16:creationId xmlns:a16="http://schemas.microsoft.com/office/drawing/2014/main" id="{B7BA4CAC-8EB2-7248-6AAD-E10E5CFDC148}"/>
                </a:ext>
              </a:extLst>
            </p:cNvPr>
            <p:cNvSpPr/>
            <p:nvPr/>
          </p:nvSpPr>
          <p:spPr>
            <a:xfrm>
              <a:off x="0" y="3364623"/>
              <a:ext cx="1536065" cy="91440"/>
            </a:xfrm>
            <a:custGeom>
              <a:avLst/>
              <a:gdLst/>
              <a:ahLst/>
              <a:cxnLst/>
              <a:rect l="l" t="t" r="r" b="b"/>
              <a:pathLst>
                <a:path w="1536065" h="91439">
                  <a:moveTo>
                    <a:pt x="1535976" y="0"/>
                  </a:moveTo>
                  <a:lnTo>
                    <a:pt x="0" y="0"/>
                  </a:lnTo>
                  <a:lnTo>
                    <a:pt x="0" y="91376"/>
                  </a:lnTo>
                  <a:lnTo>
                    <a:pt x="1535976" y="91376"/>
                  </a:lnTo>
                  <a:lnTo>
                    <a:pt x="1535976" y="0"/>
                  </a:lnTo>
                  <a:close/>
                </a:path>
              </a:pathLst>
            </a:custGeom>
            <a:solidFill>
              <a:srgbClr val="C7D1C5"/>
            </a:solidFill>
          </p:spPr>
          <p:txBody>
            <a:bodyPr wrap="square" lIns="0" tIns="0" rIns="0" bIns="0" rtlCol="0"/>
            <a:lstStyle/>
            <a:p>
              <a:endParaRPr sz="3567"/>
            </a:p>
          </p:txBody>
        </p:sp>
        <p:sp>
          <p:nvSpPr>
            <p:cNvPr id="5" name="object 5">
              <a:extLst>
                <a:ext uri="{FF2B5EF4-FFF2-40B4-BE49-F238E27FC236}">
                  <a16:creationId xmlns:a16="http://schemas.microsoft.com/office/drawing/2014/main" id="{FBF9DE8F-9F7D-E50B-83D9-9F6C91D610C8}"/>
                </a:ext>
              </a:extLst>
            </p:cNvPr>
            <p:cNvSpPr/>
            <p:nvPr/>
          </p:nvSpPr>
          <p:spPr>
            <a:xfrm>
              <a:off x="1535976"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00A6AA"/>
            </a:solidFill>
          </p:spPr>
          <p:txBody>
            <a:bodyPr wrap="square" lIns="0" tIns="0" rIns="0" bIns="0" rtlCol="0"/>
            <a:lstStyle/>
            <a:p>
              <a:endParaRPr sz="3567"/>
            </a:p>
          </p:txBody>
        </p:sp>
        <p:sp>
          <p:nvSpPr>
            <p:cNvPr id="6" name="object 6">
              <a:extLst>
                <a:ext uri="{FF2B5EF4-FFF2-40B4-BE49-F238E27FC236}">
                  <a16:creationId xmlns:a16="http://schemas.microsoft.com/office/drawing/2014/main" id="{9C61FB06-CE1C-85F1-54A5-012C0FCA9BA9}"/>
                </a:ext>
              </a:extLst>
            </p:cNvPr>
            <p:cNvSpPr/>
            <p:nvPr/>
          </p:nvSpPr>
          <p:spPr>
            <a:xfrm>
              <a:off x="3071952"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4C4E52"/>
            </a:solidFill>
          </p:spPr>
          <p:txBody>
            <a:bodyPr wrap="square" lIns="0" tIns="0" rIns="0" bIns="0" rtlCol="0"/>
            <a:lstStyle/>
            <a:p>
              <a:endParaRPr sz="3567"/>
            </a:p>
          </p:txBody>
        </p:sp>
      </p:grpSp>
      <p:sp>
        <p:nvSpPr>
          <p:cNvPr id="7" name="object 7">
            <a:extLst>
              <a:ext uri="{FF2B5EF4-FFF2-40B4-BE49-F238E27FC236}">
                <a16:creationId xmlns:a16="http://schemas.microsoft.com/office/drawing/2014/main" id="{97B04C6B-71F4-BD59-EC4A-CDCB67E18C3D}"/>
              </a:ext>
            </a:extLst>
          </p:cNvPr>
          <p:cNvSpPr txBox="1">
            <a:spLocks noGrp="1"/>
          </p:cNvSpPr>
          <p:nvPr>
            <p:ph type="ftr" sz="quarter" idx="5"/>
          </p:nvPr>
        </p:nvSpPr>
        <p:spPr>
          <a:xfrm>
            <a:off x="2774341" y="6677624"/>
            <a:ext cx="579372" cy="141064"/>
          </a:xfrm>
          <a:prstGeom prst="rect">
            <a:avLst/>
          </a:prstGeom>
        </p:spPr>
        <p:txBody>
          <a:bodyPr vert="horz" wrap="square" lIns="0" tIns="0" rIns="0" bIns="0" rtlCol="0" anchor="ctr">
            <a:spAutoFit/>
          </a:bodyPr>
          <a:lstStyle/>
          <a:p>
            <a:pPr marL="25164">
              <a:lnSpc>
                <a:spcPts val="1149"/>
              </a:lnSpc>
            </a:pPr>
            <a:r>
              <a:rPr lang="en-US" altLang="zh-CN" spc="-20" dirty="0"/>
              <a:t>Results</a:t>
            </a:r>
            <a:endParaRPr spc="-20" dirty="0"/>
          </a:p>
        </p:txBody>
      </p:sp>
      <p:sp>
        <p:nvSpPr>
          <p:cNvPr id="10" name="object 10">
            <a:extLst>
              <a:ext uri="{FF2B5EF4-FFF2-40B4-BE49-F238E27FC236}">
                <a16:creationId xmlns:a16="http://schemas.microsoft.com/office/drawing/2014/main" id="{AE5F45D8-3803-0BE6-24BE-FC5BE910D854}"/>
              </a:ext>
            </a:extLst>
          </p:cNvPr>
          <p:cNvSpPr txBox="1">
            <a:spLocks noGrp="1"/>
          </p:cNvSpPr>
          <p:nvPr>
            <p:ph type="sldNum" sz="quarter" idx="7"/>
          </p:nvPr>
        </p:nvSpPr>
        <p:spPr>
          <a:xfrm>
            <a:off x="10255925" y="6677624"/>
            <a:ext cx="520595" cy="141064"/>
          </a:xfrm>
          <a:prstGeom prst="rect">
            <a:avLst/>
          </a:prstGeom>
        </p:spPr>
        <p:txBody>
          <a:bodyPr vert="horz" wrap="square" lIns="0" tIns="0" rIns="0" bIns="0" rtlCol="0" anchor="ctr">
            <a:spAutoFit/>
          </a:bodyPr>
          <a:lstStyle/>
          <a:p>
            <a:pPr marL="75483">
              <a:lnSpc>
                <a:spcPts val="1149"/>
              </a:lnSpc>
            </a:pPr>
            <a:fld id="{81D60167-4931-47E6-BA6A-407CBD079E47}" type="slidenum">
              <a:rPr dirty="0"/>
              <a:pPr marL="75483">
                <a:lnSpc>
                  <a:spcPts val="1149"/>
                </a:lnSpc>
              </a:pPr>
              <a:t>2</a:t>
            </a:fld>
            <a:r>
              <a:rPr spc="30" dirty="0"/>
              <a:t> </a:t>
            </a:r>
            <a:r>
              <a:rPr spc="139" dirty="0"/>
              <a:t>/</a:t>
            </a:r>
            <a:r>
              <a:rPr spc="30" dirty="0"/>
              <a:t> </a:t>
            </a:r>
            <a:r>
              <a:rPr lang="en-US" altLang="zh-CN" spc="-99" dirty="0"/>
              <a:t>31</a:t>
            </a:r>
            <a:endParaRPr spc="-99" dirty="0"/>
          </a:p>
        </p:txBody>
      </p:sp>
      <p:sp>
        <p:nvSpPr>
          <p:cNvPr id="13" name="文本框 12">
            <a:extLst>
              <a:ext uri="{FF2B5EF4-FFF2-40B4-BE49-F238E27FC236}">
                <a16:creationId xmlns:a16="http://schemas.microsoft.com/office/drawing/2014/main" id="{47934F27-E5AC-8D86-4D3E-A4E701824F3C}"/>
              </a:ext>
            </a:extLst>
          </p:cNvPr>
          <p:cNvSpPr txBox="1"/>
          <p:nvPr/>
        </p:nvSpPr>
        <p:spPr>
          <a:xfrm>
            <a:off x="359553" y="727697"/>
            <a:ext cx="3623628" cy="397160"/>
          </a:xfrm>
          <a:prstGeom prst="rect">
            <a:avLst/>
          </a:prstGeom>
          <a:noFill/>
        </p:spPr>
        <p:txBody>
          <a:bodyPr wrap="square" rtlCol="0">
            <a:spAutoFit/>
          </a:bodyPr>
          <a:lstStyle/>
          <a:p>
            <a:r>
              <a:rPr kumimoji="1" lang="en-US" altLang="zh-CN" sz="1981" b="1" dirty="0">
                <a:solidFill>
                  <a:schemeClr val="accent2"/>
                </a:solidFill>
              </a:rPr>
              <a:t>Evaluation</a:t>
            </a:r>
            <a:endParaRPr kumimoji="1" lang="en" altLang="zh-CN" sz="1981" b="1" dirty="0">
              <a:solidFill>
                <a:schemeClr val="accent2"/>
              </a:solidFill>
            </a:endParaRPr>
          </a:p>
        </p:txBody>
      </p:sp>
      <p:sp>
        <p:nvSpPr>
          <p:cNvPr id="22" name="object 8">
            <a:extLst>
              <a:ext uri="{FF2B5EF4-FFF2-40B4-BE49-F238E27FC236}">
                <a16:creationId xmlns:a16="http://schemas.microsoft.com/office/drawing/2014/main" id="{17055BF6-573E-2005-4538-93ED68E35D9B}"/>
              </a:ext>
            </a:extLst>
          </p:cNvPr>
          <p:cNvSpPr txBox="1"/>
          <p:nvPr/>
        </p:nvSpPr>
        <p:spPr>
          <a:xfrm>
            <a:off x="5643047" y="6671927"/>
            <a:ext cx="826783" cy="141064"/>
          </a:xfrm>
          <a:prstGeom prst="rect">
            <a:avLst/>
          </a:prstGeom>
        </p:spPr>
        <p:txBody>
          <a:bodyPr vert="horz" wrap="square" lIns="0" tIns="0" rIns="0" bIns="0" rtlCol="0">
            <a:spAutoFit/>
          </a:bodyPr>
          <a:lstStyle/>
          <a:p>
            <a:pPr marL="25164">
              <a:lnSpc>
                <a:spcPts val="1149"/>
              </a:lnSpc>
            </a:pPr>
            <a:r>
              <a:rPr lang="en-US" altLang="zh-CN" sz="991" spc="-20" dirty="0">
                <a:solidFill>
                  <a:schemeClr val="tx2"/>
                </a:solidFill>
                <a:latin typeface="Tahoma"/>
                <a:cs typeface="Tahoma"/>
              </a:rPr>
              <a:t>SpeciesLLM</a:t>
            </a:r>
            <a:endParaRPr sz="991" dirty="0">
              <a:solidFill>
                <a:schemeClr val="tx2"/>
              </a:solidFill>
              <a:latin typeface="Tahoma"/>
              <a:cs typeface="Tahoma"/>
            </a:endParaRPr>
          </a:p>
        </p:txBody>
      </p:sp>
      <p:sp>
        <p:nvSpPr>
          <p:cNvPr id="23" name="矩形 22">
            <a:extLst>
              <a:ext uri="{FF2B5EF4-FFF2-40B4-BE49-F238E27FC236}">
                <a16:creationId xmlns:a16="http://schemas.microsoft.com/office/drawing/2014/main" id="{FF198000-4CD6-56BD-6470-C9CBDAE09DFC}"/>
              </a:ext>
            </a:extLst>
          </p:cNvPr>
          <p:cNvSpPr/>
          <p:nvPr/>
        </p:nvSpPr>
        <p:spPr>
          <a:xfrm>
            <a:off x="7152892" y="6448693"/>
            <a:ext cx="4982489" cy="1811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3567"/>
          </a:p>
        </p:txBody>
      </p:sp>
      <p:pic>
        <p:nvPicPr>
          <p:cNvPr id="20" name="图片 19">
            <a:extLst>
              <a:ext uri="{FF2B5EF4-FFF2-40B4-BE49-F238E27FC236}">
                <a16:creationId xmlns:a16="http://schemas.microsoft.com/office/drawing/2014/main" id="{6BCECB6D-8A64-69FB-87D9-9BB452CC454C}"/>
              </a:ext>
            </a:extLst>
          </p:cNvPr>
          <p:cNvPicPr>
            <a:picLocks noChangeAspect="1"/>
          </p:cNvPicPr>
          <p:nvPr/>
        </p:nvPicPr>
        <p:blipFill>
          <a:blip r:embed="rId3"/>
          <a:stretch>
            <a:fillRect/>
          </a:stretch>
        </p:blipFill>
        <p:spPr>
          <a:xfrm>
            <a:off x="3792987" y="1382245"/>
            <a:ext cx="3209820" cy="592583"/>
          </a:xfrm>
          <a:prstGeom prst="rect">
            <a:avLst/>
          </a:prstGeom>
        </p:spPr>
      </p:pic>
      <p:cxnSp>
        <p:nvCxnSpPr>
          <p:cNvPr id="24" name="直线箭头连接符 23">
            <a:extLst>
              <a:ext uri="{FF2B5EF4-FFF2-40B4-BE49-F238E27FC236}">
                <a16:creationId xmlns:a16="http://schemas.microsoft.com/office/drawing/2014/main" id="{8CB79975-643F-A8B6-6153-69A4598817EB}"/>
              </a:ext>
            </a:extLst>
          </p:cNvPr>
          <p:cNvCxnSpPr>
            <a:cxnSpLocks/>
          </p:cNvCxnSpPr>
          <p:nvPr/>
        </p:nvCxnSpPr>
        <p:spPr>
          <a:xfrm flipH="1">
            <a:off x="7152892" y="1685606"/>
            <a:ext cx="1373773" cy="0"/>
          </a:xfrm>
          <a:prstGeom prst="straightConnector1">
            <a:avLst/>
          </a:prstGeom>
          <a:ln>
            <a:solidFill>
              <a:srgbClr val="4B506C"/>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C392BEFE-A941-CE77-FDE1-75522971FE1B}"/>
              </a:ext>
            </a:extLst>
          </p:cNvPr>
          <p:cNvSpPr txBox="1"/>
          <p:nvPr/>
        </p:nvSpPr>
        <p:spPr>
          <a:xfrm>
            <a:off x="359553" y="1731550"/>
            <a:ext cx="10541010" cy="2013436"/>
          </a:xfrm>
          <a:prstGeom prst="rect">
            <a:avLst/>
          </a:prstGeom>
          <a:noFill/>
        </p:spPr>
        <p:txBody>
          <a:bodyPr wrap="square" rtlCol="0">
            <a:spAutoFit/>
          </a:bodyPr>
          <a:lstStyle/>
          <a:p>
            <a:r>
              <a:rPr kumimoji="1" lang="en-US" altLang="zh-CN" sz="1387" dirty="0" err="1">
                <a:solidFill>
                  <a:srgbClr val="C00000"/>
                </a:solidFill>
              </a:rPr>
              <a:t>Zeroshot</a:t>
            </a:r>
            <a:r>
              <a:rPr kumimoji="1" lang="zh-CN" altLang="en-US" sz="1387" dirty="0">
                <a:solidFill>
                  <a:srgbClr val="C00000"/>
                </a:solidFill>
              </a:rPr>
              <a:t> </a:t>
            </a:r>
            <a:r>
              <a:rPr kumimoji="1" lang="en-US" altLang="zh-CN" sz="1387" dirty="0">
                <a:solidFill>
                  <a:srgbClr val="C00000"/>
                </a:solidFill>
              </a:rPr>
              <a:t>setting</a:t>
            </a:r>
          </a:p>
          <a:p>
            <a:r>
              <a:rPr kumimoji="1" lang="en-US" altLang="zh-CN" sz="1387" dirty="0"/>
              <a:t>1. Test</a:t>
            </a:r>
            <a:r>
              <a:rPr kumimoji="1" lang="zh-CN" altLang="en-US" sz="1387" dirty="0"/>
              <a:t> </a:t>
            </a:r>
            <a:r>
              <a:rPr kumimoji="1" lang="en-US" altLang="zh-CN" sz="1387" dirty="0"/>
              <a:t>samples:</a:t>
            </a:r>
            <a:r>
              <a:rPr kumimoji="1" lang="zh-CN" altLang="en-US" sz="1387" dirty="0"/>
              <a:t> </a:t>
            </a:r>
            <a:r>
              <a:rPr kumimoji="1" lang="en-US" altLang="zh-CN" sz="1387" dirty="0"/>
              <a:t>2700</a:t>
            </a:r>
          </a:p>
          <a:p>
            <a:r>
              <a:rPr kumimoji="1" lang="en-US" altLang="zh-CN" sz="1387" dirty="0">
                <a:solidFill>
                  <a:srgbClr val="C00000"/>
                </a:solidFill>
              </a:rPr>
              <a:t>Evaluation</a:t>
            </a:r>
            <a:r>
              <a:rPr kumimoji="1" lang="zh-CN" altLang="en-US" sz="1387" dirty="0">
                <a:solidFill>
                  <a:srgbClr val="C00000"/>
                </a:solidFill>
              </a:rPr>
              <a:t> </a:t>
            </a:r>
            <a:r>
              <a:rPr kumimoji="1" lang="en-US" altLang="zh-CN" sz="1387" dirty="0">
                <a:solidFill>
                  <a:srgbClr val="C00000"/>
                </a:solidFill>
              </a:rPr>
              <a:t>metrics</a:t>
            </a:r>
          </a:p>
          <a:p>
            <a:pPr marL="339711" indent="-339711">
              <a:buFont typeface="Arial" panose="020B0604020202020204" pitchFamily="34" charset="0"/>
              <a:buChar char="•"/>
            </a:pPr>
            <a:r>
              <a:rPr lang="en-US" altLang="zh-CN" sz="1387" b="1" dirty="0"/>
              <a:t>PCC</a:t>
            </a:r>
            <a:r>
              <a:rPr lang="en" altLang="zh-CN" sz="1387" b="1" dirty="0"/>
              <a:t> </a:t>
            </a:r>
            <a:r>
              <a:rPr lang="en-US" altLang="zh-CN" sz="1387" dirty="0"/>
              <a:t>SPCC</a:t>
            </a:r>
            <a:r>
              <a:rPr lang="zh-CN" altLang="en-US" sz="1387" dirty="0"/>
              <a:t> </a:t>
            </a:r>
            <a:r>
              <a:rPr lang="en-US" altLang="zh-CN" sz="1387" dirty="0"/>
              <a:t>MMD</a:t>
            </a:r>
            <a:endParaRPr lang="en" altLang="zh-CN" sz="1387" dirty="0"/>
          </a:p>
          <a:p>
            <a:pPr marL="339711" indent="-339711">
              <a:buFont typeface="Arial" panose="020B0604020202020204" pitchFamily="34" charset="0"/>
              <a:buChar char="•"/>
            </a:pPr>
            <a:r>
              <a:rPr lang="en-US" altLang="zh-CN" sz="1387" b="1" dirty="0"/>
              <a:t>KNN</a:t>
            </a:r>
            <a:r>
              <a:rPr lang="zh-CN" altLang="en-US" sz="1387" b="1" dirty="0"/>
              <a:t> </a:t>
            </a:r>
            <a:r>
              <a:rPr lang="en-US" altLang="zh-CN" sz="1387" b="1" dirty="0" err="1"/>
              <a:t>topk</a:t>
            </a:r>
            <a:r>
              <a:rPr lang="zh-CN" altLang="en-US" sz="1387" b="1" dirty="0"/>
              <a:t> </a:t>
            </a:r>
            <a:r>
              <a:rPr lang="en-US" altLang="zh-CN" sz="1387" b="1" dirty="0"/>
              <a:t>acc</a:t>
            </a:r>
            <a:r>
              <a:rPr lang="en" altLang="zh-CN" sz="1387" b="1" dirty="0"/>
              <a:t> </a:t>
            </a:r>
            <a:r>
              <a:rPr lang="en-US" altLang="zh-CN" sz="1387" b="1" dirty="0"/>
              <a:t>(k=1,3,5,7,10,15,25,35,45)</a:t>
            </a:r>
            <a:endParaRPr lang="en" altLang="zh-CN" sz="1387" b="1" dirty="0"/>
          </a:p>
          <a:p>
            <a:pPr marL="339711" indent="-339711">
              <a:buFont typeface="Arial" panose="020B0604020202020204" pitchFamily="34" charset="0"/>
              <a:buChar char="•"/>
            </a:pPr>
            <a:r>
              <a:rPr lang="en-US" altLang="zh-CN" sz="1387" dirty="0" err="1"/>
              <a:t>pKNN</a:t>
            </a:r>
            <a:r>
              <a:rPr lang="en-US" altLang="zh-CN" sz="1387" dirty="0"/>
              <a:t>,</a:t>
            </a:r>
            <a:r>
              <a:rPr lang="zh-CN" altLang="en-US" sz="1387" dirty="0"/>
              <a:t> </a:t>
            </a:r>
            <a:r>
              <a:rPr lang="en-US" altLang="zh-CN" sz="1387" dirty="0"/>
              <a:t>delta</a:t>
            </a:r>
            <a:r>
              <a:rPr lang="zh-CN" altLang="en-US" sz="1387" dirty="0"/>
              <a:t> </a:t>
            </a:r>
            <a:r>
              <a:rPr lang="en-US" altLang="zh-CN" sz="1387" dirty="0" err="1"/>
              <a:t>sKNN</a:t>
            </a:r>
            <a:endParaRPr lang="en" altLang="zh-CN" sz="1387" dirty="0"/>
          </a:p>
          <a:p>
            <a:pPr marL="339711" indent="-339711">
              <a:buFont typeface="Arial" panose="020B0604020202020204" pitchFamily="34" charset="0"/>
              <a:buChar char="•"/>
            </a:pPr>
            <a:r>
              <a:rPr lang="en-US" altLang="zh-CN" sz="1387" b="1" dirty="0"/>
              <a:t>UMAP</a:t>
            </a:r>
            <a:r>
              <a:rPr lang="en" altLang="zh-CN" sz="1387" b="1" dirty="0"/>
              <a:t> </a:t>
            </a:r>
            <a:r>
              <a:rPr lang="en" altLang="zh-CN" sz="1387" dirty="0"/>
              <a:t>(</a:t>
            </a:r>
            <a:r>
              <a:rPr lang="en-US" altLang="zh-CN" sz="1387" dirty="0" err="1"/>
              <a:t>generted</a:t>
            </a:r>
            <a:r>
              <a:rPr lang="zh-CN" altLang="en-US" sz="1387" dirty="0"/>
              <a:t> </a:t>
            </a:r>
            <a:r>
              <a:rPr lang="en-US" altLang="zh-CN" sz="1387" dirty="0"/>
              <a:t>vs.</a:t>
            </a:r>
            <a:r>
              <a:rPr lang="zh-CN" altLang="en-US" sz="1387" dirty="0"/>
              <a:t> </a:t>
            </a:r>
            <a:r>
              <a:rPr lang="en-US" altLang="zh-CN" sz="1387" dirty="0"/>
              <a:t>true;</a:t>
            </a:r>
            <a:r>
              <a:rPr lang="zh-CN" altLang="en-US" sz="1387" dirty="0"/>
              <a:t> </a:t>
            </a:r>
            <a:r>
              <a:rPr lang="en-US" altLang="zh-CN" sz="1387" dirty="0"/>
              <a:t>Cell-type</a:t>
            </a:r>
            <a:r>
              <a:rPr lang="en" altLang="zh-CN" sz="1387" dirty="0"/>
              <a:t>)</a:t>
            </a:r>
          </a:p>
          <a:p>
            <a:pPr marL="339711" indent="-339711">
              <a:buFont typeface="Arial" panose="020B0604020202020204" pitchFamily="34" charset="0"/>
              <a:buChar char="•"/>
            </a:pPr>
            <a:r>
              <a:rPr lang="en-US" altLang="zh-CN" sz="1387" b="1" dirty="0"/>
              <a:t>Scatter</a:t>
            </a:r>
            <a:r>
              <a:rPr lang="zh-CN" altLang="en-US" sz="1387" b="1" dirty="0"/>
              <a:t> </a:t>
            </a:r>
            <a:r>
              <a:rPr lang="en-US" altLang="zh-CN" sz="1387" b="1" dirty="0"/>
              <a:t>plot</a:t>
            </a:r>
          </a:p>
          <a:p>
            <a:endParaRPr kumimoji="1" lang="en-US" altLang="zh-CN" sz="1387" dirty="0"/>
          </a:p>
        </p:txBody>
      </p:sp>
      <p:sp>
        <p:nvSpPr>
          <p:cNvPr id="28" name="文本框 27">
            <a:extLst>
              <a:ext uri="{FF2B5EF4-FFF2-40B4-BE49-F238E27FC236}">
                <a16:creationId xmlns:a16="http://schemas.microsoft.com/office/drawing/2014/main" id="{4E526787-990D-81D0-F095-6FB5D7FE8536}"/>
              </a:ext>
            </a:extLst>
          </p:cNvPr>
          <p:cNvSpPr txBox="1"/>
          <p:nvPr/>
        </p:nvSpPr>
        <p:spPr>
          <a:xfrm>
            <a:off x="4503470" y="947928"/>
            <a:ext cx="1547218" cy="275332"/>
          </a:xfrm>
          <a:prstGeom prst="rect">
            <a:avLst/>
          </a:prstGeom>
          <a:noFill/>
        </p:spPr>
        <p:txBody>
          <a:bodyPr wrap="none" rtlCol="0">
            <a:spAutoFit/>
          </a:bodyPr>
          <a:lstStyle/>
          <a:p>
            <a:r>
              <a:rPr kumimoji="1" lang="en-US" altLang="zh-CN" sz="1189" dirty="0"/>
              <a:t>Cell</a:t>
            </a:r>
            <a:r>
              <a:rPr kumimoji="1" lang="zh-CN" altLang="en-US" sz="1189" dirty="0"/>
              <a:t> </a:t>
            </a:r>
            <a:r>
              <a:rPr kumimoji="1" lang="en-US" altLang="zh-CN" sz="1189" dirty="0"/>
              <a:t>state</a:t>
            </a:r>
            <a:r>
              <a:rPr kumimoji="1" lang="zh-CN" altLang="en-US" sz="1189" dirty="0"/>
              <a:t> </a:t>
            </a:r>
            <a:r>
              <a:rPr kumimoji="1" lang="en-US" altLang="zh-CN" sz="1189" dirty="0"/>
              <a:t>description</a:t>
            </a:r>
            <a:endParaRPr kumimoji="1" lang="zh-CN" altLang="en-US" sz="1189" dirty="0"/>
          </a:p>
        </p:txBody>
      </p:sp>
      <p:graphicFrame>
        <p:nvGraphicFramePr>
          <p:cNvPr id="29" name="表格 28">
            <a:extLst>
              <a:ext uri="{FF2B5EF4-FFF2-40B4-BE49-F238E27FC236}">
                <a16:creationId xmlns:a16="http://schemas.microsoft.com/office/drawing/2014/main" id="{96ADD495-4694-6288-C321-C165A75F0D36}"/>
              </a:ext>
            </a:extLst>
          </p:cNvPr>
          <p:cNvGraphicFramePr>
            <a:graphicFrameLocks noGrp="1"/>
          </p:cNvGraphicFramePr>
          <p:nvPr/>
        </p:nvGraphicFramePr>
        <p:xfrm>
          <a:off x="814564" y="4119732"/>
          <a:ext cx="9958932" cy="2067546"/>
        </p:xfrm>
        <a:graphic>
          <a:graphicData uri="http://schemas.openxmlformats.org/drawingml/2006/table">
            <a:tbl>
              <a:tblPr firstRow="1" bandRow="1">
                <a:tableStyleId>{69012ECD-51FC-41F1-AA8D-1B2483CD663E}</a:tableStyleId>
              </a:tblPr>
              <a:tblGrid>
                <a:gridCol w="890910">
                  <a:extLst>
                    <a:ext uri="{9D8B030D-6E8A-4147-A177-3AD203B41FA5}">
                      <a16:colId xmlns:a16="http://schemas.microsoft.com/office/drawing/2014/main" val="3915004950"/>
                    </a:ext>
                  </a:extLst>
                </a:gridCol>
                <a:gridCol w="955379">
                  <a:extLst>
                    <a:ext uri="{9D8B030D-6E8A-4147-A177-3AD203B41FA5}">
                      <a16:colId xmlns:a16="http://schemas.microsoft.com/office/drawing/2014/main" val="1777966304"/>
                    </a:ext>
                  </a:extLst>
                </a:gridCol>
                <a:gridCol w="871953">
                  <a:extLst>
                    <a:ext uri="{9D8B030D-6E8A-4147-A177-3AD203B41FA5}">
                      <a16:colId xmlns:a16="http://schemas.microsoft.com/office/drawing/2014/main" val="340557981"/>
                    </a:ext>
                  </a:extLst>
                </a:gridCol>
                <a:gridCol w="1122019">
                  <a:extLst>
                    <a:ext uri="{9D8B030D-6E8A-4147-A177-3AD203B41FA5}">
                      <a16:colId xmlns:a16="http://schemas.microsoft.com/office/drawing/2014/main" val="1670763628"/>
                    </a:ext>
                  </a:extLst>
                </a:gridCol>
                <a:gridCol w="1169205">
                  <a:extLst>
                    <a:ext uri="{9D8B030D-6E8A-4147-A177-3AD203B41FA5}">
                      <a16:colId xmlns:a16="http://schemas.microsoft.com/office/drawing/2014/main" val="3312160408"/>
                    </a:ext>
                  </a:extLst>
                </a:gridCol>
                <a:gridCol w="1148233">
                  <a:extLst>
                    <a:ext uri="{9D8B030D-6E8A-4147-A177-3AD203B41FA5}">
                      <a16:colId xmlns:a16="http://schemas.microsoft.com/office/drawing/2014/main" val="3455810413"/>
                    </a:ext>
                  </a:extLst>
                </a:gridCol>
                <a:gridCol w="1095805">
                  <a:extLst>
                    <a:ext uri="{9D8B030D-6E8A-4147-A177-3AD203B41FA5}">
                      <a16:colId xmlns:a16="http://schemas.microsoft.com/office/drawing/2014/main" val="4252643672"/>
                    </a:ext>
                  </a:extLst>
                </a:gridCol>
                <a:gridCol w="1352714">
                  <a:extLst>
                    <a:ext uri="{9D8B030D-6E8A-4147-A177-3AD203B41FA5}">
                      <a16:colId xmlns:a16="http://schemas.microsoft.com/office/drawing/2014/main" val="2275369558"/>
                    </a:ext>
                  </a:extLst>
                </a:gridCol>
                <a:gridCol w="1352714">
                  <a:extLst>
                    <a:ext uri="{9D8B030D-6E8A-4147-A177-3AD203B41FA5}">
                      <a16:colId xmlns:a16="http://schemas.microsoft.com/office/drawing/2014/main" val="234896105"/>
                    </a:ext>
                  </a:extLst>
                </a:gridCol>
              </a:tblGrid>
              <a:tr h="634135">
                <a:tc>
                  <a:txBody>
                    <a:bodyPr/>
                    <a:lstStyle/>
                    <a:p>
                      <a:r>
                        <a:rPr lang="en-US" altLang="zh-CN" sz="1400" dirty="0">
                          <a:solidFill>
                            <a:schemeClr val="tx1"/>
                          </a:solidFill>
                        </a:rPr>
                        <a:t>K</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dirty="0">
                          <a:solidFill>
                            <a:schemeClr val="tx1"/>
                          </a:solidFill>
                        </a:rPr>
                        <a:t>1</a:t>
                      </a:r>
                    </a:p>
                    <a:p>
                      <a:pPr algn="ct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dirty="0">
                          <a:solidFill>
                            <a:schemeClr val="tx1"/>
                          </a:solidFill>
                        </a:rPr>
                        <a:t>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dirty="0">
                          <a:solidFill>
                            <a:schemeClr val="tx1"/>
                          </a:solidFill>
                        </a:rPr>
                        <a:t>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dirty="0">
                          <a:solidFill>
                            <a:schemeClr val="tx1"/>
                          </a:solidFill>
                        </a:rPr>
                        <a:t>10</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dirty="0">
                          <a:solidFill>
                            <a:schemeClr val="tx1"/>
                          </a:solidFill>
                        </a:rPr>
                        <a:t>15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dirty="0">
                          <a:solidFill>
                            <a:schemeClr val="tx1"/>
                          </a:solidFill>
                        </a:rPr>
                        <a:t>25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35</a:t>
                      </a:r>
                      <a:endParaRPr lang="en" altLang="zh-CN" sz="140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45(</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extLst>
                  <a:ext uri="{0D108BD9-81ED-4DB2-BD59-A6C34878D82A}">
                    <a16:rowId xmlns:a16="http://schemas.microsoft.com/office/drawing/2014/main" val="3822584591"/>
                  </a:ext>
                </a:extLst>
              </a:tr>
              <a:tr h="559087">
                <a:tc>
                  <a:txBody>
                    <a:bodyPr/>
                    <a:lstStyle/>
                    <a:p>
                      <a:r>
                        <a:rPr lang="en-US" altLang="zh-CN" sz="1400" dirty="0" err="1"/>
                        <a:t>Macrogene</a:t>
                      </a:r>
                      <a:r>
                        <a:rPr lang="en-US" altLang="zh-CN" sz="1400" dirty="0"/>
                        <a:t>-level</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kern="1200" dirty="0">
                          <a:solidFill>
                            <a:schemeClr val="tx1"/>
                          </a:solidFill>
                          <a:effectLst/>
                          <a:latin typeface="+mn-lt"/>
                          <a:ea typeface="+mn-ea"/>
                          <a:cs typeface="+mn-cs"/>
                        </a:rPr>
                        <a:t>0.747</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kern="1200" dirty="0">
                          <a:solidFill>
                            <a:schemeClr val="tx1"/>
                          </a:solidFill>
                          <a:effectLst/>
                          <a:latin typeface="+mn-lt"/>
                          <a:ea typeface="+mn-ea"/>
                          <a:cs typeface="+mn-cs"/>
                        </a:rPr>
                        <a:t>0.614</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kern="1200" dirty="0">
                          <a:solidFill>
                            <a:schemeClr val="tx1"/>
                          </a:solidFill>
                          <a:effectLst/>
                          <a:latin typeface="+mn-lt"/>
                          <a:ea typeface="+mn-ea"/>
                          <a:cs typeface="+mn-cs"/>
                        </a:rPr>
                        <a:t>0.615</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kern="1200" dirty="0">
                          <a:solidFill>
                            <a:schemeClr val="tx1"/>
                          </a:solidFill>
                          <a:effectLst/>
                          <a:latin typeface="+mn-lt"/>
                          <a:ea typeface="+mn-ea"/>
                          <a:cs typeface="+mn-cs"/>
                        </a:rPr>
                        <a:t>0.672</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kern="1200" dirty="0">
                          <a:solidFill>
                            <a:schemeClr val="tx1"/>
                          </a:solidFill>
                          <a:effectLst/>
                          <a:latin typeface="+mn-lt"/>
                          <a:ea typeface="+mn-ea"/>
                          <a:cs typeface="+mn-cs"/>
                        </a:rPr>
                        <a:t>0.668</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kern="1200" dirty="0">
                          <a:solidFill>
                            <a:schemeClr val="tx1"/>
                          </a:solidFill>
                          <a:effectLst/>
                          <a:latin typeface="+mn-lt"/>
                          <a:ea typeface="+mn-ea"/>
                          <a:cs typeface="+mn-cs"/>
                        </a:rPr>
                        <a:t>0.691</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0.678</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0.693</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9536229"/>
                  </a:ext>
                </a:extLst>
              </a:tr>
              <a:tr h="603938">
                <a:tc>
                  <a:txBody>
                    <a:bodyPr/>
                    <a:lstStyle/>
                    <a:p>
                      <a:r>
                        <a:rPr lang="en-US" altLang="zh-CN" sz="1400" dirty="0"/>
                        <a:t>Gene-level</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0.762</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0.643</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0.637</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0.733</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0.683</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0.668</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0.718</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0.736</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6484133"/>
                  </a:ext>
                </a:extLst>
              </a:tr>
            </a:tbl>
          </a:graphicData>
        </a:graphic>
      </p:graphicFrame>
      <p:sp>
        <p:nvSpPr>
          <p:cNvPr id="31" name="文本框 30">
            <a:extLst>
              <a:ext uri="{FF2B5EF4-FFF2-40B4-BE49-F238E27FC236}">
                <a16:creationId xmlns:a16="http://schemas.microsoft.com/office/drawing/2014/main" id="{847568D0-9FB1-12A3-400D-6ABFD19DFE15}"/>
              </a:ext>
            </a:extLst>
          </p:cNvPr>
          <p:cNvSpPr txBox="1"/>
          <p:nvPr/>
        </p:nvSpPr>
        <p:spPr>
          <a:xfrm>
            <a:off x="4794838" y="3747783"/>
            <a:ext cx="1063112" cy="336246"/>
          </a:xfrm>
          <a:prstGeom prst="rect">
            <a:avLst/>
          </a:prstGeom>
          <a:noFill/>
        </p:spPr>
        <p:txBody>
          <a:bodyPr wrap="none" rtlCol="0">
            <a:spAutoFit/>
          </a:bodyPr>
          <a:lstStyle/>
          <a:p>
            <a:r>
              <a:rPr kumimoji="1" lang="en-US" altLang="zh-CN" sz="1585" dirty="0">
                <a:solidFill>
                  <a:srgbClr val="C00000"/>
                </a:solidFill>
              </a:rPr>
              <a:t>Top-k</a:t>
            </a:r>
            <a:r>
              <a:rPr kumimoji="1" lang="zh-CN" altLang="en-US" sz="1585" dirty="0">
                <a:solidFill>
                  <a:srgbClr val="C00000"/>
                </a:solidFill>
              </a:rPr>
              <a:t> </a:t>
            </a:r>
            <a:r>
              <a:rPr kumimoji="1" lang="en-US" altLang="zh-CN" sz="1585" dirty="0">
                <a:solidFill>
                  <a:srgbClr val="C00000"/>
                </a:solidFill>
              </a:rPr>
              <a:t>acc</a:t>
            </a:r>
          </a:p>
        </p:txBody>
      </p:sp>
      <p:sp>
        <p:nvSpPr>
          <p:cNvPr id="8" name="文本框 7">
            <a:extLst>
              <a:ext uri="{FF2B5EF4-FFF2-40B4-BE49-F238E27FC236}">
                <a16:creationId xmlns:a16="http://schemas.microsoft.com/office/drawing/2014/main" id="{B6F44024-1C03-E785-B424-A723F2E2EE28}"/>
              </a:ext>
            </a:extLst>
          </p:cNvPr>
          <p:cNvSpPr txBox="1"/>
          <p:nvPr/>
        </p:nvSpPr>
        <p:spPr>
          <a:xfrm>
            <a:off x="359554" y="1190402"/>
            <a:ext cx="2135521" cy="305789"/>
          </a:xfrm>
          <a:prstGeom prst="rect">
            <a:avLst/>
          </a:prstGeom>
          <a:noFill/>
        </p:spPr>
        <p:txBody>
          <a:bodyPr wrap="none" rtlCol="0">
            <a:spAutoFit/>
          </a:bodyPr>
          <a:lstStyle/>
          <a:p>
            <a:r>
              <a:rPr kumimoji="1" lang="en-US" altLang="zh-CN" sz="1387" b="1" dirty="0"/>
              <a:t>Human</a:t>
            </a:r>
            <a:r>
              <a:rPr kumimoji="1" lang="zh-CN" altLang="en-US" sz="1387" b="1" dirty="0"/>
              <a:t> </a:t>
            </a:r>
            <a:r>
              <a:rPr kumimoji="1" lang="en-US" altLang="zh-CN" sz="1387" b="1" dirty="0"/>
              <a:t>Immune</a:t>
            </a:r>
            <a:r>
              <a:rPr kumimoji="1" lang="zh-CN" altLang="en-US" sz="1387" b="1" dirty="0"/>
              <a:t> </a:t>
            </a:r>
            <a:r>
              <a:rPr kumimoji="1" lang="en-US" altLang="zh-CN" sz="1387" b="1" dirty="0"/>
              <a:t>dataset</a:t>
            </a:r>
            <a:endParaRPr kumimoji="1" lang="zh-CN" altLang="en-US" sz="1387" b="1" dirty="0"/>
          </a:p>
        </p:txBody>
      </p:sp>
      <p:sp>
        <p:nvSpPr>
          <p:cNvPr id="14" name="object 13">
            <a:extLst>
              <a:ext uri="{FF2B5EF4-FFF2-40B4-BE49-F238E27FC236}">
                <a16:creationId xmlns:a16="http://schemas.microsoft.com/office/drawing/2014/main" id="{CCBDE0BA-E190-8EA5-7924-F4502B876DD6}"/>
              </a:ext>
            </a:extLst>
          </p:cNvPr>
          <p:cNvSpPr txBox="1">
            <a:spLocks/>
          </p:cNvSpPr>
          <p:nvPr/>
        </p:nvSpPr>
        <p:spPr>
          <a:xfrm>
            <a:off x="8872151" y="6671926"/>
            <a:ext cx="1149446" cy="141064"/>
          </a:xfrm>
          <a:prstGeom prst="rect">
            <a:avLst/>
          </a:prstGeom>
        </p:spPr>
        <p:txBody>
          <a:bodyPr vert="horz" wrap="square" lIns="0" tIns="0" rIns="0" bIns="0" rtlCol="0">
            <a:spAutoFit/>
          </a:bodyPr>
          <a:lstStyle>
            <a:defPPr>
              <a:defRPr kern="0"/>
            </a:defPPr>
            <a:lvl1pPr>
              <a:defRPr sz="500" b="0" i="0">
                <a:solidFill>
                  <a:schemeClr val="bg1"/>
                </a:solidFill>
                <a:latin typeface="Tahoma"/>
                <a:cs typeface="Tahoma"/>
              </a:defRPr>
            </a:lvl1pPr>
          </a:lstStyle>
          <a:p>
            <a:pPr marL="25164">
              <a:lnSpc>
                <a:spcPts val="1149"/>
              </a:lnSpc>
            </a:pPr>
            <a:r>
              <a:rPr lang="en-US" altLang="zh-CN" sz="991" dirty="0"/>
              <a:t>September</a:t>
            </a:r>
            <a:r>
              <a:rPr lang="en-US" sz="991" spc="-40" dirty="0"/>
              <a:t> </a:t>
            </a:r>
            <a:r>
              <a:rPr lang="en-US" altLang="zh-CN" sz="991" spc="-40" dirty="0"/>
              <a:t>18</a:t>
            </a:r>
            <a:r>
              <a:rPr lang="en-US" sz="991" dirty="0"/>
              <a:t>,</a:t>
            </a:r>
            <a:r>
              <a:rPr lang="en-US" sz="991" spc="-30" dirty="0"/>
              <a:t> </a:t>
            </a:r>
            <a:r>
              <a:rPr lang="en-US" sz="991" spc="-40" dirty="0"/>
              <a:t>202</a:t>
            </a:r>
            <a:r>
              <a:rPr lang="en-US" altLang="zh-CN" sz="991" spc="-40" dirty="0"/>
              <a:t>5</a:t>
            </a:r>
            <a:endParaRPr lang="en-US" sz="991" spc="-40" dirty="0"/>
          </a:p>
        </p:txBody>
      </p:sp>
      <p:pic>
        <p:nvPicPr>
          <p:cNvPr id="17" name="Picture 6">
            <a:extLst>
              <a:ext uri="{FF2B5EF4-FFF2-40B4-BE49-F238E27FC236}">
                <a16:creationId xmlns:a16="http://schemas.microsoft.com/office/drawing/2014/main" id="{CC06EED5-5D6F-6D4E-0C45-07FB2B7917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377" t="18815" r="66226" b="65210"/>
          <a:stretch/>
        </p:blipFill>
        <p:spPr bwMode="auto">
          <a:xfrm>
            <a:off x="9295377" y="991966"/>
            <a:ext cx="1176809" cy="960997"/>
          </a:xfrm>
          <a:prstGeom prst="rect">
            <a:avLst/>
          </a:prstGeom>
          <a:noFill/>
          <a:extLst>
            <a:ext uri="{909E8E84-426E-40DD-AFC4-6F175D3DCCD1}">
              <a14:hiddenFill xmlns:a14="http://schemas.microsoft.com/office/drawing/2010/main">
                <a:solidFill>
                  <a:srgbClr val="FFFFFF"/>
                </a:solidFill>
              </a14:hiddenFill>
            </a:ext>
          </a:extLst>
        </p:spPr>
      </p:pic>
      <p:sp>
        <p:nvSpPr>
          <p:cNvPr id="25" name="文本框 24">
            <a:extLst>
              <a:ext uri="{FF2B5EF4-FFF2-40B4-BE49-F238E27FC236}">
                <a16:creationId xmlns:a16="http://schemas.microsoft.com/office/drawing/2014/main" id="{89BBD6B4-6183-55BA-C947-183D800D3143}"/>
              </a:ext>
            </a:extLst>
          </p:cNvPr>
          <p:cNvSpPr txBox="1"/>
          <p:nvPr/>
        </p:nvSpPr>
        <p:spPr>
          <a:xfrm>
            <a:off x="9019125" y="2014323"/>
            <a:ext cx="1863011" cy="275332"/>
          </a:xfrm>
          <a:prstGeom prst="rect">
            <a:avLst/>
          </a:prstGeom>
          <a:noFill/>
        </p:spPr>
        <p:txBody>
          <a:bodyPr wrap="none" rtlCol="0">
            <a:spAutoFit/>
          </a:bodyPr>
          <a:lstStyle/>
          <a:p>
            <a:r>
              <a:rPr kumimoji="1" lang="en-US" altLang="zh-CN" sz="1189" dirty="0"/>
              <a:t>Generated</a:t>
            </a:r>
            <a:r>
              <a:rPr kumimoji="1" lang="zh-CN" altLang="en-US" sz="1189" dirty="0"/>
              <a:t> </a:t>
            </a:r>
            <a:r>
              <a:rPr kumimoji="1" lang="en-US" altLang="zh-CN" sz="1189" dirty="0"/>
              <a:t>cell</a:t>
            </a:r>
            <a:r>
              <a:rPr kumimoji="1" lang="zh-CN" altLang="en-US" sz="1189" dirty="0"/>
              <a:t> </a:t>
            </a:r>
            <a:r>
              <a:rPr kumimoji="1" lang="en-US" altLang="zh-CN" sz="1189" dirty="0"/>
              <a:t>expression</a:t>
            </a:r>
            <a:endParaRPr kumimoji="1" lang="zh-CN" altLang="en-US" sz="1189" dirty="0"/>
          </a:p>
        </p:txBody>
      </p:sp>
    </p:spTree>
    <p:extLst>
      <p:ext uri="{BB962C8B-B14F-4D97-AF65-F5344CB8AC3E}">
        <p14:creationId xmlns:p14="http://schemas.microsoft.com/office/powerpoint/2010/main" val="2044830301"/>
      </p:ext>
    </p:extLst>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07BA0-5371-AFB2-A261-21150D6578CF}"/>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3B5D9072-27F7-3CE5-8E83-C489D7E819F1}"/>
              </a:ext>
            </a:extLst>
          </p:cNvPr>
          <p:cNvPicPr>
            <a:picLocks noChangeAspect="1"/>
          </p:cNvPicPr>
          <p:nvPr/>
        </p:nvPicPr>
        <p:blipFill>
          <a:blip r:embed="rId3"/>
          <a:stretch>
            <a:fillRect/>
          </a:stretch>
        </p:blipFill>
        <p:spPr>
          <a:xfrm>
            <a:off x="151246" y="918952"/>
            <a:ext cx="4064002" cy="4181421"/>
          </a:xfrm>
          <a:prstGeom prst="rect">
            <a:avLst/>
          </a:prstGeom>
        </p:spPr>
      </p:pic>
      <p:sp>
        <p:nvSpPr>
          <p:cNvPr id="2" name="object 2">
            <a:extLst>
              <a:ext uri="{FF2B5EF4-FFF2-40B4-BE49-F238E27FC236}">
                <a16:creationId xmlns:a16="http://schemas.microsoft.com/office/drawing/2014/main" id="{484CF950-EFB8-CB45-5104-878B942D832B}"/>
              </a:ext>
            </a:extLst>
          </p:cNvPr>
          <p:cNvSpPr txBox="1"/>
          <p:nvPr/>
        </p:nvSpPr>
        <p:spPr>
          <a:xfrm>
            <a:off x="469489" y="124823"/>
            <a:ext cx="5324542" cy="461215"/>
          </a:xfrm>
          <a:prstGeom prst="rect">
            <a:avLst/>
          </a:prstGeom>
        </p:spPr>
        <p:txBody>
          <a:bodyPr vert="horz" wrap="square" lIns="0" tIns="33972" rIns="0" bIns="0" rtlCol="0">
            <a:spAutoFit/>
          </a:bodyPr>
          <a:lstStyle/>
          <a:p>
            <a:pPr marL="25164">
              <a:spcBef>
                <a:spcPts val="267"/>
              </a:spcBef>
            </a:pPr>
            <a:r>
              <a:rPr lang="en" sz="2774" spc="-20" dirty="0">
                <a:solidFill>
                  <a:srgbClr val="FFFFFF"/>
                </a:solidFill>
                <a:latin typeface="Gill Sans MT"/>
                <a:cs typeface="Gill Sans MT"/>
              </a:rPr>
              <a:t>Pseudo</a:t>
            </a:r>
            <a:r>
              <a:rPr lang="en-US" altLang="zh-CN" sz="2774" spc="-20" dirty="0">
                <a:solidFill>
                  <a:srgbClr val="FFFFFF"/>
                </a:solidFill>
                <a:latin typeface="Gill Sans MT"/>
                <a:cs typeface="Gill Sans MT"/>
              </a:rPr>
              <a:t>-Cell</a:t>
            </a:r>
            <a:r>
              <a:rPr lang="en" sz="2774" spc="-20" dirty="0">
                <a:solidFill>
                  <a:srgbClr val="FFFFFF"/>
                </a:solidFill>
                <a:latin typeface="Gill Sans MT"/>
                <a:cs typeface="Gill Sans MT"/>
              </a:rPr>
              <a:t> generation</a:t>
            </a:r>
          </a:p>
        </p:txBody>
      </p:sp>
      <p:grpSp>
        <p:nvGrpSpPr>
          <p:cNvPr id="3" name="object 3">
            <a:extLst>
              <a:ext uri="{FF2B5EF4-FFF2-40B4-BE49-F238E27FC236}">
                <a16:creationId xmlns:a16="http://schemas.microsoft.com/office/drawing/2014/main" id="{15A341C2-3F90-FF38-1C28-B0D9D42F2C8B}"/>
              </a:ext>
            </a:extLst>
          </p:cNvPr>
          <p:cNvGrpSpPr/>
          <p:nvPr/>
        </p:nvGrpSpPr>
        <p:grpSpPr>
          <a:xfrm>
            <a:off x="0" y="6667139"/>
            <a:ext cx="12192000" cy="181181"/>
            <a:chOff x="0" y="3364623"/>
            <a:chExt cx="4608195" cy="91440"/>
          </a:xfrm>
        </p:grpSpPr>
        <p:sp>
          <p:nvSpPr>
            <p:cNvPr id="4" name="object 4">
              <a:extLst>
                <a:ext uri="{FF2B5EF4-FFF2-40B4-BE49-F238E27FC236}">
                  <a16:creationId xmlns:a16="http://schemas.microsoft.com/office/drawing/2014/main" id="{B4D946CB-1F78-38DA-9613-C62DEA859345}"/>
                </a:ext>
              </a:extLst>
            </p:cNvPr>
            <p:cNvSpPr/>
            <p:nvPr/>
          </p:nvSpPr>
          <p:spPr>
            <a:xfrm>
              <a:off x="0" y="3364623"/>
              <a:ext cx="1536065" cy="91440"/>
            </a:xfrm>
            <a:custGeom>
              <a:avLst/>
              <a:gdLst/>
              <a:ahLst/>
              <a:cxnLst/>
              <a:rect l="l" t="t" r="r" b="b"/>
              <a:pathLst>
                <a:path w="1536065" h="91439">
                  <a:moveTo>
                    <a:pt x="1535976" y="0"/>
                  </a:moveTo>
                  <a:lnTo>
                    <a:pt x="0" y="0"/>
                  </a:lnTo>
                  <a:lnTo>
                    <a:pt x="0" y="91376"/>
                  </a:lnTo>
                  <a:lnTo>
                    <a:pt x="1535976" y="91376"/>
                  </a:lnTo>
                  <a:lnTo>
                    <a:pt x="1535976" y="0"/>
                  </a:lnTo>
                  <a:close/>
                </a:path>
              </a:pathLst>
            </a:custGeom>
            <a:solidFill>
              <a:srgbClr val="C7D1C5"/>
            </a:solidFill>
          </p:spPr>
          <p:txBody>
            <a:bodyPr wrap="square" lIns="0" tIns="0" rIns="0" bIns="0" rtlCol="0"/>
            <a:lstStyle/>
            <a:p>
              <a:endParaRPr sz="3567"/>
            </a:p>
          </p:txBody>
        </p:sp>
        <p:sp>
          <p:nvSpPr>
            <p:cNvPr id="5" name="object 5">
              <a:extLst>
                <a:ext uri="{FF2B5EF4-FFF2-40B4-BE49-F238E27FC236}">
                  <a16:creationId xmlns:a16="http://schemas.microsoft.com/office/drawing/2014/main" id="{E44F3721-132A-E160-8034-0CAD0BB5AC03}"/>
                </a:ext>
              </a:extLst>
            </p:cNvPr>
            <p:cNvSpPr/>
            <p:nvPr/>
          </p:nvSpPr>
          <p:spPr>
            <a:xfrm>
              <a:off x="1535976"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00A6AA"/>
            </a:solidFill>
          </p:spPr>
          <p:txBody>
            <a:bodyPr wrap="square" lIns="0" tIns="0" rIns="0" bIns="0" rtlCol="0"/>
            <a:lstStyle/>
            <a:p>
              <a:endParaRPr sz="3567"/>
            </a:p>
          </p:txBody>
        </p:sp>
        <p:sp>
          <p:nvSpPr>
            <p:cNvPr id="6" name="object 6">
              <a:extLst>
                <a:ext uri="{FF2B5EF4-FFF2-40B4-BE49-F238E27FC236}">
                  <a16:creationId xmlns:a16="http://schemas.microsoft.com/office/drawing/2014/main" id="{E6D2895D-DBC0-B46A-2A2D-EF2A82916AA8}"/>
                </a:ext>
              </a:extLst>
            </p:cNvPr>
            <p:cNvSpPr/>
            <p:nvPr/>
          </p:nvSpPr>
          <p:spPr>
            <a:xfrm>
              <a:off x="3071952"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4C4E52"/>
            </a:solidFill>
          </p:spPr>
          <p:txBody>
            <a:bodyPr wrap="square" lIns="0" tIns="0" rIns="0" bIns="0" rtlCol="0"/>
            <a:lstStyle/>
            <a:p>
              <a:endParaRPr sz="3567"/>
            </a:p>
          </p:txBody>
        </p:sp>
      </p:grpSp>
      <p:sp>
        <p:nvSpPr>
          <p:cNvPr id="7" name="object 7">
            <a:extLst>
              <a:ext uri="{FF2B5EF4-FFF2-40B4-BE49-F238E27FC236}">
                <a16:creationId xmlns:a16="http://schemas.microsoft.com/office/drawing/2014/main" id="{28F59483-5CD1-D6F2-B59A-19712F176D23}"/>
              </a:ext>
            </a:extLst>
          </p:cNvPr>
          <p:cNvSpPr txBox="1">
            <a:spLocks noGrp="1"/>
          </p:cNvSpPr>
          <p:nvPr>
            <p:ph type="ftr" sz="quarter" idx="5"/>
          </p:nvPr>
        </p:nvSpPr>
        <p:spPr>
          <a:xfrm>
            <a:off x="2774341" y="6677624"/>
            <a:ext cx="579372" cy="141064"/>
          </a:xfrm>
          <a:prstGeom prst="rect">
            <a:avLst/>
          </a:prstGeom>
        </p:spPr>
        <p:txBody>
          <a:bodyPr vert="horz" wrap="square" lIns="0" tIns="0" rIns="0" bIns="0" rtlCol="0" anchor="ctr">
            <a:spAutoFit/>
          </a:bodyPr>
          <a:lstStyle/>
          <a:p>
            <a:pPr marL="25164">
              <a:lnSpc>
                <a:spcPts val="1149"/>
              </a:lnSpc>
            </a:pPr>
            <a:r>
              <a:rPr lang="en-US" altLang="zh-CN" spc="-20" dirty="0"/>
              <a:t>Results</a:t>
            </a:r>
            <a:endParaRPr spc="-20" dirty="0"/>
          </a:p>
        </p:txBody>
      </p:sp>
      <p:sp>
        <p:nvSpPr>
          <p:cNvPr id="10" name="object 10">
            <a:extLst>
              <a:ext uri="{FF2B5EF4-FFF2-40B4-BE49-F238E27FC236}">
                <a16:creationId xmlns:a16="http://schemas.microsoft.com/office/drawing/2014/main" id="{08826419-791F-5875-5419-E51F4F902A96}"/>
              </a:ext>
            </a:extLst>
          </p:cNvPr>
          <p:cNvSpPr txBox="1">
            <a:spLocks noGrp="1"/>
          </p:cNvSpPr>
          <p:nvPr>
            <p:ph type="sldNum" sz="quarter" idx="7"/>
          </p:nvPr>
        </p:nvSpPr>
        <p:spPr>
          <a:xfrm>
            <a:off x="10255925" y="6677624"/>
            <a:ext cx="520595" cy="141064"/>
          </a:xfrm>
          <a:prstGeom prst="rect">
            <a:avLst/>
          </a:prstGeom>
        </p:spPr>
        <p:txBody>
          <a:bodyPr vert="horz" wrap="square" lIns="0" tIns="0" rIns="0" bIns="0" rtlCol="0" anchor="ctr">
            <a:spAutoFit/>
          </a:bodyPr>
          <a:lstStyle/>
          <a:p>
            <a:pPr marL="75483">
              <a:lnSpc>
                <a:spcPts val="1149"/>
              </a:lnSpc>
            </a:pPr>
            <a:fld id="{81D60167-4931-47E6-BA6A-407CBD079E47}" type="slidenum">
              <a:rPr dirty="0"/>
              <a:pPr marL="75483">
                <a:lnSpc>
                  <a:spcPts val="1149"/>
                </a:lnSpc>
              </a:pPr>
              <a:t>3</a:t>
            </a:fld>
            <a:r>
              <a:rPr spc="30" dirty="0"/>
              <a:t> </a:t>
            </a:r>
            <a:r>
              <a:rPr spc="139" dirty="0"/>
              <a:t>/</a:t>
            </a:r>
            <a:r>
              <a:rPr spc="30" dirty="0"/>
              <a:t> </a:t>
            </a:r>
            <a:r>
              <a:rPr lang="en-US" altLang="zh-CN" spc="-99" dirty="0"/>
              <a:t>31</a:t>
            </a:r>
            <a:endParaRPr spc="-99" dirty="0"/>
          </a:p>
        </p:txBody>
      </p:sp>
      <p:sp>
        <p:nvSpPr>
          <p:cNvPr id="22" name="object 8">
            <a:extLst>
              <a:ext uri="{FF2B5EF4-FFF2-40B4-BE49-F238E27FC236}">
                <a16:creationId xmlns:a16="http://schemas.microsoft.com/office/drawing/2014/main" id="{E9DDCC44-C910-B352-DA1F-D5F6564014EC}"/>
              </a:ext>
            </a:extLst>
          </p:cNvPr>
          <p:cNvSpPr txBox="1"/>
          <p:nvPr/>
        </p:nvSpPr>
        <p:spPr>
          <a:xfrm>
            <a:off x="5643047" y="6671927"/>
            <a:ext cx="826783" cy="141064"/>
          </a:xfrm>
          <a:prstGeom prst="rect">
            <a:avLst/>
          </a:prstGeom>
        </p:spPr>
        <p:txBody>
          <a:bodyPr vert="horz" wrap="square" lIns="0" tIns="0" rIns="0" bIns="0" rtlCol="0">
            <a:spAutoFit/>
          </a:bodyPr>
          <a:lstStyle/>
          <a:p>
            <a:pPr marL="25164">
              <a:lnSpc>
                <a:spcPts val="1149"/>
              </a:lnSpc>
            </a:pPr>
            <a:r>
              <a:rPr lang="en-US" altLang="zh-CN" sz="991" spc="-20" dirty="0">
                <a:solidFill>
                  <a:schemeClr val="tx2"/>
                </a:solidFill>
                <a:latin typeface="Tahoma"/>
                <a:cs typeface="Tahoma"/>
              </a:rPr>
              <a:t>SpeciesLLM</a:t>
            </a:r>
            <a:endParaRPr sz="991" dirty="0">
              <a:solidFill>
                <a:schemeClr val="tx2"/>
              </a:solidFill>
              <a:latin typeface="Tahoma"/>
              <a:cs typeface="Tahoma"/>
            </a:endParaRPr>
          </a:p>
        </p:txBody>
      </p:sp>
      <p:sp>
        <p:nvSpPr>
          <p:cNvPr id="23" name="矩形 22">
            <a:extLst>
              <a:ext uri="{FF2B5EF4-FFF2-40B4-BE49-F238E27FC236}">
                <a16:creationId xmlns:a16="http://schemas.microsoft.com/office/drawing/2014/main" id="{ED56E4E6-F0AD-8284-21E4-F120CAD95E9B}"/>
              </a:ext>
            </a:extLst>
          </p:cNvPr>
          <p:cNvSpPr/>
          <p:nvPr/>
        </p:nvSpPr>
        <p:spPr>
          <a:xfrm>
            <a:off x="7152892" y="6448693"/>
            <a:ext cx="4982489" cy="1811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3567"/>
          </a:p>
        </p:txBody>
      </p:sp>
      <p:sp>
        <p:nvSpPr>
          <p:cNvPr id="14" name="object 13">
            <a:extLst>
              <a:ext uri="{FF2B5EF4-FFF2-40B4-BE49-F238E27FC236}">
                <a16:creationId xmlns:a16="http://schemas.microsoft.com/office/drawing/2014/main" id="{7C2D59D2-3538-03CB-EFA9-47E216FB6847}"/>
              </a:ext>
            </a:extLst>
          </p:cNvPr>
          <p:cNvSpPr txBox="1">
            <a:spLocks/>
          </p:cNvSpPr>
          <p:nvPr/>
        </p:nvSpPr>
        <p:spPr>
          <a:xfrm>
            <a:off x="8872151" y="6671926"/>
            <a:ext cx="1149446" cy="141064"/>
          </a:xfrm>
          <a:prstGeom prst="rect">
            <a:avLst/>
          </a:prstGeom>
        </p:spPr>
        <p:txBody>
          <a:bodyPr vert="horz" wrap="square" lIns="0" tIns="0" rIns="0" bIns="0" rtlCol="0">
            <a:spAutoFit/>
          </a:bodyPr>
          <a:lstStyle>
            <a:defPPr>
              <a:defRPr kern="0"/>
            </a:defPPr>
            <a:lvl1pPr>
              <a:defRPr sz="500" b="0" i="0">
                <a:solidFill>
                  <a:schemeClr val="bg1"/>
                </a:solidFill>
                <a:latin typeface="Tahoma"/>
                <a:cs typeface="Tahoma"/>
              </a:defRPr>
            </a:lvl1pPr>
          </a:lstStyle>
          <a:p>
            <a:pPr marL="25164">
              <a:lnSpc>
                <a:spcPts val="1149"/>
              </a:lnSpc>
            </a:pPr>
            <a:r>
              <a:rPr lang="en-US" altLang="zh-CN" sz="991" dirty="0"/>
              <a:t>September</a:t>
            </a:r>
            <a:r>
              <a:rPr lang="en-US" sz="991" spc="-40" dirty="0"/>
              <a:t> </a:t>
            </a:r>
            <a:r>
              <a:rPr lang="en-US" altLang="zh-CN" sz="991" spc="-40" dirty="0"/>
              <a:t>18</a:t>
            </a:r>
            <a:r>
              <a:rPr lang="en-US" sz="991" dirty="0"/>
              <a:t>,</a:t>
            </a:r>
            <a:r>
              <a:rPr lang="en-US" sz="991" spc="-30" dirty="0"/>
              <a:t> </a:t>
            </a:r>
            <a:r>
              <a:rPr lang="en-US" sz="991" spc="-40" dirty="0"/>
              <a:t>202</a:t>
            </a:r>
            <a:r>
              <a:rPr lang="en-US" altLang="zh-CN" sz="991" spc="-40" dirty="0"/>
              <a:t>5</a:t>
            </a:r>
            <a:endParaRPr lang="en-US" sz="991" spc="-40" dirty="0"/>
          </a:p>
        </p:txBody>
      </p:sp>
      <p:sp>
        <p:nvSpPr>
          <p:cNvPr id="11" name="文本框 10">
            <a:extLst>
              <a:ext uri="{FF2B5EF4-FFF2-40B4-BE49-F238E27FC236}">
                <a16:creationId xmlns:a16="http://schemas.microsoft.com/office/drawing/2014/main" id="{A2DA0860-FF14-F609-A3E6-18085992F13A}"/>
              </a:ext>
            </a:extLst>
          </p:cNvPr>
          <p:cNvSpPr txBox="1"/>
          <p:nvPr/>
        </p:nvSpPr>
        <p:spPr>
          <a:xfrm>
            <a:off x="2512844" y="3943967"/>
            <a:ext cx="1191352" cy="732701"/>
          </a:xfrm>
          <a:prstGeom prst="rect">
            <a:avLst/>
          </a:prstGeom>
          <a:noFill/>
        </p:spPr>
        <p:txBody>
          <a:bodyPr wrap="none" rtlCol="0">
            <a:spAutoFit/>
          </a:bodyPr>
          <a:lstStyle/>
          <a:p>
            <a:r>
              <a:rPr kumimoji="1" lang="en-US" altLang="zh-CN" sz="1387" dirty="0"/>
              <a:t>PCC=0.929</a:t>
            </a:r>
          </a:p>
          <a:p>
            <a:r>
              <a:rPr kumimoji="1" lang="en-US" altLang="zh-CN" sz="1387" dirty="0"/>
              <a:t>SPCC=0.944</a:t>
            </a:r>
          </a:p>
          <a:p>
            <a:r>
              <a:rPr kumimoji="1" lang="en-US" altLang="zh-CN" sz="1387" dirty="0"/>
              <a:t>MMD= 0.139</a:t>
            </a:r>
            <a:endParaRPr kumimoji="1" lang="zh-CN" altLang="en-US" sz="1387" dirty="0"/>
          </a:p>
        </p:txBody>
      </p:sp>
      <p:pic>
        <p:nvPicPr>
          <p:cNvPr id="9" name="图片 8">
            <a:extLst>
              <a:ext uri="{FF2B5EF4-FFF2-40B4-BE49-F238E27FC236}">
                <a16:creationId xmlns:a16="http://schemas.microsoft.com/office/drawing/2014/main" id="{500C9692-B7FA-15F1-A9CA-4265DC1AD4E0}"/>
              </a:ext>
            </a:extLst>
          </p:cNvPr>
          <p:cNvPicPr>
            <a:picLocks noChangeAspect="1"/>
          </p:cNvPicPr>
          <p:nvPr/>
        </p:nvPicPr>
        <p:blipFill>
          <a:blip r:embed="rId4"/>
          <a:srcRect t="4649" r="39977"/>
          <a:stretch>
            <a:fillRect/>
          </a:stretch>
        </p:blipFill>
        <p:spPr>
          <a:xfrm>
            <a:off x="6329120" y="1245954"/>
            <a:ext cx="2438030" cy="2203029"/>
          </a:xfrm>
          <a:prstGeom prst="rect">
            <a:avLst/>
          </a:prstGeom>
        </p:spPr>
      </p:pic>
      <p:pic>
        <p:nvPicPr>
          <p:cNvPr id="12" name="图片 11">
            <a:extLst>
              <a:ext uri="{FF2B5EF4-FFF2-40B4-BE49-F238E27FC236}">
                <a16:creationId xmlns:a16="http://schemas.microsoft.com/office/drawing/2014/main" id="{780686D8-5C60-071C-A29B-C606825A3EFB}"/>
              </a:ext>
            </a:extLst>
          </p:cNvPr>
          <p:cNvPicPr>
            <a:picLocks noChangeAspect="1"/>
          </p:cNvPicPr>
          <p:nvPr/>
        </p:nvPicPr>
        <p:blipFill>
          <a:blip r:embed="rId5"/>
          <a:srcRect t="4345"/>
          <a:stretch>
            <a:fillRect/>
          </a:stretch>
        </p:blipFill>
        <p:spPr>
          <a:xfrm>
            <a:off x="4215248" y="1162726"/>
            <a:ext cx="2431705" cy="2203029"/>
          </a:xfrm>
          <a:prstGeom prst="rect">
            <a:avLst/>
          </a:prstGeom>
        </p:spPr>
      </p:pic>
      <p:pic>
        <p:nvPicPr>
          <p:cNvPr id="15" name="图片 14">
            <a:extLst>
              <a:ext uri="{FF2B5EF4-FFF2-40B4-BE49-F238E27FC236}">
                <a16:creationId xmlns:a16="http://schemas.microsoft.com/office/drawing/2014/main" id="{E26988BD-5263-2ABA-A5CD-11C486D7544A}"/>
              </a:ext>
            </a:extLst>
          </p:cNvPr>
          <p:cNvPicPr>
            <a:picLocks noChangeAspect="1"/>
          </p:cNvPicPr>
          <p:nvPr/>
        </p:nvPicPr>
        <p:blipFill>
          <a:blip r:embed="rId6"/>
          <a:srcRect l="60585" t="4664" r="95" b="28585"/>
          <a:stretch>
            <a:fillRect/>
          </a:stretch>
        </p:blipFill>
        <p:spPr>
          <a:xfrm>
            <a:off x="8767150" y="918952"/>
            <a:ext cx="2811685" cy="2715072"/>
          </a:xfrm>
          <a:prstGeom prst="rect">
            <a:avLst/>
          </a:prstGeom>
        </p:spPr>
      </p:pic>
      <p:pic>
        <p:nvPicPr>
          <p:cNvPr id="17" name="图片 16">
            <a:extLst>
              <a:ext uri="{FF2B5EF4-FFF2-40B4-BE49-F238E27FC236}">
                <a16:creationId xmlns:a16="http://schemas.microsoft.com/office/drawing/2014/main" id="{B616629B-A72F-C01C-68AB-84F6982D48FE}"/>
              </a:ext>
            </a:extLst>
          </p:cNvPr>
          <p:cNvPicPr>
            <a:picLocks noChangeAspect="1"/>
          </p:cNvPicPr>
          <p:nvPr/>
        </p:nvPicPr>
        <p:blipFill>
          <a:blip r:embed="rId7"/>
          <a:stretch>
            <a:fillRect/>
          </a:stretch>
        </p:blipFill>
        <p:spPr>
          <a:xfrm>
            <a:off x="5739839" y="3532212"/>
            <a:ext cx="5658611" cy="3139714"/>
          </a:xfrm>
          <a:prstGeom prst="rect">
            <a:avLst/>
          </a:prstGeom>
        </p:spPr>
      </p:pic>
    </p:spTree>
    <p:extLst>
      <p:ext uri="{BB962C8B-B14F-4D97-AF65-F5344CB8AC3E}">
        <p14:creationId xmlns:p14="http://schemas.microsoft.com/office/powerpoint/2010/main" val="1768705945"/>
      </p:ext>
    </p:extLst>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CA55C-140E-E6DE-6396-2BE9F1E8154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E702747-ECDA-AD25-1DB3-32935F2569CA}"/>
              </a:ext>
            </a:extLst>
          </p:cNvPr>
          <p:cNvSpPr txBox="1"/>
          <p:nvPr/>
        </p:nvSpPr>
        <p:spPr>
          <a:xfrm>
            <a:off x="469489" y="124823"/>
            <a:ext cx="5324542" cy="461215"/>
          </a:xfrm>
          <a:prstGeom prst="rect">
            <a:avLst/>
          </a:prstGeom>
        </p:spPr>
        <p:txBody>
          <a:bodyPr vert="horz" wrap="square" lIns="0" tIns="33972" rIns="0" bIns="0" rtlCol="0">
            <a:spAutoFit/>
          </a:bodyPr>
          <a:lstStyle/>
          <a:p>
            <a:pPr marL="25164">
              <a:spcBef>
                <a:spcPts val="267"/>
              </a:spcBef>
            </a:pPr>
            <a:r>
              <a:rPr lang="en" sz="2774" spc="-20" dirty="0">
                <a:solidFill>
                  <a:srgbClr val="FFFFFF"/>
                </a:solidFill>
                <a:latin typeface="Gill Sans MT"/>
                <a:cs typeface="Gill Sans MT"/>
              </a:rPr>
              <a:t>Pseudo</a:t>
            </a:r>
            <a:r>
              <a:rPr lang="en-US" altLang="zh-CN" sz="2774" spc="-20" dirty="0">
                <a:solidFill>
                  <a:srgbClr val="FFFFFF"/>
                </a:solidFill>
                <a:latin typeface="Gill Sans MT"/>
                <a:cs typeface="Gill Sans MT"/>
              </a:rPr>
              <a:t>-Cell</a:t>
            </a:r>
            <a:r>
              <a:rPr lang="en" sz="2774" spc="-20" dirty="0">
                <a:solidFill>
                  <a:srgbClr val="FFFFFF"/>
                </a:solidFill>
                <a:latin typeface="Gill Sans MT"/>
                <a:cs typeface="Gill Sans MT"/>
              </a:rPr>
              <a:t> generation</a:t>
            </a:r>
          </a:p>
        </p:txBody>
      </p:sp>
      <p:grpSp>
        <p:nvGrpSpPr>
          <p:cNvPr id="3" name="object 3">
            <a:extLst>
              <a:ext uri="{FF2B5EF4-FFF2-40B4-BE49-F238E27FC236}">
                <a16:creationId xmlns:a16="http://schemas.microsoft.com/office/drawing/2014/main" id="{28D25983-D2E4-B956-375D-752E0167A14F}"/>
              </a:ext>
            </a:extLst>
          </p:cNvPr>
          <p:cNvGrpSpPr/>
          <p:nvPr/>
        </p:nvGrpSpPr>
        <p:grpSpPr>
          <a:xfrm>
            <a:off x="0" y="6667139"/>
            <a:ext cx="12192000" cy="181181"/>
            <a:chOff x="0" y="3364623"/>
            <a:chExt cx="4608195" cy="91440"/>
          </a:xfrm>
        </p:grpSpPr>
        <p:sp>
          <p:nvSpPr>
            <p:cNvPr id="4" name="object 4">
              <a:extLst>
                <a:ext uri="{FF2B5EF4-FFF2-40B4-BE49-F238E27FC236}">
                  <a16:creationId xmlns:a16="http://schemas.microsoft.com/office/drawing/2014/main" id="{2007B428-DD90-F9EB-9FDE-8AC4765BFF68}"/>
                </a:ext>
              </a:extLst>
            </p:cNvPr>
            <p:cNvSpPr/>
            <p:nvPr/>
          </p:nvSpPr>
          <p:spPr>
            <a:xfrm>
              <a:off x="0" y="3364623"/>
              <a:ext cx="1536065" cy="91440"/>
            </a:xfrm>
            <a:custGeom>
              <a:avLst/>
              <a:gdLst/>
              <a:ahLst/>
              <a:cxnLst/>
              <a:rect l="l" t="t" r="r" b="b"/>
              <a:pathLst>
                <a:path w="1536065" h="91439">
                  <a:moveTo>
                    <a:pt x="1535976" y="0"/>
                  </a:moveTo>
                  <a:lnTo>
                    <a:pt x="0" y="0"/>
                  </a:lnTo>
                  <a:lnTo>
                    <a:pt x="0" y="91376"/>
                  </a:lnTo>
                  <a:lnTo>
                    <a:pt x="1535976" y="91376"/>
                  </a:lnTo>
                  <a:lnTo>
                    <a:pt x="1535976" y="0"/>
                  </a:lnTo>
                  <a:close/>
                </a:path>
              </a:pathLst>
            </a:custGeom>
            <a:solidFill>
              <a:srgbClr val="C7D1C5"/>
            </a:solidFill>
          </p:spPr>
          <p:txBody>
            <a:bodyPr wrap="square" lIns="0" tIns="0" rIns="0" bIns="0" rtlCol="0"/>
            <a:lstStyle/>
            <a:p>
              <a:endParaRPr sz="3567"/>
            </a:p>
          </p:txBody>
        </p:sp>
        <p:sp>
          <p:nvSpPr>
            <p:cNvPr id="5" name="object 5">
              <a:extLst>
                <a:ext uri="{FF2B5EF4-FFF2-40B4-BE49-F238E27FC236}">
                  <a16:creationId xmlns:a16="http://schemas.microsoft.com/office/drawing/2014/main" id="{4CFDF5A5-32B3-5131-0656-5188777A853C}"/>
                </a:ext>
              </a:extLst>
            </p:cNvPr>
            <p:cNvSpPr/>
            <p:nvPr/>
          </p:nvSpPr>
          <p:spPr>
            <a:xfrm>
              <a:off x="1535976"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00A6AA"/>
            </a:solidFill>
          </p:spPr>
          <p:txBody>
            <a:bodyPr wrap="square" lIns="0" tIns="0" rIns="0" bIns="0" rtlCol="0"/>
            <a:lstStyle/>
            <a:p>
              <a:endParaRPr sz="3567"/>
            </a:p>
          </p:txBody>
        </p:sp>
        <p:sp>
          <p:nvSpPr>
            <p:cNvPr id="6" name="object 6">
              <a:extLst>
                <a:ext uri="{FF2B5EF4-FFF2-40B4-BE49-F238E27FC236}">
                  <a16:creationId xmlns:a16="http://schemas.microsoft.com/office/drawing/2014/main" id="{F19FFA4F-C36E-1B4B-045E-AC6FFE1D999A}"/>
                </a:ext>
              </a:extLst>
            </p:cNvPr>
            <p:cNvSpPr/>
            <p:nvPr/>
          </p:nvSpPr>
          <p:spPr>
            <a:xfrm>
              <a:off x="3071952"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4C4E52"/>
            </a:solidFill>
          </p:spPr>
          <p:txBody>
            <a:bodyPr wrap="square" lIns="0" tIns="0" rIns="0" bIns="0" rtlCol="0"/>
            <a:lstStyle/>
            <a:p>
              <a:endParaRPr sz="3567"/>
            </a:p>
          </p:txBody>
        </p:sp>
      </p:grpSp>
      <p:sp>
        <p:nvSpPr>
          <p:cNvPr id="7" name="object 7">
            <a:extLst>
              <a:ext uri="{FF2B5EF4-FFF2-40B4-BE49-F238E27FC236}">
                <a16:creationId xmlns:a16="http://schemas.microsoft.com/office/drawing/2014/main" id="{37C63E14-C9D4-D252-72B2-2E533595808F}"/>
              </a:ext>
            </a:extLst>
          </p:cNvPr>
          <p:cNvSpPr txBox="1">
            <a:spLocks noGrp="1"/>
          </p:cNvSpPr>
          <p:nvPr>
            <p:ph type="ftr" sz="quarter" idx="5"/>
          </p:nvPr>
        </p:nvSpPr>
        <p:spPr>
          <a:xfrm>
            <a:off x="2774341" y="6677624"/>
            <a:ext cx="579372" cy="141064"/>
          </a:xfrm>
          <a:prstGeom prst="rect">
            <a:avLst/>
          </a:prstGeom>
        </p:spPr>
        <p:txBody>
          <a:bodyPr vert="horz" wrap="square" lIns="0" tIns="0" rIns="0" bIns="0" rtlCol="0" anchor="ctr">
            <a:spAutoFit/>
          </a:bodyPr>
          <a:lstStyle/>
          <a:p>
            <a:pPr marL="25164">
              <a:lnSpc>
                <a:spcPts val="1149"/>
              </a:lnSpc>
            </a:pPr>
            <a:r>
              <a:rPr lang="en-US" altLang="zh-CN" spc="-20" dirty="0"/>
              <a:t>Results</a:t>
            </a:r>
            <a:endParaRPr spc="-20" dirty="0"/>
          </a:p>
        </p:txBody>
      </p:sp>
      <p:sp>
        <p:nvSpPr>
          <p:cNvPr id="10" name="object 10">
            <a:extLst>
              <a:ext uri="{FF2B5EF4-FFF2-40B4-BE49-F238E27FC236}">
                <a16:creationId xmlns:a16="http://schemas.microsoft.com/office/drawing/2014/main" id="{BDE1C4A8-171A-2985-1CDA-952E37DA1D8F}"/>
              </a:ext>
            </a:extLst>
          </p:cNvPr>
          <p:cNvSpPr txBox="1">
            <a:spLocks noGrp="1"/>
          </p:cNvSpPr>
          <p:nvPr>
            <p:ph type="sldNum" sz="quarter" idx="7"/>
          </p:nvPr>
        </p:nvSpPr>
        <p:spPr>
          <a:xfrm>
            <a:off x="10255925" y="6677624"/>
            <a:ext cx="520595" cy="141064"/>
          </a:xfrm>
          <a:prstGeom prst="rect">
            <a:avLst/>
          </a:prstGeom>
        </p:spPr>
        <p:txBody>
          <a:bodyPr vert="horz" wrap="square" lIns="0" tIns="0" rIns="0" bIns="0" rtlCol="0" anchor="ctr">
            <a:spAutoFit/>
          </a:bodyPr>
          <a:lstStyle/>
          <a:p>
            <a:pPr marL="75483">
              <a:lnSpc>
                <a:spcPts val="1149"/>
              </a:lnSpc>
            </a:pPr>
            <a:fld id="{81D60167-4931-47E6-BA6A-407CBD079E47}" type="slidenum">
              <a:rPr dirty="0"/>
              <a:pPr marL="75483">
                <a:lnSpc>
                  <a:spcPts val="1149"/>
                </a:lnSpc>
              </a:pPr>
              <a:t>4</a:t>
            </a:fld>
            <a:r>
              <a:rPr spc="30" dirty="0"/>
              <a:t> </a:t>
            </a:r>
            <a:r>
              <a:rPr spc="139" dirty="0"/>
              <a:t>/</a:t>
            </a:r>
            <a:r>
              <a:rPr spc="30" dirty="0"/>
              <a:t> </a:t>
            </a:r>
            <a:r>
              <a:rPr lang="en-US" altLang="zh-CN" spc="-99" dirty="0"/>
              <a:t>31</a:t>
            </a:r>
            <a:endParaRPr spc="-99" dirty="0"/>
          </a:p>
        </p:txBody>
      </p:sp>
      <p:sp>
        <p:nvSpPr>
          <p:cNvPr id="13" name="文本框 12">
            <a:extLst>
              <a:ext uri="{FF2B5EF4-FFF2-40B4-BE49-F238E27FC236}">
                <a16:creationId xmlns:a16="http://schemas.microsoft.com/office/drawing/2014/main" id="{7AF0FBAD-C435-1B5B-CE8E-AE564E508AEA}"/>
              </a:ext>
            </a:extLst>
          </p:cNvPr>
          <p:cNvSpPr txBox="1"/>
          <p:nvPr/>
        </p:nvSpPr>
        <p:spPr>
          <a:xfrm>
            <a:off x="359553" y="727697"/>
            <a:ext cx="3623628" cy="397160"/>
          </a:xfrm>
          <a:prstGeom prst="rect">
            <a:avLst/>
          </a:prstGeom>
          <a:noFill/>
        </p:spPr>
        <p:txBody>
          <a:bodyPr wrap="square" rtlCol="0">
            <a:spAutoFit/>
          </a:bodyPr>
          <a:lstStyle/>
          <a:p>
            <a:r>
              <a:rPr kumimoji="1" lang="en-US" altLang="zh-CN" sz="1981" b="1" dirty="0">
                <a:solidFill>
                  <a:schemeClr val="accent2"/>
                </a:solidFill>
              </a:rPr>
              <a:t>Evaluation</a:t>
            </a:r>
            <a:endParaRPr kumimoji="1" lang="en" altLang="zh-CN" sz="1981" b="1" dirty="0">
              <a:solidFill>
                <a:schemeClr val="accent2"/>
              </a:solidFill>
            </a:endParaRPr>
          </a:p>
        </p:txBody>
      </p:sp>
      <p:sp>
        <p:nvSpPr>
          <p:cNvPr id="22" name="object 8">
            <a:extLst>
              <a:ext uri="{FF2B5EF4-FFF2-40B4-BE49-F238E27FC236}">
                <a16:creationId xmlns:a16="http://schemas.microsoft.com/office/drawing/2014/main" id="{35C98C40-AAEE-DE14-90F7-02EE097AA7C0}"/>
              </a:ext>
            </a:extLst>
          </p:cNvPr>
          <p:cNvSpPr txBox="1"/>
          <p:nvPr/>
        </p:nvSpPr>
        <p:spPr>
          <a:xfrm>
            <a:off x="5643047" y="6671927"/>
            <a:ext cx="826783" cy="141064"/>
          </a:xfrm>
          <a:prstGeom prst="rect">
            <a:avLst/>
          </a:prstGeom>
        </p:spPr>
        <p:txBody>
          <a:bodyPr vert="horz" wrap="square" lIns="0" tIns="0" rIns="0" bIns="0" rtlCol="0">
            <a:spAutoFit/>
          </a:bodyPr>
          <a:lstStyle/>
          <a:p>
            <a:pPr marL="25164">
              <a:lnSpc>
                <a:spcPts val="1149"/>
              </a:lnSpc>
            </a:pPr>
            <a:r>
              <a:rPr lang="en-US" altLang="zh-CN" sz="991" spc="-20" dirty="0">
                <a:solidFill>
                  <a:schemeClr val="tx2"/>
                </a:solidFill>
                <a:latin typeface="Tahoma"/>
                <a:cs typeface="Tahoma"/>
              </a:rPr>
              <a:t>SpeciesLLM</a:t>
            </a:r>
            <a:endParaRPr sz="991" dirty="0">
              <a:solidFill>
                <a:schemeClr val="tx2"/>
              </a:solidFill>
              <a:latin typeface="Tahoma"/>
              <a:cs typeface="Tahoma"/>
            </a:endParaRPr>
          </a:p>
        </p:txBody>
      </p:sp>
      <p:sp>
        <p:nvSpPr>
          <p:cNvPr id="23" name="矩形 22">
            <a:extLst>
              <a:ext uri="{FF2B5EF4-FFF2-40B4-BE49-F238E27FC236}">
                <a16:creationId xmlns:a16="http://schemas.microsoft.com/office/drawing/2014/main" id="{543076D6-B86A-5570-A7B6-22F6380B88DE}"/>
              </a:ext>
            </a:extLst>
          </p:cNvPr>
          <p:cNvSpPr/>
          <p:nvPr/>
        </p:nvSpPr>
        <p:spPr>
          <a:xfrm>
            <a:off x="7152892" y="6448693"/>
            <a:ext cx="4982489" cy="1811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3567"/>
          </a:p>
        </p:txBody>
      </p:sp>
      <p:pic>
        <p:nvPicPr>
          <p:cNvPr id="20" name="图片 19">
            <a:extLst>
              <a:ext uri="{FF2B5EF4-FFF2-40B4-BE49-F238E27FC236}">
                <a16:creationId xmlns:a16="http://schemas.microsoft.com/office/drawing/2014/main" id="{41AE9466-84DD-487E-607D-77844335C797}"/>
              </a:ext>
            </a:extLst>
          </p:cNvPr>
          <p:cNvPicPr>
            <a:picLocks noChangeAspect="1"/>
          </p:cNvPicPr>
          <p:nvPr/>
        </p:nvPicPr>
        <p:blipFill>
          <a:blip r:embed="rId3"/>
          <a:stretch>
            <a:fillRect/>
          </a:stretch>
        </p:blipFill>
        <p:spPr>
          <a:xfrm>
            <a:off x="3792987" y="1382245"/>
            <a:ext cx="3209820" cy="592583"/>
          </a:xfrm>
          <a:prstGeom prst="rect">
            <a:avLst/>
          </a:prstGeom>
        </p:spPr>
      </p:pic>
      <p:cxnSp>
        <p:nvCxnSpPr>
          <p:cNvPr id="24" name="直线箭头连接符 23">
            <a:extLst>
              <a:ext uri="{FF2B5EF4-FFF2-40B4-BE49-F238E27FC236}">
                <a16:creationId xmlns:a16="http://schemas.microsoft.com/office/drawing/2014/main" id="{19F9A2DE-E0C7-2656-818C-A5ED2D6DCD92}"/>
              </a:ext>
            </a:extLst>
          </p:cNvPr>
          <p:cNvCxnSpPr>
            <a:cxnSpLocks/>
          </p:cNvCxnSpPr>
          <p:nvPr/>
        </p:nvCxnSpPr>
        <p:spPr>
          <a:xfrm flipH="1">
            <a:off x="7152892" y="1685606"/>
            <a:ext cx="1373773" cy="0"/>
          </a:xfrm>
          <a:prstGeom prst="straightConnector1">
            <a:avLst/>
          </a:prstGeom>
          <a:ln>
            <a:solidFill>
              <a:srgbClr val="4B506C"/>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938F2D75-705A-95D1-863B-91CD45A4271C}"/>
              </a:ext>
            </a:extLst>
          </p:cNvPr>
          <p:cNvSpPr txBox="1"/>
          <p:nvPr/>
        </p:nvSpPr>
        <p:spPr>
          <a:xfrm>
            <a:off x="296643" y="1687626"/>
            <a:ext cx="10541010" cy="2867260"/>
          </a:xfrm>
          <a:prstGeom prst="rect">
            <a:avLst/>
          </a:prstGeom>
          <a:noFill/>
        </p:spPr>
        <p:txBody>
          <a:bodyPr wrap="square" rtlCol="0">
            <a:spAutoFit/>
          </a:bodyPr>
          <a:lstStyle/>
          <a:p>
            <a:r>
              <a:rPr kumimoji="1" lang="en-US" altLang="zh-CN" sz="1387" dirty="0">
                <a:solidFill>
                  <a:srgbClr val="C00000"/>
                </a:solidFill>
              </a:rPr>
              <a:t>Training</a:t>
            </a:r>
            <a:r>
              <a:rPr kumimoji="1" lang="zh-CN" altLang="en-US" sz="1387" dirty="0">
                <a:solidFill>
                  <a:srgbClr val="C00000"/>
                </a:solidFill>
              </a:rPr>
              <a:t> </a:t>
            </a:r>
            <a:r>
              <a:rPr kumimoji="1" lang="en-US" altLang="zh-CN" sz="1387" dirty="0">
                <a:solidFill>
                  <a:srgbClr val="C00000"/>
                </a:solidFill>
              </a:rPr>
              <a:t>setting</a:t>
            </a:r>
          </a:p>
          <a:p>
            <a:r>
              <a:rPr kumimoji="1" lang="en-US" altLang="zh-CN" sz="1387" dirty="0"/>
              <a:t>1. Integrating</a:t>
            </a:r>
            <a:r>
              <a:rPr kumimoji="1" lang="zh-CN" altLang="en-US" sz="1387" dirty="0"/>
              <a:t> </a:t>
            </a:r>
            <a:r>
              <a:rPr kumimoji="1" lang="en-US" altLang="zh-CN" sz="1387" dirty="0"/>
              <a:t>all</a:t>
            </a:r>
            <a:r>
              <a:rPr kumimoji="1" lang="zh-CN" altLang="en-US" sz="1387" dirty="0"/>
              <a:t> </a:t>
            </a:r>
            <a:r>
              <a:rPr kumimoji="1" lang="en-US" altLang="zh-CN" sz="1387" dirty="0"/>
              <a:t>(35)</a:t>
            </a:r>
            <a:r>
              <a:rPr kumimoji="1" lang="zh-CN" altLang="en-US" sz="1387" dirty="0"/>
              <a:t> </a:t>
            </a:r>
            <a:r>
              <a:rPr kumimoji="1" lang="en-US" altLang="zh-CN" sz="1387" dirty="0"/>
              <a:t>cell</a:t>
            </a:r>
            <a:r>
              <a:rPr kumimoji="1" lang="zh-CN" altLang="en-US" sz="1387" dirty="0"/>
              <a:t> </a:t>
            </a:r>
            <a:r>
              <a:rPr kumimoji="1" lang="en-US" altLang="zh-CN" sz="1387" dirty="0"/>
              <a:t>types</a:t>
            </a:r>
            <a:r>
              <a:rPr kumimoji="1" lang="zh-CN" altLang="en-US" sz="1387" dirty="0"/>
              <a:t> </a:t>
            </a:r>
            <a:r>
              <a:rPr kumimoji="1" lang="en-US" altLang="zh-CN" sz="1387" dirty="0"/>
              <a:t>exclude</a:t>
            </a:r>
            <a:r>
              <a:rPr kumimoji="1" lang="zh-CN" altLang="en-US" sz="1387" dirty="0"/>
              <a:t> </a:t>
            </a:r>
            <a:r>
              <a:rPr kumimoji="1" lang="en-US" altLang="zh-CN" sz="1387" dirty="0"/>
              <a:t>“unknown</a:t>
            </a:r>
            <a:r>
              <a:rPr kumimoji="1" lang="zh-CN" altLang="en-US" sz="1387" dirty="0"/>
              <a:t> </a:t>
            </a:r>
            <a:r>
              <a:rPr kumimoji="1" lang="en-US" altLang="zh-CN" sz="1387" dirty="0"/>
              <a:t>cell”</a:t>
            </a:r>
            <a:r>
              <a:rPr kumimoji="1" lang="zh-CN" altLang="en-US" sz="1387" dirty="0"/>
              <a:t> </a:t>
            </a:r>
            <a:r>
              <a:rPr kumimoji="1" lang="en-US" altLang="zh-CN" sz="1387" dirty="0"/>
              <a:t>to</a:t>
            </a:r>
            <a:r>
              <a:rPr kumimoji="1" lang="zh-CN" altLang="en-US" sz="1387" dirty="0"/>
              <a:t> </a:t>
            </a:r>
            <a:r>
              <a:rPr kumimoji="1" lang="en-US" altLang="zh-CN" sz="1387" dirty="0"/>
              <a:t>pretrain</a:t>
            </a:r>
            <a:r>
              <a:rPr kumimoji="1" lang="zh-CN" altLang="en-US" sz="1387" dirty="0"/>
              <a:t> </a:t>
            </a:r>
            <a:r>
              <a:rPr kumimoji="1" lang="en-US" altLang="zh-CN" sz="1387" dirty="0"/>
              <a:t>model.</a:t>
            </a:r>
          </a:p>
          <a:p>
            <a:r>
              <a:rPr kumimoji="1" lang="en-US" altLang="zh-CN" sz="1387" dirty="0"/>
              <a:t>2. Train-valid</a:t>
            </a:r>
            <a:r>
              <a:rPr kumimoji="1" lang="zh-CN" altLang="en-US" sz="1387" dirty="0"/>
              <a:t> </a:t>
            </a:r>
            <a:r>
              <a:rPr kumimoji="1" lang="en-US" altLang="zh-CN" sz="1387" dirty="0"/>
              <a:t>split:</a:t>
            </a:r>
            <a:r>
              <a:rPr kumimoji="1" lang="zh-CN" altLang="en-US" sz="1387" dirty="0"/>
              <a:t> </a:t>
            </a:r>
            <a:r>
              <a:rPr kumimoji="1" lang="en-US" altLang="zh-CN" sz="1387" dirty="0"/>
              <a:t>8:1:1,</a:t>
            </a:r>
            <a:r>
              <a:rPr kumimoji="1" lang="zh-CN" altLang="en-US" sz="1387" dirty="0"/>
              <a:t> </a:t>
            </a:r>
            <a:r>
              <a:rPr kumimoji="1" lang="en-US" altLang="zh-CN" sz="1387" dirty="0"/>
              <a:t>test</a:t>
            </a:r>
            <a:r>
              <a:rPr kumimoji="1" lang="zh-CN" altLang="en-US" sz="1387" dirty="0"/>
              <a:t> </a:t>
            </a:r>
            <a:r>
              <a:rPr kumimoji="1" lang="en-US" altLang="zh-CN" sz="1387" dirty="0"/>
              <a:t>samples:</a:t>
            </a:r>
            <a:r>
              <a:rPr kumimoji="1" lang="zh-CN" altLang="en-US" sz="1387" dirty="0"/>
              <a:t> </a:t>
            </a:r>
            <a:r>
              <a:rPr kumimoji="1" lang="en-US" altLang="zh-CN" sz="1387" dirty="0"/>
              <a:t>2700</a:t>
            </a:r>
          </a:p>
          <a:p>
            <a:r>
              <a:rPr kumimoji="1" lang="en-US" altLang="zh-CN" sz="1387" dirty="0"/>
              <a:t>Gene</a:t>
            </a:r>
            <a:r>
              <a:rPr kumimoji="1" lang="zh-CN" altLang="en-US" sz="1387" dirty="0"/>
              <a:t> </a:t>
            </a:r>
            <a:r>
              <a:rPr kumimoji="1" lang="en-US" altLang="zh-CN" sz="1387" dirty="0"/>
              <a:t>level</a:t>
            </a:r>
          </a:p>
          <a:p>
            <a:endParaRPr kumimoji="1" lang="en-US" altLang="zh-CN" sz="1387" dirty="0"/>
          </a:p>
          <a:p>
            <a:endParaRPr kumimoji="1" lang="en-US" altLang="zh-CN" sz="1387" dirty="0"/>
          </a:p>
          <a:p>
            <a:r>
              <a:rPr kumimoji="1" lang="en-US" altLang="zh-CN" sz="1387" dirty="0">
                <a:solidFill>
                  <a:srgbClr val="C00000"/>
                </a:solidFill>
              </a:rPr>
              <a:t>Evaluation</a:t>
            </a:r>
            <a:r>
              <a:rPr kumimoji="1" lang="zh-CN" altLang="en-US" sz="1387" dirty="0">
                <a:solidFill>
                  <a:srgbClr val="C00000"/>
                </a:solidFill>
              </a:rPr>
              <a:t> </a:t>
            </a:r>
            <a:r>
              <a:rPr kumimoji="1" lang="en-US" altLang="zh-CN" sz="1387" dirty="0">
                <a:solidFill>
                  <a:srgbClr val="C00000"/>
                </a:solidFill>
              </a:rPr>
              <a:t>metrics</a:t>
            </a:r>
          </a:p>
          <a:p>
            <a:pPr marL="339711" indent="-339711">
              <a:buFont typeface="Arial" panose="020B0604020202020204" pitchFamily="34" charset="0"/>
              <a:buChar char="•"/>
            </a:pPr>
            <a:r>
              <a:rPr lang="en-US" altLang="zh-CN" sz="1387" b="1" dirty="0"/>
              <a:t>PCC</a:t>
            </a:r>
            <a:r>
              <a:rPr lang="en" altLang="zh-CN" sz="1387" b="1" dirty="0"/>
              <a:t> </a:t>
            </a:r>
            <a:r>
              <a:rPr lang="en-US" altLang="zh-CN" sz="1387" dirty="0"/>
              <a:t>SPCC</a:t>
            </a:r>
            <a:r>
              <a:rPr lang="zh-CN" altLang="en-US" sz="1387" dirty="0"/>
              <a:t> </a:t>
            </a:r>
            <a:r>
              <a:rPr lang="en-US" altLang="zh-CN" sz="1387" dirty="0"/>
              <a:t>MMD</a:t>
            </a:r>
            <a:endParaRPr lang="en" altLang="zh-CN" sz="1387" dirty="0"/>
          </a:p>
          <a:p>
            <a:pPr marL="339711" indent="-339711">
              <a:buFont typeface="Arial" panose="020B0604020202020204" pitchFamily="34" charset="0"/>
              <a:buChar char="•"/>
            </a:pPr>
            <a:r>
              <a:rPr lang="en-US" altLang="zh-CN" sz="1387" b="1" dirty="0"/>
              <a:t>KNN</a:t>
            </a:r>
            <a:r>
              <a:rPr lang="zh-CN" altLang="en-US" sz="1387" b="1" dirty="0"/>
              <a:t> </a:t>
            </a:r>
            <a:r>
              <a:rPr lang="en-US" altLang="zh-CN" sz="1387" b="1" dirty="0" err="1"/>
              <a:t>topk</a:t>
            </a:r>
            <a:r>
              <a:rPr lang="zh-CN" altLang="en-US" sz="1387" b="1" dirty="0"/>
              <a:t> </a:t>
            </a:r>
            <a:r>
              <a:rPr lang="en-US" altLang="zh-CN" sz="1387" b="1" dirty="0"/>
              <a:t>acc</a:t>
            </a:r>
            <a:r>
              <a:rPr lang="en" altLang="zh-CN" sz="1387" b="1" dirty="0"/>
              <a:t> </a:t>
            </a:r>
            <a:r>
              <a:rPr lang="en-US" altLang="zh-CN" sz="1387" b="1" dirty="0"/>
              <a:t>(k=1,3,5,7,10,15,25,35,45)</a:t>
            </a:r>
            <a:endParaRPr lang="en" altLang="zh-CN" sz="1387" b="1" dirty="0"/>
          </a:p>
          <a:p>
            <a:pPr marL="339711" indent="-339711">
              <a:buFont typeface="Arial" panose="020B0604020202020204" pitchFamily="34" charset="0"/>
              <a:buChar char="•"/>
            </a:pPr>
            <a:r>
              <a:rPr lang="en-US" altLang="zh-CN" sz="1387" dirty="0" err="1"/>
              <a:t>pKNN</a:t>
            </a:r>
            <a:r>
              <a:rPr lang="en-US" altLang="zh-CN" sz="1387" dirty="0"/>
              <a:t>,</a:t>
            </a:r>
            <a:r>
              <a:rPr lang="zh-CN" altLang="en-US" sz="1387" dirty="0"/>
              <a:t> </a:t>
            </a:r>
            <a:r>
              <a:rPr lang="en-US" altLang="zh-CN" sz="1387" dirty="0"/>
              <a:t>delta</a:t>
            </a:r>
            <a:r>
              <a:rPr lang="zh-CN" altLang="en-US" sz="1387" dirty="0"/>
              <a:t> </a:t>
            </a:r>
            <a:r>
              <a:rPr lang="en-US" altLang="zh-CN" sz="1387" dirty="0" err="1"/>
              <a:t>sKNN</a:t>
            </a:r>
            <a:endParaRPr lang="en" altLang="zh-CN" sz="1387" dirty="0"/>
          </a:p>
          <a:p>
            <a:pPr marL="339711" indent="-339711">
              <a:buFont typeface="Arial" panose="020B0604020202020204" pitchFamily="34" charset="0"/>
              <a:buChar char="•"/>
            </a:pPr>
            <a:r>
              <a:rPr lang="en-US" altLang="zh-CN" sz="1387" b="1" dirty="0"/>
              <a:t>UMAP</a:t>
            </a:r>
            <a:r>
              <a:rPr lang="en" altLang="zh-CN" sz="1387" b="1" dirty="0"/>
              <a:t> </a:t>
            </a:r>
            <a:r>
              <a:rPr lang="en" altLang="zh-CN" sz="1387" dirty="0"/>
              <a:t>(</a:t>
            </a:r>
            <a:r>
              <a:rPr lang="en-US" altLang="zh-CN" sz="1387" dirty="0" err="1"/>
              <a:t>generted</a:t>
            </a:r>
            <a:r>
              <a:rPr lang="zh-CN" altLang="en-US" sz="1387" dirty="0"/>
              <a:t> </a:t>
            </a:r>
            <a:r>
              <a:rPr lang="en-US" altLang="zh-CN" sz="1387" dirty="0"/>
              <a:t>vs.</a:t>
            </a:r>
            <a:r>
              <a:rPr lang="zh-CN" altLang="en-US" sz="1387" dirty="0"/>
              <a:t> </a:t>
            </a:r>
            <a:r>
              <a:rPr lang="en-US" altLang="zh-CN" sz="1387" dirty="0"/>
              <a:t>true;</a:t>
            </a:r>
            <a:r>
              <a:rPr lang="zh-CN" altLang="en-US" sz="1387" dirty="0"/>
              <a:t> </a:t>
            </a:r>
            <a:r>
              <a:rPr lang="en-US" altLang="zh-CN" sz="1387" dirty="0"/>
              <a:t>Cell-type</a:t>
            </a:r>
            <a:r>
              <a:rPr lang="en" altLang="zh-CN" sz="1387" dirty="0"/>
              <a:t>)</a:t>
            </a:r>
          </a:p>
          <a:p>
            <a:pPr marL="339711" indent="-339711">
              <a:buFont typeface="Arial" panose="020B0604020202020204" pitchFamily="34" charset="0"/>
              <a:buChar char="•"/>
            </a:pPr>
            <a:r>
              <a:rPr lang="en-US" altLang="zh-CN" sz="1387" b="1" dirty="0"/>
              <a:t>Scatter</a:t>
            </a:r>
            <a:r>
              <a:rPr lang="zh-CN" altLang="en-US" sz="1387" b="1" dirty="0"/>
              <a:t> </a:t>
            </a:r>
            <a:r>
              <a:rPr lang="en-US" altLang="zh-CN" sz="1387" b="1" dirty="0"/>
              <a:t>plot</a:t>
            </a:r>
          </a:p>
          <a:p>
            <a:endParaRPr kumimoji="1" lang="en-US" altLang="zh-CN" sz="1387" dirty="0"/>
          </a:p>
        </p:txBody>
      </p:sp>
      <p:sp>
        <p:nvSpPr>
          <p:cNvPr id="28" name="文本框 27">
            <a:extLst>
              <a:ext uri="{FF2B5EF4-FFF2-40B4-BE49-F238E27FC236}">
                <a16:creationId xmlns:a16="http://schemas.microsoft.com/office/drawing/2014/main" id="{FE46281E-3FA5-2F69-C20F-D07BFD9AAEB3}"/>
              </a:ext>
            </a:extLst>
          </p:cNvPr>
          <p:cNvSpPr txBox="1"/>
          <p:nvPr/>
        </p:nvSpPr>
        <p:spPr>
          <a:xfrm>
            <a:off x="4503470" y="947928"/>
            <a:ext cx="1547218" cy="275332"/>
          </a:xfrm>
          <a:prstGeom prst="rect">
            <a:avLst/>
          </a:prstGeom>
          <a:noFill/>
        </p:spPr>
        <p:txBody>
          <a:bodyPr wrap="none" rtlCol="0">
            <a:spAutoFit/>
          </a:bodyPr>
          <a:lstStyle/>
          <a:p>
            <a:r>
              <a:rPr kumimoji="1" lang="en-US" altLang="zh-CN" sz="1189" dirty="0"/>
              <a:t>Cell</a:t>
            </a:r>
            <a:r>
              <a:rPr kumimoji="1" lang="zh-CN" altLang="en-US" sz="1189" dirty="0"/>
              <a:t> </a:t>
            </a:r>
            <a:r>
              <a:rPr kumimoji="1" lang="en-US" altLang="zh-CN" sz="1189" dirty="0"/>
              <a:t>state</a:t>
            </a:r>
            <a:r>
              <a:rPr kumimoji="1" lang="zh-CN" altLang="en-US" sz="1189" dirty="0"/>
              <a:t> </a:t>
            </a:r>
            <a:r>
              <a:rPr kumimoji="1" lang="en-US" altLang="zh-CN" sz="1189" dirty="0"/>
              <a:t>description</a:t>
            </a:r>
            <a:endParaRPr kumimoji="1" lang="zh-CN" altLang="en-US" sz="1189" dirty="0"/>
          </a:p>
        </p:txBody>
      </p:sp>
      <p:graphicFrame>
        <p:nvGraphicFramePr>
          <p:cNvPr id="29" name="表格 28">
            <a:extLst>
              <a:ext uri="{FF2B5EF4-FFF2-40B4-BE49-F238E27FC236}">
                <a16:creationId xmlns:a16="http://schemas.microsoft.com/office/drawing/2014/main" id="{FA717816-F25D-BB28-5300-A4443AD83B6B}"/>
              </a:ext>
            </a:extLst>
          </p:cNvPr>
          <p:cNvGraphicFramePr>
            <a:graphicFrameLocks noGrp="1"/>
          </p:cNvGraphicFramePr>
          <p:nvPr/>
        </p:nvGraphicFramePr>
        <p:xfrm>
          <a:off x="359553" y="4606011"/>
          <a:ext cx="10416968" cy="1854186"/>
        </p:xfrm>
        <a:graphic>
          <a:graphicData uri="http://schemas.openxmlformats.org/drawingml/2006/table">
            <a:tbl>
              <a:tblPr firstRow="1" bandRow="1">
                <a:tableStyleId>{69012ECD-51FC-41F1-AA8D-1B2483CD663E}</a:tableStyleId>
              </a:tblPr>
              <a:tblGrid>
                <a:gridCol w="1206911">
                  <a:extLst>
                    <a:ext uri="{9D8B030D-6E8A-4147-A177-3AD203B41FA5}">
                      <a16:colId xmlns:a16="http://schemas.microsoft.com/office/drawing/2014/main" val="3915004950"/>
                    </a:ext>
                  </a:extLst>
                </a:gridCol>
                <a:gridCol w="724294">
                  <a:extLst>
                    <a:ext uri="{9D8B030D-6E8A-4147-A177-3AD203B41FA5}">
                      <a16:colId xmlns:a16="http://schemas.microsoft.com/office/drawing/2014/main" val="1777966304"/>
                    </a:ext>
                  </a:extLst>
                </a:gridCol>
                <a:gridCol w="912057">
                  <a:extLst>
                    <a:ext uri="{9D8B030D-6E8A-4147-A177-3AD203B41FA5}">
                      <a16:colId xmlns:a16="http://schemas.microsoft.com/office/drawing/2014/main" val="340557981"/>
                    </a:ext>
                  </a:extLst>
                </a:gridCol>
                <a:gridCol w="1173623">
                  <a:extLst>
                    <a:ext uri="{9D8B030D-6E8A-4147-A177-3AD203B41FA5}">
                      <a16:colId xmlns:a16="http://schemas.microsoft.com/office/drawing/2014/main" val="1670763628"/>
                    </a:ext>
                  </a:extLst>
                </a:gridCol>
                <a:gridCol w="1222979">
                  <a:extLst>
                    <a:ext uri="{9D8B030D-6E8A-4147-A177-3AD203B41FA5}">
                      <a16:colId xmlns:a16="http://schemas.microsoft.com/office/drawing/2014/main" val="3312160408"/>
                    </a:ext>
                  </a:extLst>
                </a:gridCol>
                <a:gridCol w="1201042">
                  <a:extLst>
                    <a:ext uri="{9D8B030D-6E8A-4147-A177-3AD203B41FA5}">
                      <a16:colId xmlns:a16="http://schemas.microsoft.com/office/drawing/2014/main" val="3455810413"/>
                    </a:ext>
                  </a:extLst>
                </a:gridCol>
                <a:gridCol w="1146204">
                  <a:extLst>
                    <a:ext uri="{9D8B030D-6E8A-4147-A177-3AD203B41FA5}">
                      <a16:colId xmlns:a16="http://schemas.microsoft.com/office/drawing/2014/main" val="4252643672"/>
                    </a:ext>
                  </a:extLst>
                </a:gridCol>
                <a:gridCol w="1470995">
                  <a:extLst>
                    <a:ext uri="{9D8B030D-6E8A-4147-A177-3AD203B41FA5}">
                      <a16:colId xmlns:a16="http://schemas.microsoft.com/office/drawing/2014/main" val="2275369558"/>
                    </a:ext>
                  </a:extLst>
                </a:gridCol>
                <a:gridCol w="1358863">
                  <a:extLst>
                    <a:ext uri="{9D8B030D-6E8A-4147-A177-3AD203B41FA5}">
                      <a16:colId xmlns:a16="http://schemas.microsoft.com/office/drawing/2014/main" val="234896105"/>
                    </a:ext>
                  </a:extLst>
                </a:gridCol>
              </a:tblGrid>
              <a:tr h="634135">
                <a:tc>
                  <a:txBody>
                    <a:bodyPr/>
                    <a:lstStyle/>
                    <a:p>
                      <a:r>
                        <a:rPr lang="en-US" altLang="zh-CN" sz="1400" dirty="0">
                          <a:solidFill>
                            <a:schemeClr val="tx1"/>
                          </a:solidFill>
                        </a:rPr>
                        <a:t>K</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dirty="0">
                          <a:solidFill>
                            <a:schemeClr val="tx1"/>
                          </a:solidFill>
                        </a:rPr>
                        <a:t>1</a:t>
                      </a:r>
                    </a:p>
                    <a:p>
                      <a:pPr algn="ct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dirty="0">
                          <a:solidFill>
                            <a:schemeClr val="tx1"/>
                          </a:solidFill>
                        </a:rPr>
                        <a:t>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dirty="0">
                          <a:solidFill>
                            <a:schemeClr val="tx1"/>
                          </a:solidFill>
                        </a:rPr>
                        <a:t>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dirty="0">
                          <a:solidFill>
                            <a:schemeClr val="tx1"/>
                          </a:solidFill>
                        </a:rPr>
                        <a:t>10</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dirty="0">
                          <a:solidFill>
                            <a:schemeClr val="tx1"/>
                          </a:solidFill>
                        </a:rPr>
                        <a:t>15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r>
                        <a:rPr lang="en-US" altLang="zh-CN" sz="1400" dirty="0">
                          <a:solidFill>
                            <a:schemeClr val="tx1"/>
                          </a:solidFill>
                        </a:rPr>
                        <a:t>25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35</a:t>
                      </a:r>
                      <a:endParaRPr lang="en" altLang="zh-CN" sz="140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45(</a:t>
                      </a:r>
                      <a:r>
                        <a:rPr lang="zh-CN" altLang="en-US" sz="1600" dirty="0">
                          <a:solidFill>
                            <a:schemeClr val="tx1"/>
                          </a:solidFill>
                        </a:rPr>
                        <a:t>↑</a:t>
                      </a:r>
                      <a:r>
                        <a:rPr lang="en-US" altLang="zh-CN" sz="1400" dirty="0">
                          <a:solidFill>
                            <a:schemeClr val="tx1"/>
                          </a:solidFill>
                        </a:rPr>
                        <a:t>)</a:t>
                      </a:r>
                      <a:endParaRPr lang="zh-CN" altLang="en-US" sz="140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solidFill>
                          <a:schemeClr val="tx1"/>
                        </a:solidFill>
                      </a:endParaRPr>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5B4C4"/>
                    </a:solidFill>
                  </a:tcPr>
                </a:tc>
                <a:extLst>
                  <a:ext uri="{0D108BD9-81ED-4DB2-BD59-A6C34878D82A}">
                    <a16:rowId xmlns:a16="http://schemas.microsoft.com/office/drawing/2014/main" val="3822584591"/>
                  </a:ext>
                </a:extLst>
              </a:tr>
              <a:tr h="603938">
                <a:tc>
                  <a:txBody>
                    <a:bodyPr/>
                    <a:lstStyle/>
                    <a:p>
                      <a:r>
                        <a:rPr lang="en-US" altLang="zh-CN" sz="1400" dirty="0" err="1"/>
                        <a:t>Speciesformer</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kern="1200" dirty="0">
                          <a:solidFill>
                            <a:schemeClr val="tx1"/>
                          </a:solidFill>
                          <a:effectLst/>
                          <a:latin typeface="+mn-lt"/>
                          <a:ea typeface="+mn-ea"/>
                          <a:cs typeface="+mn-cs"/>
                        </a:rPr>
                        <a:t>0.76</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kern="1200" dirty="0">
                          <a:solidFill>
                            <a:schemeClr val="tx1"/>
                          </a:solidFill>
                          <a:effectLst/>
                          <a:latin typeface="+mn-lt"/>
                          <a:ea typeface="+mn-ea"/>
                          <a:cs typeface="+mn-cs"/>
                        </a:rPr>
                        <a:t>0.651</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kern="1200" dirty="0">
                          <a:solidFill>
                            <a:schemeClr val="tx1"/>
                          </a:solidFill>
                          <a:effectLst/>
                          <a:latin typeface="+mn-lt"/>
                          <a:ea typeface="+mn-ea"/>
                          <a:cs typeface="+mn-cs"/>
                        </a:rPr>
                        <a:t>0.653</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kern="1200" dirty="0">
                          <a:solidFill>
                            <a:schemeClr val="tx1"/>
                          </a:solidFill>
                          <a:effectLst/>
                          <a:latin typeface="+mn-lt"/>
                          <a:ea typeface="+mn-ea"/>
                          <a:cs typeface="+mn-cs"/>
                        </a:rPr>
                        <a:t>0.764</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kern="1200" dirty="0">
                          <a:solidFill>
                            <a:schemeClr val="tx1"/>
                          </a:solidFill>
                          <a:effectLst/>
                          <a:latin typeface="+mn-lt"/>
                          <a:ea typeface="+mn-ea"/>
                          <a:cs typeface="+mn-cs"/>
                        </a:rPr>
                        <a:t>0.716</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kern="1200" dirty="0">
                          <a:solidFill>
                            <a:schemeClr val="tx1"/>
                          </a:solidFill>
                          <a:effectLst/>
                          <a:latin typeface="+mn-lt"/>
                          <a:ea typeface="+mn-ea"/>
                          <a:cs typeface="+mn-cs"/>
                        </a:rPr>
                        <a:t>0.71</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0.755</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0.776</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9536229"/>
                  </a:ext>
                </a:extLst>
              </a:tr>
              <a:tr h="603938">
                <a:tc>
                  <a:txBody>
                    <a:bodyPr/>
                    <a:lstStyle/>
                    <a:p>
                      <a:r>
                        <a:rPr lang="en-US" altLang="zh-CN" sz="1400" dirty="0" err="1"/>
                        <a:t>InstructCell</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0.37</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0.376</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0.392</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0.39</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0.392</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0.391</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0.393</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0.388</a:t>
                      </a:r>
                      <a:endParaRPr lang="zh-CN" altLang="en-US" sz="1400" dirty="0"/>
                    </a:p>
                  </a:txBody>
                  <a:tcPr marL="181181" marR="181181" marT="90591" marB="90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1935281"/>
                  </a:ext>
                </a:extLst>
              </a:tr>
            </a:tbl>
          </a:graphicData>
        </a:graphic>
      </p:graphicFrame>
      <p:sp>
        <p:nvSpPr>
          <p:cNvPr id="31" name="文本框 30">
            <a:extLst>
              <a:ext uri="{FF2B5EF4-FFF2-40B4-BE49-F238E27FC236}">
                <a16:creationId xmlns:a16="http://schemas.microsoft.com/office/drawing/2014/main" id="{5B1A6D54-085B-A0FF-4164-CAEB9EF0B081}"/>
              </a:ext>
            </a:extLst>
          </p:cNvPr>
          <p:cNvSpPr txBox="1"/>
          <p:nvPr/>
        </p:nvSpPr>
        <p:spPr>
          <a:xfrm>
            <a:off x="4750403" y="4153028"/>
            <a:ext cx="1063112" cy="336246"/>
          </a:xfrm>
          <a:prstGeom prst="rect">
            <a:avLst/>
          </a:prstGeom>
          <a:noFill/>
        </p:spPr>
        <p:txBody>
          <a:bodyPr wrap="none" rtlCol="0">
            <a:spAutoFit/>
          </a:bodyPr>
          <a:lstStyle/>
          <a:p>
            <a:r>
              <a:rPr kumimoji="1" lang="en-US" altLang="zh-CN" sz="1585" dirty="0">
                <a:solidFill>
                  <a:srgbClr val="C00000"/>
                </a:solidFill>
              </a:rPr>
              <a:t>Top-k</a:t>
            </a:r>
            <a:r>
              <a:rPr kumimoji="1" lang="zh-CN" altLang="en-US" sz="1585" dirty="0">
                <a:solidFill>
                  <a:srgbClr val="C00000"/>
                </a:solidFill>
              </a:rPr>
              <a:t> </a:t>
            </a:r>
            <a:r>
              <a:rPr kumimoji="1" lang="en-US" altLang="zh-CN" sz="1585" dirty="0">
                <a:solidFill>
                  <a:srgbClr val="C00000"/>
                </a:solidFill>
              </a:rPr>
              <a:t>acc</a:t>
            </a:r>
          </a:p>
        </p:txBody>
      </p:sp>
      <p:sp>
        <p:nvSpPr>
          <p:cNvPr id="8" name="文本框 7">
            <a:extLst>
              <a:ext uri="{FF2B5EF4-FFF2-40B4-BE49-F238E27FC236}">
                <a16:creationId xmlns:a16="http://schemas.microsoft.com/office/drawing/2014/main" id="{A584E0AF-DCDE-6B6D-8A43-CD900BF694CB}"/>
              </a:ext>
            </a:extLst>
          </p:cNvPr>
          <p:cNvSpPr txBox="1"/>
          <p:nvPr/>
        </p:nvSpPr>
        <p:spPr>
          <a:xfrm>
            <a:off x="359554" y="1190402"/>
            <a:ext cx="2135521" cy="305789"/>
          </a:xfrm>
          <a:prstGeom prst="rect">
            <a:avLst/>
          </a:prstGeom>
          <a:noFill/>
        </p:spPr>
        <p:txBody>
          <a:bodyPr wrap="none" rtlCol="0">
            <a:spAutoFit/>
          </a:bodyPr>
          <a:lstStyle/>
          <a:p>
            <a:r>
              <a:rPr kumimoji="1" lang="en-US" altLang="zh-CN" sz="1387" b="1" dirty="0"/>
              <a:t>Human</a:t>
            </a:r>
            <a:r>
              <a:rPr kumimoji="1" lang="zh-CN" altLang="en-US" sz="1387" b="1" dirty="0"/>
              <a:t> </a:t>
            </a:r>
            <a:r>
              <a:rPr kumimoji="1" lang="en-US" altLang="zh-CN" sz="1387" b="1" dirty="0"/>
              <a:t>Immune</a:t>
            </a:r>
            <a:r>
              <a:rPr kumimoji="1" lang="zh-CN" altLang="en-US" sz="1387" b="1" dirty="0"/>
              <a:t> </a:t>
            </a:r>
            <a:r>
              <a:rPr kumimoji="1" lang="en-US" altLang="zh-CN" sz="1387" b="1" dirty="0"/>
              <a:t>dataset</a:t>
            </a:r>
            <a:endParaRPr kumimoji="1" lang="zh-CN" altLang="en-US" sz="1387" b="1" dirty="0"/>
          </a:p>
        </p:txBody>
      </p:sp>
      <p:sp>
        <p:nvSpPr>
          <p:cNvPr id="14" name="object 13">
            <a:extLst>
              <a:ext uri="{FF2B5EF4-FFF2-40B4-BE49-F238E27FC236}">
                <a16:creationId xmlns:a16="http://schemas.microsoft.com/office/drawing/2014/main" id="{66B92A5A-C502-4359-5CB9-9BA45AE26435}"/>
              </a:ext>
            </a:extLst>
          </p:cNvPr>
          <p:cNvSpPr txBox="1">
            <a:spLocks/>
          </p:cNvSpPr>
          <p:nvPr/>
        </p:nvSpPr>
        <p:spPr>
          <a:xfrm>
            <a:off x="8872151" y="6671926"/>
            <a:ext cx="1149446" cy="141064"/>
          </a:xfrm>
          <a:prstGeom prst="rect">
            <a:avLst/>
          </a:prstGeom>
        </p:spPr>
        <p:txBody>
          <a:bodyPr vert="horz" wrap="square" lIns="0" tIns="0" rIns="0" bIns="0" rtlCol="0">
            <a:spAutoFit/>
          </a:bodyPr>
          <a:lstStyle>
            <a:defPPr>
              <a:defRPr kern="0"/>
            </a:defPPr>
            <a:lvl1pPr>
              <a:defRPr sz="500" b="0" i="0">
                <a:solidFill>
                  <a:schemeClr val="bg1"/>
                </a:solidFill>
                <a:latin typeface="Tahoma"/>
                <a:cs typeface="Tahoma"/>
              </a:defRPr>
            </a:lvl1pPr>
          </a:lstStyle>
          <a:p>
            <a:pPr marL="25164">
              <a:lnSpc>
                <a:spcPts val="1149"/>
              </a:lnSpc>
            </a:pPr>
            <a:r>
              <a:rPr lang="en-US" altLang="zh-CN" sz="991" dirty="0"/>
              <a:t>September</a:t>
            </a:r>
            <a:r>
              <a:rPr lang="en-US" sz="991" spc="-40" dirty="0"/>
              <a:t> </a:t>
            </a:r>
            <a:r>
              <a:rPr lang="en-US" altLang="zh-CN" sz="991" spc="-40" dirty="0"/>
              <a:t>18</a:t>
            </a:r>
            <a:r>
              <a:rPr lang="en-US" sz="991" dirty="0"/>
              <a:t>,</a:t>
            </a:r>
            <a:r>
              <a:rPr lang="en-US" sz="991" spc="-30" dirty="0"/>
              <a:t> </a:t>
            </a:r>
            <a:r>
              <a:rPr lang="en-US" sz="991" spc="-40" dirty="0"/>
              <a:t>202</a:t>
            </a:r>
            <a:r>
              <a:rPr lang="en-US" altLang="zh-CN" sz="991" spc="-40" dirty="0"/>
              <a:t>5</a:t>
            </a:r>
            <a:endParaRPr lang="en-US" sz="991" spc="-40" dirty="0"/>
          </a:p>
        </p:txBody>
      </p:sp>
      <p:pic>
        <p:nvPicPr>
          <p:cNvPr id="17" name="Picture 6">
            <a:extLst>
              <a:ext uri="{FF2B5EF4-FFF2-40B4-BE49-F238E27FC236}">
                <a16:creationId xmlns:a16="http://schemas.microsoft.com/office/drawing/2014/main" id="{EBE1B7B6-66F7-08DE-9B49-4DAA4E7D062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377" t="18815" r="66226" b="65210"/>
          <a:stretch/>
        </p:blipFill>
        <p:spPr bwMode="auto">
          <a:xfrm>
            <a:off x="9295377" y="991966"/>
            <a:ext cx="1176809" cy="960997"/>
          </a:xfrm>
          <a:prstGeom prst="rect">
            <a:avLst/>
          </a:prstGeom>
          <a:noFill/>
          <a:extLst>
            <a:ext uri="{909E8E84-426E-40DD-AFC4-6F175D3DCCD1}">
              <a14:hiddenFill xmlns:a14="http://schemas.microsoft.com/office/drawing/2010/main">
                <a:solidFill>
                  <a:srgbClr val="FFFFFF"/>
                </a:solidFill>
              </a14:hiddenFill>
            </a:ext>
          </a:extLst>
        </p:spPr>
      </p:pic>
      <p:sp>
        <p:nvSpPr>
          <p:cNvPr id="25" name="文本框 24">
            <a:extLst>
              <a:ext uri="{FF2B5EF4-FFF2-40B4-BE49-F238E27FC236}">
                <a16:creationId xmlns:a16="http://schemas.microsoft.com/office/drawing/2014/main" id="{D9B4CE04-D6CA-C401-A2EE-F7EFFB93950C}"/>
              </a:ext>
            </a:extLst>
          </p:cNvPr>
          <p:cNvSpPr txBox="1"/>
          <p:nvPr/>
        </p:nvSpPr>
        <p:spPr>
          <a:xfrm>
            <a:off x="9019125" y="2014323"/>
            <a:ext cx="1863011" cy="275332"/>
          </a:xfrm>
          <a:prstGeom prst="rect">
            <a:avLst/>
          </a:prstGeom>
          <a:noFill/>
        </p:spPr>
        <p:txBody>
          <a:bodyPr wrap="none" rtlCol="0">
            <a:spAutoFit/>
          </a:bodyPr>
          <a:lstStyle/>
          <a:p>
            <a:r>
              <a:rPr kumimoji="1" lang="en-US" altLang="zh-CN" sz="1189" dirty="0"/>
              <a:t>Generated</a:t>
            </a:r>
            <a:r>
              <a:rPr kumimoji="1" lang="zh-CN" altLang="en-US" sz="1189" dirty="0"/>
              <a:t> </a:t>
            </a:r>
            <a:r>
              <a:rPr kumimoji="1" lang="en-US" altLang="zh-CN" sz="1189" dirty="0"/>
              <a:t>cell</a:t>
            </a:r>
            <a:r>
              <a:rPr kumimoji="1" lang="zh-CN" altLang="en-US" sz="1189" dirty="0"/>
              <a:t> </a:t>
            </a:r>
            <a:r>
              <a:rPr kumimoji="1" lang="en-US" altLang="zh-CN" sz="1189" dirty="0"/>
              <a:t>expression</a:t>
            </a:r>
            <a:endParaRPr kumimoji="1" lang="zh-CN" altLang="en-US" sz="1189" dirty="0"/>
          </a:p>
        </p:txBody>
      </p:sp>
    </p:spTree>
    <p:extLst>
      <p:ext uri="{BB962C8B-B14F-4D97-AF65-F5344CB8AC3E}">
        <p14:creationId xmlns:p14="http://schemas.microsoft.com/office/powerpoint/2010/main" val="304519540"/>
      </p:ext>
    </p:extLst>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67F5B-148E-5DE2-794E-2EEB9F58586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35F0E21-DFAE-95E4-D002-1AE0D15A772D}"/>
              </a:ext>
            </a:extLst>
          </p:cNvPr>
          <p:cNvSpPr txBox="1"/>
          <p:nvPr/>
        </p:nvSpPr>
        <p:spPr>
          <a:xfrm>
            <a:off x="469489" y="211498"/>
            <a:ext cx="5324542" cy="461215"/>
          </a:xfrm>
          <a:prstGeom prst="rect">
            <a:avLst/>
          </a:prstGeom>
        </p:spPr>
        <p:txBody>
          <a:bodyPr vert="horz" wrap="square" lIns="0" tIns="33972" rIns="0" bIns="0" rtlCol="0">
            <a:spAutoFit/>
          </a:bodyPr>
          <a:lstStyle/>
          <a:p>
            <a:pPr marL="25164">
              <a:spcBef>
                <a:spcPts val="267"/>
              </a:spcBef>
            </a:pPr>
            <a:r>
              <a:rPr lang="en" sz="2774" spc="-20" dirty="0">
                <a:solidFill>
                  <a:srgbClr val="FFFFFF"/>
                </a:solidFill>
                <a:latin typeface="Gill Sans MT"/>
                <a:cs typeface="Gill Sans MT"/>
              </a:rPr>
              <a:t>Pseudo</a:t>
            </a:r>
            <a:r>
              <a:rPr lang="en-US" altLang="zh-CN" sz="2774" spc="-20" dirty="0">
                <a:solidFill>
                  <a:srgbClr val="FFFFFF"/>
                </a:solidFill>
                <a:latin typeface="Gill Sans MT"/>
                <a:cs typeface="Gill Sans MT"/>
              </a:rPr>
              <a:t>-Cell</a:t>
            </a:r>
            <a:r>
              <a:rPr lang="en" sz="2774" spc="-20" dirty="0">
                <a:solidFill>
                  <a:srgbClr val="FFFFFF"/>
                </a:solidFill>
                <a:latin typeface="Gill Sans MT"/>
                <a:cs typeface="Gill Sans MT"/>
              </a:rPr>
              <a:t> generation</a:t>
            </a:r>
          </a:p>
        </p:txBody>
      </p:sp>
      <p:grpSp>
        <p:nvGrpSpPr>
          <p:cNvPr id="3" name="object 3">
            <a:extLst>
              <a:ext uri="{FF2B5EF4-FFF2-40B4-BE49-F238E27FC236}">
                <a16:creationId xmlns:a16="http://schemas.microsoft.com/office/drawing/2014/main" id="{7A97A396-BC1E-6AA7-FE15-8DA931BF4F29}"/>
              </a:ext>
            </a:extLst>
          </p:cNvPr>
          <p:cNvGrpSpPr/>
          <p:nvPr/>
        </p:nvGrpSpPr>
        <p:grpSpPr>
          <a:xfrm>
            <a:off x="0" y="6667139"/>
            <a:ext cx="12192000" cy="181181"/>
            <a:chOff x="0" y="3364623"/>
            <a:chExt cx="4608195" cy="91440"/>
          </a:xfrm>
        </p:grpSpPr>
        <p:sp>
          <p:nvSpPr>
            <p:cNvPr id="4" name="object 4">
              <a:extLst>
                <a:ext uri="{FF2B5EF4-FFF2-40B4-BE49-F238E27FC236}">
                  <a16:creationId xmlns:a16="http://schemas.microsoft.com/office/drawing/2014/main" id="{415A7DD3-20E7-C780-2D53-957EC3E8DC06}"/>
                </a:ext>
              </a:extLst>
            </p:cNvPr>
            <p:cNvSpPr/>
            <p:nvPr/>
          </p:nvSpPr>
          <p:spPr>
            <a:xfrm>
              <a:off x="0" y="3364623"/>
              <a:ext cx="1536065" cy="91440"/>
            </a:xfrm>
            <a:custGeom>
              <a:avLst/>
              <a:gdLst/>
              <a:ahLst/>
              <a:cxnLst/>
              <a:rect l="l" t="t" r="r" b="b"/>
              <a:pathLst>
                <a:path w="1536065" h="91439">
                  <a:moveTo>
                    <a:pt x="1535976" y="0"/>
                  </a:moveTo>
                  <a:lnTo>
                    <a:pt x="0" y="0"/>
                  </a:lnTo>
                  <a:lnTo>
                    <a:pt x="0" y="91376"/>
                  </a:lnTo>
                  <a:lnTo>
                    <a:pt x="1535976" y="91376"/>
                  </a:lnTo>
                  <a:lnTo>
                    <a:pt x="1535976" y="0"/>
                  </a:lnTo>
                  <a:close/>
                </a:path>
              </a:pathLst>
            </a:custGeom>
            <a:solidFill>
              <a:srgbClr val="C7D1C5"/>
            </a:solidFill>
          </p:spPr>
          <p:txBody>
            <a:bodyPr wrap="square" lIns="0" tIns="0" rIns="0" bIns="0" rtlCol="0"/>
            <a:lstStyle/>
            <a:p>
              <a:endParaRPr sz="3567"/>
            </a:p>
          </p:txBody>
        </p:sp>
        <p:sp>
          <p:nvSpPr>
            <p:cNvPr id="5" name="object 5">
              <a:extLst>
                <a:ext uri="{FF2B5EF4-FFF2-40B4-BE49-F238E27FC236}">
                  <a16:creationId xmlns:a16="http://schemas.microsoft.com/office/drawing/2014/main" id="{675D0ACE-89EF-5CCA-B3E9-4A7AFB723F86}"/>
                </a:ext>
              </a:extLst>
            </p:cNvPr>
            <p:cNvSpPr/>
            <p:nvPr/>
          </p:nvSpPr>
          <p:spPr>
            <a:xfrm>
              <a:off x="1535976"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00A6AA"/>
            </a:solidFill>
          </p:spPr>
          <p:txBody>
            <a:bodyPr wrap="square" lIns="0" tIns="0" rIns="0" bIns="0" rtlCol="0"/>
            <a:lstStyle/>
            <a:p>
              <a:endParaRPr sz="3567"/>
            </a:p>
          </p:txBody>
        </p:sp>
        <p:sp>
          <p:nvSpPr>
            <p:cNvPr id="6" name="object 6">
              <a:extLst>
                <a:ext uri="{FF2B5EF4-FFF2-40B4-BE49-F238E27FC236}">
                  <a16:creationId xmlns:a16="http://schemas.microsoft.com/office/drawing/2014/main" id="{02CC5C23-22D8-048F-5426-3A5249B8AD58}"/>
                </a:ext>
              </a:extLst>
            </p:cNvPr>
            <p:cNvSpPr/>
            <p:nvPr/>
          </p:nvSpPr>
          <p:spPr>
            <a:xfrm>
              <a:off x="3071952"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4C4E52"/>
            </a:solidFill>
          </p:spPr>
          <p:txBody>
            <a:bodyPr wrap="square" lIns="0" tIns="0" rIns="0" bIns="0" rtlCol="0"/>
            <a:lstStyle/>
            <a:p>
              <a:endParaRPr sz="3567"/>
            </a:p>
          </p:txBody>
        </p:sp>
      </p:grpSp>
      <p:sp>
        <p:nvSpPr>
          <p:cNvPr id="7" name="object 7">
            <a:extLst>
              <a:ext uri="{FF2B5EF4-FFF2-40B4-BE49-F238E27FC236}">
                <a16:creationId xmlns:a16="http://schemas.microsoft.com/office/drawing/2014/main" id="{4906047D-903F-E81B-42A0-2FCB33947CC0}"/>
              </a:ext>
            </a:extLst>
          </p:cNvPr>
          <p:cNvSpPr txBox="1">
            <a:spLocks noGrp="1"/>
          </p:cNvSpPr>
          <p:nvPr>
            <p:ph type="ftr" sz="quarter" idx="5"/>
          </p:nvPr>
        </p:nvSpPr>
        <p:spPr>
          <a:xfrm>
            <a:off x="2774341" y="6677624"/>
            <a:ext cx="579372" cy="141064"/>
          </a:xfrm>
          <a:prstGeom prst="rect">
            <a:avLst/>
          </a:prstGeom>
        </p:spPr>
        <p:txBody>
          <a:bodyPr vert="horz" wrap="square" lIns="0" tIns="0" rIns="0" bIns="0" rtlCol="0" anchor="ctr">
            <a:spAutoFit/>
          </a:bodyPr>
          <a:lstStyle/>
          <a:p>
            <a:pPr marL="25164">
              <a:lnSpc>
                <a:spcPts val="1149"/>
              </a:lnSpc>
            </a:pPr>
            <a:r>
              <a:rPr lang="en-US" altLang="zh-CN" spc="-20" dirty="0"/>
              <a:t>Results</a:t>
            </a:r>
            <a:endParaRPr spc="-20" dirty="0"/>
          </a:p>
        </p:txBody>
      </p:sp>
      <p:sp>
        <p:nvSpPr>
          <p:cNvPr id="10" name="object 10">
            <a:extLst>
              <a:ext uri="{FF2B5EF4-FFF2-40B4-BE49-F238E27FC236}">
                <a16:creationId xmlns:a16="http://schemas.microsoft.com/office/drawing/2014/main" id="{5A973BF5-3821-E49C-650D-404C2841EC32}"/>
              </a:ext>
            </a:extLst>
          </p:cNvPr>
          <p:cNvSpPr txBox="1">
            <a:spLocks noGrp="1"/>
          </p:cNvSpPr>
          <p:nvPr>
            <p:ph type="sldNum" sz="quarter" idx="7"/>
          </p:nvPr>
        </p:nvSpPr>
        <p:spPr>
          <a:xfrm>
            <a:off x="10255925" y="6677624"/>
            <a:ext cx="520595" cy="141064"/>
          </a:xfrm>
          <a:prstGeom prst="rect">
            <a:avLst/>
          </a:prstGeom>
        </p:spPr>
        <p:txBody>
          <a:bodyPr vert="horz" wrap="square" lIns="0" tIns="0" rIns="0" bIns="0" rtlCol="0" anchor="ctr">
            <a:spAutoFit/>
          </a:bodyPr>
          <a:lstStyle/>
          <a:p>
            <a:pPr marL="75483">
              <a:lnSpc>
                <a:spcPts val="1149"/>
              </a:lnSpc>
            </a:pPr>
            <a:fld id="{81D60167-4931-47E6-BA6A-407CBD079E47}" type="slidenum">
              <a:rPr dirty="0"/>
              <a:pPr marL="75483">
                <a:lnSpc>
                  <a:spcPts val="1149"/>
                </a:lnSpc>
              </a:pPr>
              <a:t>5</a:t>
            </a:fld>
            <a:r>
              <a:rPr spc="30" dirty="0"/>
              <a:t> </a:t>
            </a:r>
            <a:r>
              <a:rPr spc="139" dirty="0"/>
              <a:t>/</a:t>
            </a:r>
            <a:r>
              <a:rPr spc="30" dirty="0"/>
              <a:t> </a:t>
            </a:r>
            <a:r>
              <a:rPr lang="en-US" altLang="zh-CN" spc="-99" dirty="0"/>
              <a:t>31</a:t>
            </a:r>
            <a:endParaRPr spc="-99" dirty="0"/>
          </a:p>
        </p:txBody>
      </p:sp>
      <p:sp>
        <p:nvSpPr>
          <p:cNvPr id="22" name="object 8">
            <a:extLst>
              <a:ext uri="{FF2B5EF4-FFF2-40B4-BE49-F238E27FC236}">
                <a16:creationId xmlns:a16="http://schemas.microsoft.com/office/drawing/2014/main" id="{EEB4066F-75C5-E7B2-47B8-7494B31BC7BC}"/>
              </a:ext>
            </a:extLst>
          </p:cNvPr>
          <p:cNvSpPr txBox="1"/>
          <p:nvPr/>
        </p:nvSpPr>
        <p:spPr>
          <a:xfrm>
            <a:off x="5643047" y="6671927"/>
            <a:ext cx="826783" cy="141064"/>
          </a:xfrm>
          <a:prstGeom prst="rect">
            <a:avLst/>
          </a:prstGeom>
        </p:spPr>
        <p:txBody>
          <a:bodyPr vert="horz" wrap="square" lIns="0" tIns="0" rIns="0" bIns="0" rtlCol="0">
            <a:spAutoFit/>
          </a:bodyPr>
          <a:lstStyle/>
          <a:p>
            <a:pPr marL="25164">
              <a:lnSpc>
                <a:spcPts val="1149"/>
              </a:lnSpc>
            </a:pPr>
            <a:r>
              <a:rPr lang="en-US" altLang="zh-CN" sz="991" spc="-20" dirty="0">
                <a:solidFill>
                  <a:schemeClr val="tx2"/>
                </a:solidFill>
                <a:latin typeface="Tahoma"/>
                <a:cs typeface="Tahoma"/>
              </a:rPr>
              <a:t>SpeciesLLM</a:t>
            </a:r>
            <a:endParaRPr sz="991" dirty="0">
              <a:solidFill>
                <a:schemeClr val="tx2"/>
              </a:solidFill>
              <a:latin typeface="Tahoma"/>
              <a:cs typeface="Tahoma"/>
            </a:endParaRPr>
          </a:p>
        </p:txBody>
      </p:sp>
      <p:sp>
        <p:nvSpPr>
          <p:cNvPr id="23" name="矩形 22">
            <a:extLst>
              <a:ext uri="{FF2B5EF4-FFF2-40B4-BE49-F238E27FC236}">
                <a16:creationId xmlns:a16="http://schemas.microsoft.com/office/drawing/2014/main" id="{DD8CF718-A4BD-F85A-23A8-8DE1BFEE975C}"/>
              </a:ext>
            </a:extLst>
          </p:cNvPr>
          <p:cNvSpPr/>
          <p:nvPr/>
        </p:nvSpPr>
        <p:spPr>
          <a:xfrm>
            <a:off x="7152892" y="6448693"/>
            <a:ext cx="4982489" cy="1811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3567"/>
          </a:p>
        </p:txBody>
      </p:sp>
      <p:sp>
        <p:nvSpPr>
          <p:cNvPr id="14" name="object 13">
            <a:extLst>
              <a:ext uri="{FF2B5EF4-FFF2-40B4-BE49-F238E27FC236}">
                <a16:creationId xmlns:a16="http://schemas.microsoft.com/office/drawing/2014/main" id="{B6B544D5-4CA9-C92F-A437-2CB7AA4A0A61}"/>
              </a:ext>
            </a:extLst>
          </p:cNvPr>
          <p:cNvSpPr txBox="1">
            <a:spLocks/>
          </p:cNvSpPr>
          <p:nvPr/>
        </p:nvSpPr>
        <p:spPr>
          <a:xfrm>
            <a:off x="8872151" y="6671926"/>
            <a:ext cx="1149446" cy="141064"/>
          </a:xfrm>
          <a:prstGeom prst="rect">
            <a:avLst/>
          </a:prstGeom>
        </p:spPr>
        <p:txBody>
          <a:bodyPr vert="horz" wrap="square" lIns="0" tIns="0" rIns="0" bIns="0" rtlCol="0">
            <a:spAutoFit/>
          </a:bodyPr>
          <a:lstStyle>
            <a:defPPr>
              <a:defRPr kern="0"/>
            </a:defPPr>
            <a:lvl1pPr>
              <a:defRPr sz="500" b="0" i="0">
                <a:solidFill>
                  <a:schemeClr val="bg1"/>
                </a:solidFill>
                <a:latin typeface="Tahoma"/>
                <a:cs typeface="Tahoma"/>
              </a:defRPr>
            </a:lvl1pPr>
          </a:lstStyle>
          <a:p>
            <a:pPr marL="25164">
              <a:lnSpc>
                <a:spcPts val="1149"/>
              </a:lnSpc>
            </a:pPr>
            <a:r>
              <a:rPr lang="en-US" altLang="zh-CN" sz="991" dirty="0"/>
              <a:t>September</a:t>
            </a:r>
            <a:r>
              <a:rPr lang="en-US" sz="991" spc="-40" dirty="0"/>
              <a:t> </a:t>
            </a:r>
            <a:r>
              <a:rPr lang="en-US" altLang="zh-CN" sz="991" spc="-40" dirty="0"/>
              <a:t>18</a:t>
            </a:r>
            <a:r>
              <a:rPr lang="en-US" sz="991" dirty="0"/>
              <a:t>,</a:t>
            </a:r>
            <a:r>
              <a:rPr lang="en-US" sz="991" spc="-30" dirty="0"/>
              <a:t> </a:t>
            </a:r>
            <a:r>
              <a:rPr lang="en-US" sz="991" spc="-40" dirty="0"/>
              <a:t>202</a:t>
            </a:r>
            <a:r>
              <a:rPr lang="en-US" altLang="zh-CN" sz="991" spc="-40" dirty="0"/>
              <a:t>5</a:t>
            </a:r>
            <a:endParaRPr lang="en-US" sz="991" spc="-40" dirty="0"/>
          </a:p>
        </p:txBody>
      </p:sp>
      <p:pic>
        <p:nvPicPr>
          <p:cNvPr id="8" name="图片 7">
            <a:extLst>
              <a:ext uri="{FF2B5EF4-FFF2-40B4-BE49-F238E27FC236}">
                <a16:creationId xmlns:a16="http://schemas.microsoft.com/office/drawing/2014/main" id="{B531B49B-3138-CBDE-EA7C-3151C70E1014}"/>
              </a:ext>
            </a:extLst>
          </p:cNvPr>
          <p:cNvPicPr>
            <a:picLocks noChangeAspect="1"/>
          </p:cNvPicPr>
          <p:nvPr/>
        </p:nvPicPr>
        <p:blipFill>
          <a:blip r:embed="rId3"/>
          <a:stretch>
            <a:fillRect/>
          </a:stretch>
        </p:blipFill>
        <p:spPr>
          <a:xfrm>
            <a:off x="3650896" y="766034"/>
            <a:ext cx="3318083" cy="3142608"/>
          </a:xfrm>
          <a:prstGeom prst="rect">
            <a:avLst/>
          </a:prstGeom>
        </p:spPr>
      </p:pic>
      <p:pic>
        <p:nvPicPr>
          <p:cNvPr id="13" name="图片 12">
            <a:extLst>
              <a:ext uri="{FF2B5EF4-FFF2-40B4-BE49-F238E27FC236}">
                <a16:creationId xmlns:a16="http://schemas.microsoft.com/office/drawing/2014/main" id="{0E4197FB-1F05-8D03-CD25-A4E2CB0DD4FA}"/>
              </a:ext>
            </a:extLst>
          </p:cNvPr>
          <p:cNvPicPr>
            <a:picLocks noChangeAspect="1"/>
          </p:cNvPicPr>
          <p:nvPr/>
        </p:nvPicPr>
        <p:blipFill>
          <a:blip r:embed="rId4"/>
          <a:stretch>
            <a:fillRect/>
          </a:stretch>
        </p:blipFill>
        <p:spPr>
          <a:xfrm>
            <a:off x="6968978" y="766033"/>
            <a:ext cx="5653788" cy="3215966"/>
          </a:xfrm>
          <a:prstGeom prst="rect">
            <a:avLst/>
          </a:prstGeom>
        </p:spPr>
      </p:pic>
      <p:pic>
        <p:nvPicPr>
          <p:cNvPr id="16" name="图片 15">
            <a:extLst>
              <a:ext uri="{FF2B5EF4-FFF2-40B4-BE49-F238E27FC236}">
                <a16:creationId xmlns:a16="http://schemas.microsoft.com/office/drawing/2014/main" id="{569AF59F-493F-3FAF-88E0-38318D4CBD63}"/>
              </a:ext>
            </a:extLst>
          </p:cNvPr>
          <p:cNvPicPr>
            <a:picLocks noChangeAspect="1"/>
          </p:cNvPicPr>
          <p:nvPr/>
        </p:nvPicPr>
        <p:blipFill>
          <a:blip r:embed="rId5"/>
          <a:stretch>
            <a:fillRect/>
          </a:stretch>
        </p:blipFill>
        <p:spPr>
          <a:xfrm>
            <a:off x="56619" y="772977"/>
            <a:ext cx="3594276" cy="3072707"/>
          </a:xfrm>
          <a:prstGeom prst="rect">
            <a:avLst/>
          </a:prstGeom>
        </p:spPr>
      </p:pic>
      <p:pic>
        <p:nvPicPr>
          <p:cNvPr id="18" name="图片 17">
            <a:extLst>
              <a:ext uri="{FF2B5EF4-FFF2-40B4-BE49-F238E27FC236}">
                <a16:creationId xmlns:a16="http://schemas.microsoft.com/office/drawing/2014/main" id="{5C0E677E-08F6-0BE4-22CE-8437F9D842D8}"/>
              </a:ext>
            </a:extLst>
          </p:cNvPr>
          <p:cNvPicPr>
            <a:picLocks noChangeAspect="1"/>
          </p:cNvPicPr>
          <p:nvPr/>
        </p:nvPicPr>
        <p:blipFill>
          <a:blip r:embed="rId6"/>
          <a:stretch>
            <a:fillRect/>
          </a:stretch>
        </p:blipFill>
        <p:spPr>
          <a:xfrm>
            <a:off x="148868" y="3809116"/>
            <a:ext cx="8606118" cy="2860416"/>
          </a:xfrm>
          <a:prstGeom prst="rect">
            <a:avLst/>
          </a:prstGeom>
        </p:spPr>
      </p:pic>
    </p:spTree>
    <p:extLst>
      <p:ext uri="{BB962C8B-B14F-4D97-AF65-F5344CB8AC3E}">
        <p14:creationId xmlns:p14="http://schemas.microsoft.com/office/powerpoint/2010/main" val="1627119707"/>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CDB8D-EF0F-FAF2-C9FE-FF4FD0392F6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E48FF21-0F60-B9A9-5F64-11572ECA2B8A}"/>
              </a:ext>
            </a:extLst>
          </p:cNvPr>
          <p:cNvSpPr txBox="1"/>
          <p:nvPr/>
        </p:nvSpPr>
        <p:spPr>
          <a:xfrm>
            <a:off x="384115" y="158106"/>
            <a:ext cx="5324542" cy="461215"/>
          </a:xfrm>
          <a:prstGeom prst="rect">
            <a:avLst/>
          </a:prstGeom>
        </p:spPr>
        <p:txBody>
          <a:bodyPr vert="horz" wrap="square" lIns="0" tIns="33972" rIns="0" bIns="0" rtlCol="0">
            <a:spAutoFit/>
          </a:bodyPr>
          <a:lstStyle/>
          <a:p>
            <a:pPr marL="25164">
              <a:spcBef>
                <a:spcPts val="267"/>
              </a:spcBef>
            </a:pPr>
            <a:r>
              <a:rPr lang="en-US" altLang="zh-CN" sz="2774" spc="-20" dirty="0">
                <a:solidFill>
                  <a:srgbClr val="FFFFFF"/>
                </a:solidFill>
                <a:latin typeface="Gill Sans MT"/>
                <a:cs typeface="Gill Sans MT"/>
              </a:rPr>
              <a:t>Perturbed-Cell</a:t>
            </a:r>
            <a:r>
              <a:rPr lang="en" sz="2774" spc="-20" dirty="0">
                <a:solidFill>
                  <a:srgbClr val="FFFFFF"/>
                </a:solidFill>
                <a:latin typeface="Gill Sans MT"/>
                <a:cs typeface="Gill Sans MT"/>
              </a:rPr>
              <a:t> generation</a:t>
            </a:r>
          </a:p>
        </p:txBody>
      </p:sp>
      <p:grpSp>
        <p:nvGrpSpPr>
          <p:cNvPr id="3" name="object 3">
            <a:extLst>
              <a:ext uri="{FF2B5EF4-FFF2-40B4-BE49-F238E27FC236}">
                <a16:creationId xmlns:a16="http://schemas.microsoft.com/office/drawing/2014/main" id="{EF4ACCDD-C51E-630D-145B-14AD3989A843}"/>
              </a:ext>
            </a:extLst>
          </p:cNvPr>
          <p:cNvGrpSpPr/>
          <p:nvPr/>
        </p:nvGrpSpPr>
        <p:grpSpPr>
          <a:xfrm>
            <a:off x="0" y="6667139"/>
            <a:ext cx="12192000" cy="181181"/>
            <a:chOff x="0" y="3364623"/>
            <a:chExt cx="4608195" cy="91440"/>
          </a:xfrm>
        </p:grpSpPr>
        <p:sp>
          <p:nvSpPr>
            <p:cNvPr id="4" name="object 4">
              <a:extLst>
                <a:ext uri="{FF2B5EF4-FFF2-40B4-BE49-F238E27FC236}">
                  <a16:creationId xmlns:a16="http://schemas.microsoft.com/office/drawing/2014/main" id="{DC0C21C9-FBC7-942F-BB3C-3E6FAB32C8AF}"/>
                </a:ext>
              </a:extLst>
            </p:cNvPr>
            <p:cNvSpPr/>
            <p:nvPr/>
          </p:nvSpPr>
          <p:spPr>
            <a:xfrm>
              <a:off x="0" y="3364623"/>
              <a:ext cx="1536065" cy="91440"/>
            </a:xfrm>
            <a:custGeom>
              <a:avLst/>
              <a:gdLst/>
              <a:ahLst/>
              <a:cxnLst/>
              <a:rect l="l" t="t" r="r" b="b"/>
              <a:pathLst>
                <a:path w="1536065" h="91439">
                  <a:moveTo>
                    <a:pt x="1535976" y="0"/>
                  </a:moveTo>
                  <a:lnTo>
                    <a:pt x="0" y="0"/>
                  </a:lnTo>
                  <a:lnTo>
                    <a:pt x="0" y="91376"/>
                  </a:lnTo>
                  <a:lnTo>
                    <a:pt x="1535976" y="91376"/>
                  </a:lnTo>
                  <a:lnTo>
                    <a:pt x="1535976" y="0"/>
                  </a:lnTo>
                  <a:close/>
                </a:path>
              </a:pathLst>
            </a:custGeom>
            <a:solidFill>
              <a:srgbClr val="C7D1C5"/>
            </a:solidFill>
          </p:spPr>
          <p:txBody>
            <a:bodyPr wrap="square" lIns="0" tIns="0" rIns="0" bIns="0" rtlCol="0"/>
            <a:lstStyle/>
            <a:p>
              <a:endParaRPr sz="3567"/>
            </a:p>
          </p:txBody>
        </p:sp>
        <p:sp>
          <p:nvSpPr>
            <p:cNvPr id="5" name="object 5">
              <a:extLst>
                <a:ext uri="{FF2B5EF4-FFF2-40B4-BE49-F238E27FC236}">
                  <a16:creationId xmlns:a16="http://schemas.microsoft.com/office/drawing/2014/main" id="{8193138A-20D6-BB22-20E6-FA6003211E8B}"/>
                </a:ext>
              </a:extLst>
            </p:cNvPr>
            <p:cNvSpPr/>
            <p:nvPr/>
          </p:nvSpPr>
          <p:spPr>
            <a:xfrm>
              <a:off x="1535976"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00A6AA"/>
            </a:solidFill>
          </p:spPr>
          <p:txBody>
            <a:bodyPr wrap="square" lIns="0" tIns="0" rIns="0" bIns="0" rtlCol="0"/>
            <a:lstStyle/>
            <a:p>
              <a:endParaRPr sz="3567"/>
            </a:p>
          </p:txBody>
        </p:sp>
        <p:sp>
          <p:nvSpPr>
            <p:cNvPr id="6" name="object 6">
              <a:extLst>
                <a:ext uri="{FF2B5EF4-FFF2-40B4-BE49-F238E27FC236}">
                  <a16:creationId xmlns:a16="http://schemas.microsoft.com/office/drawing/2014/main" id="{318CC8A8-05A9-DB37-03B5-F3E78E8AA7C0}"/>
                </a:ext>
              </a:extLst>
            </p:cNvPr>
            <p:cNvSpPr/>
            <p:nvPr/>
          </p:nvSpPr>
          <p:spPr>
            <a:xfrm>
              <a:off x="3071952"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4C4E52"/>
            </a:solidFill>
          </p:spPr>
          <p:txBody>
            <a:bodyPr wrap="square" lIns="0" tIns="0" rIns="0" bIns="0" rtlCol="0"/>
            <a:lstStyle/>
            <a:p>
              <a:endParaRPr sz="3567"/>
            </a:p>
          </p:txBody>
        </p:sp>
      </p:grpSp>
      <p:sp>
        <p:nvSpPr>
          <p:cNvPr id="7" name="object 7">
            <a:extLst>
              <a:ext uri="{FF2B5EF4-FFF2-40B4-BE49-F238E27FC236}">
                <a16:creationId xmlns:a16="http://schemas.microsoft.com/office/drawing/2014/main" id="{1500C3E1-BCDC-2CF1-86B7-85FA02E3DC2E}"/>
              </a:ext>
            </a:extLst>
          </p:cNvPr>
          <p:cNvSpPr txBox="1">
            <a:spLocks noGrp="1"/>
          </p:cNvSpPr>
          <p:nvPr>
            <p:ph type="ftr" sz="quarter" idx="5"/>
          </p:nvPr>
        </p:nvSpPr>
        <p:spPr>
          <a:xfrm>
            <a:off x="2774341" y="6677624"/>
            <a:ext cx="579372" cy="141064"/>
          </a:xfrm>
          <a:prstGeom prst="rect">
            <a:avLst/>
          </a:prstGeom>
        </p:spPr>
        <p:txBody>
          <a:bodyPr vert="horz" wrap="square" lIns="0" tIns="0" rIns="0" bIns="0" rtlCol="0" anchor="ctr">
            <a:spAutoFit/>
          </a:bodyPr>
          <a:lstStyle/>
          <a:p>
            <a:pPr marL="25164">
              <a:lnSpc>
                <a:spcPts val="1149"/>
              </a:lnSpc>
            </a:pPr>
            <a:r>
              <a:rPr lang="en-US" altLang="zh-CN" spc="-20" dirty="0"/>
              <a:t>Results</a:t>
            </a:r>
            <a:endParaRPr spc="-20" dirty="0"/>
          </a:p>
        </p:txBody>
      </p:sp>
      <p:sp>
        <p:nvSpPr>
          <p:cNvPr id="10" name="object 10">
            <a:extLst>
              <a:ext uri="{FF2B5EF4-FFF2-40B4-BE49-F238E27FC236}">
                <a16:creationId xmlns:a16="http://schemas.microsoft.com/office/drawing/2014/main" id="{4269001E-44B5-AF09-1F4C-A2880406461C}"/>
              </a:ext>
            </a:extLst>
          </p:cNvPr>
          <p:cNvSpPr txBox="1">
            <a:spLocks noGrp="1"/>
          </p:cNvSpPr>
          <p:nvPr>
            <p:ph type="sldNum" sz="quarter" idx="7"/>
          </p:nvPr>
        </p:nvSpPr>
        <p:spPr>
          <a:xfrm>
            <a:off x="10255925" y="6677624"/>
            <a:ext cx="520595" cy="141064"/>
          </a:xfrm>
          <a:prstGeom prst="rect">
            <a:avLst/>
          </a:prstGeom>
        </p:spPr>
        <p:txBody>
          <a:bodyPr vert="horz" wrap="square" lIns="0" tIns="0" rIns="0" bIns="0" rtlCol="0" anchor="ctr">
            <a:spAutoFit/>
          </a:bodyPr>
          <a:lstStyle/>
          <a:p>
            <a:pPr marL="75483">
              <a:lnSpc>
                <a:spcPts val="1149"/>
              </a:lnSpc>
            </a:pPr>
            <a:fld id="{81D60167-4931-47E6-BA6A-407CBD079E47}" type="slidenum">
              <a:rPr dirty="0"/>
              <a:pPr marL="75483">
                <a:lnSpc>
                  <a:spcPts val="1149"/>
                </a:lnSpc>
              </a:pPr>
              <a:t>6</a:t>
            </a:fld>
            <a:r>
              <a:rPr spc="30" dirty="0"/>
              <a:t> </a:t>
            </a:r>
            <a:r>
              <a:rPr spc="139" dirty="0"/>
              <a:t>/</a:t>
            </a:r>
            <a:r>
              <a:rPr spc="30" dirty="0"/>
              <a:t> </a:t>
            </a:r>
            <a:r>
              <a:rPr lang="en-US" altLang="zh-CN" spc="-99" dirty="0"/>
              <a:t>31</a:t>
            </a:r>
            <a:endParaRPr spc="-99" dirty="0"/>
          </a:p>
        </p:txBody>
      </p:sp>
      <p:sp>
        <p:nvSpPr>
          <p:cNvPr id="22" name="object 8">
            <a:extLst>
              <a:ext uri="{FF2B5EF4-FFF2-40B4-BE49-F238E27FC236}">
                <a16:creationId xmlns:a16="http://schemas.microsoft.com/office/drawing/2014/main" id="{48097BD9-2708-CD5A-D4C5-12AB1EAB8709}"/>
              </a:ext>
            </a:extLst>
          </p:cNvPr>
          <p:cNvSpPr txBox="1"/>
          <p:nvPr/>
        </p:nvSpPr>
        <p:spPr>
          <a:xfrm>
            <a:off x="5643047" y="6671927"/>
            <a:ext cx="826783" cy="141064"/>
          </a:xfrm>
          <a:prstGeom prst="rect">
            <a:avLst/>
          </a:prstGeom>
        </p:spPr>
        <p:txBody>
          <a:bodyPr vert="horz" wrap="square" lIns="0" tIns="0" rIns="0" bIns="0" rtlCol="0">
            <a:spAutoFit/>
          </a:bodyPr>
          <a:lstStyle/>
          <a:p>
            <a:pPr marL="25164">
              <a:lnSpc>
                <a:spcPts val="1149"/>
              </a:lnSpc>
            </a:pPr>
            <a:r>
              <a:rPr lang="en-US" altLang="zh-CN" sz="991" spc="-20" dirty="0">
                <a:solidFill>
                  <a:schemeClr val="tx2"/>
                </a:solidFill>
                <a:latin typeface="Tahoma"/>
                <a:cs typeface="Tahoma"/>
              </a:rPr>
              <a:t>SpeciesLLM</a:t>
            </a:r>
            <a:endParaRPr sz="991" dirty="0">
              <a:solidFill>
                <a:schemeClr val="tx2"/>
              </a:solidFill>
              <a:latin typeface="Tahoma"/>
              <a:cs typeface="Tahoma"/>
            </a:endParaRPr>
          </a:p>
        </p:txBody>
      </p:sp>
      <p:sp>
        <p:nvSpPr>
          <p:cNvPr id="23" name="矩形 22">
            <a:extLst>
              <a:ext uri="{FF2B5EF4-FFF2-40B4-BE49-F238E27FC236}">
                <a16:creationId xmlns:a16="http://schemas.microsoft.com/office/drawing/2014/main" id="{AB6B43BC-8DC0-B16D-AE93-C3E60F1D0F5A}"/>
              </a:ext>
            </a:extLst>
          </p:cNvPr>
          <p:cNvSpPr/>
          <p:nvPr/>
        </p:nvSpPr>
        <p:spPr>
          <a:xfrm>
            <a:off x="7152892" y="6448693"/>
            <a:ext cx="4982489" cy="1811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3567"/>
          </a:p>
        </p:txBody>
      </p:sp>
      <p:sp>
        <p:nvSpPr>
          <p:cNvPr id="14" name="object 13">
            <a:extLst>
              <a:ext uri="{FF2B5EF4-FFF2-40B4-BE49-F238E27FC236}">
                <a16:creationId xmlns:a16="http://schemas.microsoft.com/office/drawing/2014/main" id="{A20CC35D-29E8-E537-66F8-2324379CD7D9}"/>
              </a:ext>
            </a:extLst>
          </p:cNvPr>
          <p:cNvSpPr txBox="1">
            <a:spLocks/>
          </p:cNvSpPr>
          <p:nvPr/>
        </p:nvSpPr>
        <p:spPr>
          <a:xfrm>
            <a:off x="8872151" y="6671926"/>
            <a:ext cx="1149446" cy="141064"/>
          </a:xfrm>
          <a:prstGeom prst="rect">
            <a:avLst/>
          </a:prstGeom>
        </p:spPr>
        <p:txBody>
          <a:bodyPr vert="horz" wrap="square" lIns="0" tIns="0" rIns="0" bIns="0" rtlCol="0">
            <a:spAutoFit/>
          </a:bodyPr>
          <a:lstStyle>
            <a:defPPr>
              <a:defRPr kern="0"/>
            </a:defPPr>
            <a:lvl1pPr>
              <a:defRPr sz="500" b="0" i="0">
                <a:solidFill>
                  <a:schemeClr val="bg1"/>
                </a:solidFill>
                <a:latin typeface="Tahoma"/>
                <a:cs typeface="Tahoma"/>
              </a:defRPr>
            </a:lvl1pPr>
          </a:lstStyle>
          <a:p>
            <a:pPr marL="25164">
              <a:lnSpc>
                <a:spcPts val="1149"/>
              </a:lnSpc>
            </a:pPr>
            <a:r>
              <a:rPr lang="en-US" altLang="zh-CN" sz="991" dirty="0"/>
              <a:t>September</a:t>
            </a:r>
            <a:r>
              <a:rPr lang="en-US" sz="991" spc="-40" dirty="0"/>
              <a:t> </a:t>
            </a:r>
            <a:r>
              <a:rPr lang="en-US" altLang="zh-CN" sz="991" spc="-40" dirty="0"/>
              <a:t>18</a:t>
            </a:r>
            <a:r>
              <a:rPr lang="en-US" sz="991" dirty="0"/>
              <a:t>,</a:t>
            </a:r>
            <a:r>
              <a:rPr lang="en-US" sz="991" spc="-30" dirty="0"/>
              <a:t> </a:t>
            </a:r>
            <a:r>
              <a:rPr lang="en-US" sz="991" spc="-40" dirty="0"/>
              <a:t>202</a:t>
            </a:r>
            <a:r>
              <a:rPr lang="en-US" altLang="zh-CN" sz="991" spc="-40" dirty="0"/>
              <a:t>5</a:t>
            </a:r>
            <a:endParaRPr lang="en-US" sz="991" spc="-40" dirty="0"/>
          </a:p>
        </p:txBody>
      </p:sp>
      <p:pic>
        <p:nvPicPr>
          <p:cNvPr id="8" name="图片 7">
            <a:extLst>
              <a:ext uri="{FF2B5EF4-FFF2-40B4-BE49-F238E27FC236}">
                <a16:creationId xmlns:a16="http://schemas.microsoft.com/office/drawing/2014/main" id="{C76058C8-8A90-6475-6DDF-EA2786CF8DDF}"/>
              </a:ext>
            </a:extLst>
          </p:cNvPr>
          <p:cNvPicPr>
            <a:picLocks noChangeAspect="1"/>
          </p:cNvPicPr>
          <p:nvPr/>
        </p:nvPicPr>
        <p:blipFill>
          <a:blip r:embed="rId3"/>
          <a:stretch>
            <a:fillRect/>
          </a:stretch>
        </p:blipFill>
        <p:spPr>
          <a:xfrm>
            <a:off x="456452" y="2955802"/>
            <a:ext cx="3526729" cy="3583481"/>
          </a:xfrm>
          <a:prstGeom prst="rect">
            <a:avLst/>
          </a:prstGeom>
        </p:spPr>
      </p:pic>
      <p:sp>
        <p:nvSpPr>
          <p:cNvPr id="13" name="文本框 12">
            <a:extLst>
              <a:ext uri="{FF2B5EF4-FFF2-40B4-BE49-F238E27FC236}">
                <a16:creationId xmlns:a16="http://schemas.microsoft.com/office/drawing/2014/main" id="{22AF5F4D-AFF7-7A64-4021-15EDC8A74043}"/>
              </a:ext>
            </a:extLst>
          </p:cNvPr>
          <p:cNvSpPr txBox="1"/>
          <p:nvPr/>
        </p:nvSpPr>
        <p:spPr>
          <a:xfrm>
            <a:off x="359554" y="793242"/>
            <a:ext cx="3623628" cy="701987"/>
          </a:xfrm>
          <a:prstGeom prst="rect">
            <a:avLst/>
          </a:prstGeom>
          <a:noFill/>
        </p:spPr>
        <p:txBody>
          <a:bodyPr wrap="square" rtlCol="0">
            <a:spAutoFit/>
          </a:bodyPr>
          <a:lstStyle/>
          <a:p>
            <a:r>
              <a:rPr kumimoji="1" lang="en-US" altLang="zh-CN" sz="1981" b="1" dirty="0">
                <a:solidFill>
                  <a:schemeClr val="accent2"/>
                </a:solidFill>
              </a:rPr>
              <a:t>Evaluation</a:t>
            </a:r>
          </a:p>
          <a:p>
            <a:r>
              <a:rPr kumimoji="1" lang="en-US" altLang="zh-CN" sz="1981" b="1" dirty="0">
                <a:solidFill>
                  <a:schemeClr val="accent2"/>
                </a:solidFill>
              </a:rPr>
              <a:t>Few-shot</a:t>
            </a:r>
            <a:endParaRPr kumimoji="1" lang="en" altLang="zh-CN" sz="1981" b="1" dirty="0">
              <a:solidFill>
                <a:schemeClr val="accent2"/>
              </a:solidFill>
            </a:endParaRPr>
          </a:p>
        </p:txBody>
      </p:sp>
      <p:cxnSp>
        <p:nvCxnSpPr>
          <p:cNvPr id="17" name="直线箭头连接符 16">
            <a:extLst>
              <a:ext uri="{FF2B5EF4-FFF2-40B4-BE49-F238E27FC236}">
                <a16:creationId xmlns:a16="http://schemas.microsoft.com/office/drawing/2014/main" id="{3BF19951-D561-D28E-653A-578CBE30507A}"/>
              </a:ext>
            </a:extLst>
          </p:cNvPr>
          <p:cNvCxnSpPr>
            <a:cxnSpLocks/>
          </p:cNvCxnSpPr>
          <p:nvPr/>
        </p:nvCxnSpPr>
        <p:spPr>
          <a:xfrm flipH="1">
            <a:off x="8349343" y="1562139"/>
            <a:ext cx="776037" cy="0"/>
          </a:xfrm>
          <a:prstGeom prst="straightConnector1">
            <a:avLst/>
          </a:prstGeom>
          <a:ln>
            <a:solidFill>
              <a:srgbClr val="4B506C"/>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E1269E77-2416-661B-CAF1-D04539762BAE}"/>
              </a:ext>
            </a:extLst>
          </p:cNvPr>
          <p:cNvSpPr txBox="1"/>
          <p:nvPr/>
        </p:nvSpPr>
        <p:spPr>
          <a:xfrm>
            <a:off x="5191528" y="871126"/>
            <a:ext cx="2129109" cy="338554"/>
          </a:xfrm>
          <a:prstGeom prst="rect">
            <a:avLst/>
          </a:prstGeom>
          <a:noFill/>
        </p:spPr>
        <p:txBody>
          <a:bodyPr wrap="none" rtlCol="0">
            <a:spAutoFit/>
          </a:bodyPr>
          <a:lstStyle/>
          <a:p>
            <a:r>
              <a:rPr kumimoji="1" lang="en-US" altLang="zh-CN" sz="1600" b="1" dirty="0"/>
              <a:t>Cell</a:t>
            </a:r>
            <a:r>
              <a:rPr kumimoji="1" lang="zh-CN" altLang="en-US" sz="1600" b="1" dirty="0"/>
              <a:t> </a:t>
            </a:r>
            <a:r>
              <a:rPr kumimoji="1" lang="en-US" altLang="zh-CN" sz="1600" b="1" dirty="0"/>
              <a:t>state</a:t>
            </a:r>
            <a:r>
              <a:rPr kumimoji="1" lang="zh-CN" altLang="en-US" sz="1600" b="1" dirty="0"/>
              <a:t> </a:t>
            </a:r>
            <a:r>
              <a:rPr kumimoji="1" lang="en-US" altLang="zh-CN" sz="1600" b="1" dirty="0"/>
              <a:t>description</a:t>
            </a:r>
            <a:endParaRPr kumimoji="1" lang="zh-CN" altLang="en-US" sz="1600" b="1" dirty="0"/>
          </a:p>
        </p:txBody>
      </p:sp>
      <p:sp>
        <p:nvSpPr>
          <p:cNvPr id="19" name="文本框 18">
            <a:extLst>
              <a:ext uri="{FF2B5EF4-FFF2-40B4-BE49-F238E27FC236}">
                <a16:creationId xmlns:a16="http://schemas.microsoft.com/office/drawing/2014/main" id="{13B05318-5F1A-6881-BFAF-878E2665373D}"/>
              </a:ext>
            </a:extLst>
          </p:cNvPr>
          <p:cNvSpPr txBox="1"/>
          <p:nvPr/>
        </p:nvSpPr>
        <p:spPr>
          <a:xfrm>
            <a:off x="359554" y="1521421"/>
            <a:ext cx="3490058" cy="1586525"/>
          </a:xfrm>
          <a:prstGeom prst="rect">
            <a:avLst/>
          </a:prstGeom>
          <a:noFill/>
        </p:spPr>
        <p:txBody>
          <a:bodyPr wrap="none" rtlCol="0">
            <a:spAutoFit/>
          </a:bodyPr>
          <a:lstStyle/>
          <a:p>
            <a:r>
              <a:rPr kumimoji="1" lang="en-US" altLang="zh-CN" sz="1387" b="1" dirty="0"/>
              <a:t>Tahoe-100M </a:t>
            </a:r>
          </a:p>
          <a:p>
            <a:r>
              <a:rPr kumimoji="1" lang="en-US" altLang="zh-CN" sz="1387" b="1" dirty="0"/>
              <a:t>Plate1,3,9 subset</a:t>
            </a:r>
          </a:p>
          <a:p>
            <a:r>
              <a:rPr kumimoji="1" lang="en-US" altLang="zh-CN" sz="1387" b="1" dirty="0"/>
              <a:t>(~4.9M</a:t>
            </a:r>
            <a:r>
              <a:rPr kumimoji="1" lang="zh-CN" altLang="en-US" sz="1387" b="1" dirty="0"/>
              <a:t> </a:t>
            </a:r>
            <a:r>
              <a:rPr kumimoji="1" lang="en-US" altLang="zh-CN" sz="1387" b="1" dirty="0"/>
              <a:t>cells)</a:t>
            </a:r>
          </a:p>
          <a:p>
            <a:endParaRPr kumimoji="1" lang="en-US" altLang="zh-CN" sz="1387" b="1" dirty="0"/>
          </a:p>
          <a:p>
            <a:r>
              <a:rPr kumimoji="1" lang="en-US" altLang="zh-CN" sz="1387" b="1" dirty="0"/>
              <a:t>Hold-out</a:t>
            </a:r>
            <a:r>
              <a:rPr kumimoji="1" lang="zh-CN" altLang="en-US" sz="1387" b="1" dirty="0"/>
              <a:t> </a:t>
            </a:r>
            <a:r>
              <a:rPr kumimoji="1" lang="en-US" altLang="zh-CN" sz="1387" b="1" dirty="0"/>
              <a:t>5</a:t>
            </a:r>
            <a:r>
              <a:rPr kumimoji="1" lang="zh-CN" altLang="en-US" sz="1387" b="1" dirty="0"/>
              <a:t> </a:t>
            </a:r>
            <a:r>
              <a:rPr kumimoji="1" lang="en-US" altLang="zh-CN" sz="1387" b="1" dirty="0"/>
              <a:t>cell</a:t>
            </a:r>
            <a:r>
              <a:rPr kumimoji="1" lang="zh-CN" altLang="en-US" sz="1387" b="1" dirty="0"/>
              <a:t> </a:t>
            </a:r>
            <a:r>
              <a:rPr kumimoji="1" lang="en-US" altLang="zh-CN" sz="1387" b="1" dirty="0"/>
              <a:t>lines</a:t>
            </a:r>
            <a:r>
              <a:rPr kumimoji="1" lang="zh-CN" altLang="en-US" sz="1387" b="1" dirty="0"/>
              <a:t> </a:t>
            </a:r>
            <a:r>
              <a:rPr kumimoji="1" lang="en-US" altLang="zh-CN" sz="1387" b="1" dirty="0"/>
              <a:t>for</a:t>
            </a:r>
            <a:r>
              <a:rPr kumimoji="1" lang="zh-CN" altLang="en-US" sz="1387" b="1" dirty="0"/>
              <a:t> </a:t>
            </a:r>
            <a:r>
              <a:rPr kumimoji="1" lang="en-US" altLang="zh-CN" sz="1387" b="1" dirty="0"/>
              <a:t>test</a:t>
            </a:r>
          </a:p>
          <a:p>
            <a:r>
              <a:rPr kumimoji="1" lang="en-US" altLang="zh-CN" sz="1387" b="1" dirty="0"/>
              <a:t>70%</a:t>
            </a:r>
            <a:r>
              <a:rPr kumimoji="1" lang="zh-CN" altLang="en-US" sz="1387" b="1" dirty="0"/>
              <a:t> </a:t>
            </a:r>
            <a:r>
              <a:rPr kumimoji="1" lang="en-US" altLang="zh-CN" sz="1387" b="1" dirty="0"/>
              <a:t>subsets</a:t>
            </a:r>
            <a:r>
              <a:rPr kumimoji="1" lang="zh-CN" altLang="en-US" sz="1387" b="1" dirty="0"/>
              <a:t> </a:t>
            </a:r>
            <a:r>
              <a:rPr kumimoji="1" lang="en-US" altLang="zh-CN" sz="1387" b="1" dirty="0"/>
              <a:t>for</a:t>
            </a:r>
            <a:r>
              <a:rPr kumimoji="1" lang="zh-CN" altLang="en-US" sz="1387" b="1" dirty="0"/>
              <a:t> </a:t>
            </a:r>
            <a:r>
              <a:rPr kumimoji="1" lang="en-US" altLang="zh-CN" sz="1387" b="1" dirty="0"/>
              <a:t>test,</a:t>
            </a:r>
            <a:r>
              <a:rPr kumimoji="1" lang="zh-CN" altLang="en-US" sz="1387" b="1" dirty="0"/>
              <a:t> </a:t>
            </a:r>
            <a:r>
              <a:rPr kumimoji="1" lang="en-US" altLang="zh-CN" sz="1387" b="1" dirty="0"/>
              <a:t>30%</a:t>
            </a:r>
            <a:r>
              <a:rPr kumimoji="1" lang="zh-CN" altLang="en-US" sz="1387" b="1" dirty="0"/>
              <a:t> </a:t>
            </a:r>
            <a:r>
              <a:rPr kumimoji="1" lang="en-US" altLang="zh-CN" sz="1387" b="1" dirty="0"/>
              <a:t>subsets</a:t>
            </a:r>
            <a:r>
              <a:rPr kumimoji="1" lang="zh-CN" altLang="en-US" sz="1387" b="1" dirty="0"/>
              <a:t> </a:t>
            </a:r>
            <a:r>
              <a:rPr kumimoji="1" lang="en-US" altLang="zh-CN" sz="1387" b="1" dirty="0"/>
              <a:t>for</a:t>
            </a:r>
            <a:r>
              <a:rPr kumimoji="1" lang="zh-CN" altLang="en-US" sz="1387" b="1" dirty="0"/>
              <a:t> </a:t>
            </a:r>
            <a:r>
              <a:rPr kumimoji="1" lang="en-US" altLang="zh-CN" sz="1387" b="1" dirty="0"/>
              <a:t>train</a:t>
            </a:r>
          </a:p>
          <a:p>
            <a:endParaRPr kumimoji="1" lang="zh-CN" altLang="en-US" sz="1387" b="1" dirty="0"/>
          </a:p>
        </p:txBody>
      </p:sp>
      <p:pic>
        <p:nvPicPr>
          <p:cNvPr id="20" name="Picture 6">
            <a:extLst>
              <a:ext uri="{FF2B5EF4-FFF2-40B4-BE49-F238E27FC236}">
                <a16:creationId xmlns:a16="http://schemas.microsoft.com/office/drawing/2014/main" id="{760BDF80-489D-150D-AAD0-B61D53E4246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377" t="18815" r="66226" b="65210"/>
          <a:stretch/>
        </p:blipFill>
        <p:spPr bwMode="auto">
          <a:xfrm>
            <a:off x="9295377" y="991966"/>
            <a:ext cx="1176809" cy="960997"/>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0">
            <a:extLst>
              <a:ext uri="{FF2B5EF4-FFF2-40B4-BE49-F238E27FC236}">
                <a16:creationId xmlns:a16="http://schemas.microsoft.com/office/drawing/2014/main" id="{DD4FA46D-D1FC-43C3-B7A8-7533831DAF8D}"/>
              </a:ext>
            </a:extLst>
          </p:cNvPr>
          <p:cNvSpPr txBox="1"/>
          <p:nvPr/>
        </p:nvSpPr>
        <p:spPr>
          <a:xfrm>
            <a:off x="9019125" y="2014323"/>
            <a:ext cx="1863011" cy="275332"/>
          </a:xfrm>
          <a:prstGeom prst="rect">
            <a:avLst/>
          </a:prstGeom>
          <a:noFill/>
        </p:spPr>
        <p:txBody>
          <a:bodyPr wrap="none" rtlCol="0">
            <a:spAutoFit/>
          </a:bodyPr>
          <a:lstStyle/>
          <a:p>
            <a:r>
              <a:rPr kumimoji="1" lang="en-US" altLang="zh-CN" sz="1189" dirty="0"/>
              <a:t>Generated</a:t>
            </a:r>
            <a:r>
              <a:rPr kumimoji="1" lang="zh-CN" altLang="en-US" sz="1189" dirty="0"/>
              <a:t> </a:t>
            </a:r>
            <a:r>
              <a:rPr kumimoji="1" lang="en-US" altLang="zh-CN" sz="1189" dirty="0"/>
              <a:t>cell</a:t>
            </a:r>
            <a:r>
              <a:rPr kumimoji="1" lang="zh-CN" altLang="en-US" sz="1189" dirty="0"/>
              <a:t> </a:t>
            </a:r>
            <a:r>
              <a:rPr kumimoji="1" lang="en-US" altLang="zh-CN" sz="1189" dirty="0"/>
              <a:t>expression</a:t>
            </a:r>
            <a:endParaRPr kumimoji="1" lang="zh-CN" altLang="en-US" sz="1189" dirty="0"/>
          </a:p>
        </p:txBody>
      </p:sp>
      <p:pic>
        <p:nvPicPr>
          <p:cNvPr id="24" name="Picture 6">
            <a:extLst>
              <a:ext uri="{FF2B5EF4-FFF2-40B4-BE49-F238E27FC236}">
                <a16:creationId xmlns:a16="http://schemas.microsoft.com/office/drawing/2014/main" id="{3A483567-7D01-7B81-D46E-F0C02BB0DCB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377" t="18815" r="66226" b="65210"/>
          <a:stretch/>
        </p:blipFill>
        <p:spPr bwMode="auto">
          <a:xfrm>
            <a:off x="3290100" y="991966"/>
            <a:ext cx="1176809" cy="960997"/>
          </a:xfrm>
          <a:prstGeom prst="rect">
            <a:avLst/>
          </a:prstGeom>
          <a:noFill/>
          <a:extLst>
            <a:ext uri="{909E8E84-426E-40DD-AFC4-6F175D3DCCD1}">
              <a14:hiddenFill xmlns:a14="http://schemas.microsoft.com/office/drawing/2010/main">
                <a:solidFill>
                  <a:srgbClr val="FFFFFF"/>
                </a:solidFill>
              </a14:hiddenFill>
            </a:ext>
          </a:extLst>
        </p:spPr>
      </p:pic>
      <p:sp>
        <p:nvSpPr>
          <p:cNvPr id="27" name="文本框 26">
            <a:extLst>
              <a:ext uri="{FF2B5EF4-FFF2-40B4-BE49-F238E27FC236}">
                <a16:creationId xmlns:a16="http://schemas.microsoft.com/office/drawing/2014/main" id="{D3332535-3810-0129-EE82-3B1EA7BDDE0A}"/>
              </a:ext>
            </a:extLst>
          </p:cNvPr>
          <p:cNvSpPr txBox="1"/>
          <p:nvPr/>
        </p:nvSpPr>
        <p:spPr>
          <a:xfrm>
            <a:off x="3046386" y="2023162"/>
            <a:ext cx="1664238" cy="275332"/>
          </a:xfrm>
          <a:prstGeom prst="rect">
            <a:avLst/>
          </a:prstGeom>
          <a:noFill/>
        </p:spPr>
        <p:txBody>
          <a:bodyPr wrap="none" rtlCol="0">
            <a:spAutoFit/>
          </a:bodyPr>
          <a:lstStyle/>
          <a:p>
            <a:r>
              <a:rPr kumimoji="1" lang="en-US" altLang="zh-CN" sz="1189" dirty="0"/>
              <a:t>Control</a:t>
            </a:r>
            <a:r>
              <a:rPr kumimoji="1" lang="zh-CN" altLang="en-US" sz="1189" dirty="0"/>
              <a:t> </a:t>
            </a:r>
            <a:r>
              <a:rPr kumimoji="1" lang="en-US" altLang="zh-CN" sz="1189" dirty="0"/>
              <a:t>cell</a:t>
            </a:r>
            <a:r>
              <a:rPr kumimoji="1" lang="zh-CN" altLang="en-US" sz="1189" dirty="0"/>
              <a:t> </a:t>
            </a:r>
            <a:r>
              <a:rPr kumimoji="1" lang="en-US" altLang="zh-CN" sz="1189" dirty="0"/>
              <a:t>expression</a:t>
            </a:r>
            <a:endParaRPr kumimoji="1" lang="zh-CN" altLang="en-US" sz="1189" dirty="0"/>
          </a:p>
        </p:txBody>
      </p:sp>
      <p:sp>
        <p:nvSpPr>
          <p:cNvPr id="28" name="文本框 27">
            <a:extLst>
              <a:ext uri="{FF2B5EF4-FFF2-40B4-BE49-F238E27FC236}">
                <a16:creationId xmlns:a16="http://schemas.microsoft.com/office/drawing/2014/main" id="{038D517E-F983-CCFF-B1D6-5ABFD1AED0CE}"/>
              </a:ext>
            </a:extLst>
          </p:cNvPr>
          <p:cNvSpPr txBox="1"/>
          <p:nvPr/>
        </p:nvSpPr>
        <p:spPr>
          <a:xfrm>
            <a:off x="4710624" y="1237450"/>
            <a:ext cx="3693409" cy="738664"/>
          </a:xfrm>
          <a:prstGeom prst="rect">
            <a:avLst/>
          </a:prstGeom>
          <a:noFill/>
        </p:spPr>
        <p:txBody>
          <a:bodyPr wrap="square" rtlCol="0">
            <a:spAutoFit/>
          </a:bodyPr>
          <a:lstStyle/>
          <a:p>
            <a:r>
              <a:rPr lang="en" altLang="zh-CN" sz="1400" b="1" dirty="0">
                <a:latin typeface="Calibri" panose="020F0502020204030204" pitchFamily="34" charset="0"/>
                <a:cs typeface="Calibri" panose="020F0502020204030204" pitchFamily="34" charset="0"/>
              </a:rPr>
              <a:t>Cell {</a:t>
            </a:r>
            <a:r>
              <a:rPr lang="en" altLang="zh-CN" sz="1400" b="1" dirty="0" err="1">
                <a:latin typeface="Calibri" panose="020F0502020204030204" pitchFamily="34" charset="0"/>
                <a:cs typeface="Calibri" panose="020F0502020204030204" pitchFamily="34" charset="0"/>
              </a:rPr>
              <a:t>cell_name</a:t>
            </a:r>
            <a:r>
              <a:rPr lang="en" altLang="zh-CN" sz="1400" b="1" dirty="0">
                <a:latin typeface="Calibri" panose="020F0502020204030204" pitchFamily="34" charset="0"/>
                <a:cs typeface="Calibri" panose="020F0502020204030204" pitchFamily="34" charset="0"/>
              </a:rPr>
              <a:t>} (cell line {</a:t>
            </a:r>
            <a:r>
              <a:rPr lang="en" altLang="zh-CN" sz="1400" b="1" dirty="0" err="1">
                <a:latin typeface="Calibri" panose="020F0502020204030204" pitchFamily="34" charset="0"/>
                <a:cs typeface="Calibri" panose="020F0502020204030204" pitchFamily="34" charset="0"/>
              </a:rPr>
              <a:t>cell_line</a:t>
            </a:r>
            <a:r>
              <a:rPr lang="en" altLang="zh-CN" sz="1400" b="1" dirty="0">
                <a:latin typeface="Calibri" panose="020F0502020204030204" pitchFamily="34" charset="0"/>
                <a:cs typeface="Calibri" panose="020F0502020204030204" pitchFamily="34" charset="0"/>
              </a:rPr>
              <a:t>}) from {tissue} organ, in {phase} phase, was treated with {</a:t>
            </a:r>
            <a:r>
              <a:rPr lang="en" altLang="zh-CN" sz="1400" b="1" dirty="0" err="1">
                <a:latin typeface="Calibri" panose="020F0502020204030204" pitchFamily="34" charset="0"/>
                <a:cs typeface="Calibri" panose="020F0502020204030204" pitchFamily="34" charset="0"/>
              </a:rPr>
              <a:t>drug_info</a:t>
            </a:r>
            <a:r>
              <a:rPr lang="en" altLang="zh-CN" sz="1400" b="1" dirty="0">
                <a:latin typeface="Calibri" panose="020F0502020204030204" pitchFamily="34" charset="0"/>
                <a:cs typeface="Calibri" panose="020F0502020204030204" pitchFamily="34" charset="0"/>
              </a:rPr>
              <a:t>}, targeting {targets}.</a:t>
            </a:r>
          </a:p>
        </p:txBody>
      </p:sp>
      <p:sp>
        <p:nvSpPr>
          <p:cNvPr id="15" name="文本框 14">
            <a:extLst>
              <a:ext uri="{FF2B5EF4-FFF2-40B4-BE49-F238E27FC236}">
                <a16:creationId xmlns:a16="http://schemas.microsoft.com/office/drawing/2014/main" id="{96E939E6-1111-9327-A6F2-C17BF1778D16}"/>
              </a:ext>
            </a:extLst>
          </p:cNvPr>
          <p:cNvSpPr txBox="1"/>
          <p:nvPr/>
        </p:nvSpPr>
        <p:spPr>
          <a:xfrm>
            <a:off x="5643047" y="3429000"/>
            <a:ext cx="2583400" cy="2867260"/>
          </a:xfrm>
          <a:prstGeom prst="rect">
            <a:avLst/>
          </a:prstGeom>
          <a:noFill/>
        </p:spPr>
        <p:txBody>
          <a:bodyPr wrap="none" rtlCol="0">
            <a:spAutoFit/>
          </a:bodyPr>
          <a:lstStyle/>
          <a:p>
            <a:r>
              <a:rPr kumimoji="1" lang="en-US" altLang="zh-CN" sz="1387" b="1" dirty="0">
                <a:latin typeface="Calibri" panose="020F0502020204030204" pitchFamily="34" charset="0"/>
                <a:cs typeface="Calibri" panose="020F0502020204030204" pitchFamily="34" charset="0"/>
              </a:rPr>
              <a:t>Log-transform </a:t>
            </a:r>
          </a:p>
          <a:p>
            <a:r>
              <a:rPr kumimoji="1" lang="en-US" altLang="zh-CN" sz="1387" b="1" dirty="0">
                <a:latin typeface="Calibri" panose="020F0502020204030204" pitchFamily="34" charset="0"/>
                <a:cs typeface="Calibri" panose="020F0502020204030204" pitchFamily="34" charset="0"/>
              </a:rPr>
              <a:t>PCC=0.893</a:t>
            </a:r>
          </a:p>
          <a:p>
            <a:r>
              <a:rPr kumimoji="1" lang="en-US" altLang="zh-CN" sz="1387" b="1" dirty="0">
                <a:latin typeface="Calibri" panose="020F0502020204030204" pitchFamily="34" charset="0"/>
                <a:cs typeface="Calibri" panose="020F0502020204030204" pitchFamily="34" charset="0"/>
              </a:rPr>
              <a:t>SPCC=0.927</a:t>
            </a:r>
          </a:p>
          <a:p>
            <a:r>
              <a:rPr kumimoji="1" lang="en-US" altLang="zh-CN" sz="1387" b="1" dirty="0">
                <a:latin typeface="Calibri" panose="020F0502020204030204" pitchFamily="34" charset="0"/>
                <a:cs typeface="Calibri" panose="020F0502020204030204" pitchFamily="34" charset="0"/>
              </a:rPr>
              <a:t>Delta PCC=0.712</a:t>
            </a:r>
          </a:p>
          <a:p>
            <a:r>
              <a:rPr kumimoji="1" lang="en-US" altLang="zh-CN" sz="1387" b="1" dirty="0">
                <a:latin typeface="Calibri" panose="020F0502020204030204" pitchFamily="34" charset="0"/>
                <a:cs typeface="Calibri" panose="020F0502020204030204" pitchFamily="34" charset="0"/>
              </a:rPr>
              <a:t>Delta MAE=0.342</a:t>
            </a:r>
          </a:p>
          <a:p>
            <a:r>
              <a:rPr kumimoji="1" lang="en-US" altLang="zh-CN" sz="1387" b="1" dirty="0">
                <a:latin typeface="Calibri" panose="020F0502020204030204" pitchFamily="34" charset="0"/>
                <a:cs typeface="Calibri" panose="020F0502020204030204" pitchFamily="34" charset="0"/>
              </a:rPr>
              <a:t>DEG_AUPRC=0.916</a:t>
            </a:r>
          </a:p>
          <a:p>
            <a:r>
              <a:rPr kumimoji="1" lang="en-US" altLang="zh-CN" sz="1387" b="1" dirty="0">
                <a:latin typeface="Calibri" panose="020F0502020204030204" pitchFamily="34" charset="0"/>
                <a:cs typeface="Calibri" panose="020F0502020204030204" pitchFamily="34" charset="0"/>
              </a:rPr>
              <a:t>DEG_Top20_overlap_acc=0.401</a:t>
            </a:r>
          </a:p>
          <a:p>
            <a:r>
              <a:rPr kumimoji="1" lang="en-US" altLang="zh-CN" sz="1387" b="1" dirty="0">
                <a:latin typeface="Calibri" panose="020F0502020204030204" pitchFamily="34" charset="0"/>
                <a:cs typeface="Calibri" panose="020F0502020204030204" pitchFamily="34" charset="0"/>
              </a:rPr>
              <a:t>DEG_Top50_overlap_acc=0.466</a:t>
            </a:r>
          </a:p>
          <a:p>
            <a:r>
              <a:rPr kumimoji="1" lang="en-US" altLang="zh-CN" sz="1387" b="1" dirty="0">
                <a:latin typeface="Calibri" panose="020F0502020204030204" pitchFamily="34" charset="0"/>
                <a:cs typeface="Calibri" panose="020F0502020204030204" pitchFamily="34" charset="0"/>
              </a:rPr>
              <a:t>DEG_Top100_overlap_acc=0.527</a:t>
            </a:r>
          </a:p>
          <a:p>
            <a:r>
              <a:rPr kumimoji="1" lang="en-US" altLang="zh-CN" sz="1387" b="1" dirty="0">
                <a:latin typeface="Calibri" panose="020F0502020204030204" pitchFamily="34" charset="0"/>
                <a:cs typeface="Calibri" panose="020F0502020204030204" pitchFamily="34" charset="0"/>
              </a:rPr>
              <a:t>DEG_Jaccard_top100=0.361</a:t>
            </a:r>
          </a:p>
          <a:p>
            <a:r>
              <a:rPr kumimoji="1" lang="en-US" altLang="zh-CN" sz="1387" b="1" dirty="0">
                <a:latin typeface="Calibri" panose="020F0502020204030204" pitchFamily="34" charset="0"/>
                <a:cs typeface="Calibri" panose="020F0502020204030204" pitchFamily="34" charset="0"/>
              </a:rPr>
              <a:t>LogFC_SPCC=0.647</a:t>
            </a:r>
          </a:p>
          <a:p>
            <a:r>
              <a:rPr kumimoji="1" lang="en-US" altLang="zh-CN" sz="1387" b="1" dirty="0" err="1">
                <a:latin typeface="Calibri" panose="020F0502020204030204" pitchFamily="34" charset="0"/>
                <a:cs typeface="Calibri" panose="020F0502020204030204" pitchFamily="34" charset="0"/>
              </a:rPr>
              <a:t>SPCC_delta_effect</a:t>
            </a:r>
            <a:r>
              <a:rPr kumimoji="1" lang="en-US" altLang="zh-CN" sz="1387" b="1" dirty="0">
                <a:latin typeface="Calibri" panose="020F0502020204030204" pitchFamily="34" charset="0"/>
                <a:cs typeface="Calibri" panose="020F0502020204030204" pitchFamily="34" charset="0"/>
              </a:rPr>
              <a:t>=  0.634</a:t>
            </a:r>
          </a:p>
          <a:p>
            <a:r>
              <a:rPr kumimoji="1" lang="en-US" altLang="zh-CN" sz="1387" b="1" dirty="0">
                <a:latin typeface="Calibri" panose="020F0502020204030204" pitchFamily="34" charset="0"/>
                <a:cs typeface="Calibri" panose="020F0502020204030204" pitchFamily="34" charset="0"/>
              </a:rPr>
              <a:t>PDS=0.701</a:t>
            </a:r>
          </a:p>
        </p:txBody>
      </p:sp>
      <p:sp>
        <p:nvSpPr>
          <p:cNvPr id="16" name="文本框 15">
            <a:extLst>
              <a:ext uri="{FF2B5EF4-FFF2-40B4-BE49-F238E27FC236}">
                <a16:creationId xmlns:a16="http://schemas.microsoft.com/office/drawing/2014/main" id="{3B8C6BE7-E675-D182-185A-491AAE89C941}"/>
              </a:ext>
            </a:extLst>
          </p:cNvPr>
          <p:cNvSpPr txBox="1"/>
          <p:nvPr/>
        </p:nvSpPr>
        <p:spPr>
          <a:xfrm>
            <a:off x="8455432" y="3429000"/>
            <a:ext cx="2583400" cy="2867260"/>
          </a:xfrm>
          <a:prstGeom prst="rect">
            <a:avLst/>
          </a:prstGeom>
          <a:noFill/>
        </p:spPr>
        <p:txBody>
          <a:bodyPr wrap="none" rtlCol="0">
            <a:spAutoFit/>
          </a:bodyPr>
          <a:lstStyle/>
          <a:p>
            <a:r>
              <a:rPr kumimoji="1" lang="en-US" altLang="zh-CN" sz="1387" b="1" dirty="0">
                <a:latin typeface="Calibri" panose="020F0502020204030204" pitchFamily="34" charset="0"/>
                <a:cs typeface="Calibri" panose="020F0502020204030204" pitchFamily="34" charset="0"/>
              </a:rPr>
              <a:t>Stage1Continue-Log-transform </a:t>
            </a:r>
          </a:p>
          <a:p>
            <a:r>
              <a:rPr kumimoji="1" lang="en-US" altLang="zh-CN" sz="1387" b="1" dirty="0">
                <a:latin typeface="Calibri" panose="020F0502020204030204" pitchFamily="34" charset="0"/>
                <a:cs typeface="Calibri" panose="020F0502020204030204" pitchFamily="34" charset="0"/>
              </a:rPr>
              <a:t>PCC=0.893</a:t>
            </a:r>
          </a:p>
          <a:p>
            <a:r>
              <a:rPr kumimoji="1" lang="en-US" altLang="zh-CN" sz="1387" b="1" dirty="0">
                <a:latin typeface="Calibri" panose="020F0502020204030204" pitchFamily="34" charset="0"/>
                <a:cs typeface="Calibri" panose="020F0502020204030204" pitchFamily="34" charset="0"/>
              </a:rPr>
              <a:t>SPCC=0.927</a:t>
            </a:r>
          </a:p>
          <a:p>
            <a:r>
              <a:rPr kumimoji="1" lang="en-US" altLang="zh-CN" sz="1387" b="1" dirty="0">
                <a:latin typeface="Calibri" panose="020F0502020204030204" pitchFamily="34" charset="0"/>
                <a:cs typeface="Calibri" panose="020F0502020204030204" pitchFamily="34" charset="0"/>
              </a:rPr>
              <a:t>Delta PCC=0.712</a:t>
            </a:r>
          </a:p>
          <a:p>
            <a:r>
              <a:rPr kumimoji="1" lang="en-US" altLang="zh-CN" sz="1387" b="1" dirty="0">
                <a:latin typeface="Calibri" panose="020F0502020204030204" pitchFamily="34" charset="0"/>
                <a:cs typeface="Calibri" panose="020F0502020204030204" pitchFamily="34" charset="0"/>
              </a:rPr>
              <a:t>Delta MAE=0.342</a:t>
            </a:r>
          </a:p>
          <a:p>
            <a:r>
              <a:rPr kumimoji="1" lang="en-US" altLang="zh-CN" sz="1387" b="1" dirty="0">
                <a:latin typeface="Calibri" panose="020F0502020204030204" pitchFamily="34" charset="0"/>
                <a:cs typeface="Calibri" panose="020F0502020204030204" pitchFamily="34" charset="0"/>
              </a:rPr>
              <a:t>DEG_AUPRC=0.915</a:t>
            </a:r>
          </a:p>
          <a:p>
            <a:r>
              <a:rPr kumimoji="1" lang="en-US" altLang="zh-CN" sz="1387" b="1" dirty="0">
                <a:latin typeface="Calibri" panose="020F0502020204030204" pitchFamily="34" charset="0"/>
                <a:cs typeface="Calibri" panose="020F0502020204030204" pitchFamily="34" charset="0"/>
              </a:rPr>
              <a:t>DEG_Top20_overlap_acc=0.401</a:t>
            </a:r>
          </a:p>
          <a:p>
            <a:r>
              <a:rPr kumimoji="1" lang="en-US" altLang="zh-CN" sz="1387" b="1" dirty="0">
                <a:latin typeface="Calibri" panose="020F0502020204030204" pitchFamily="34" charset="0"/>
                <a:cs typeface="Calibri" panose="020F0502020204030204" pitchFamily="34" charset="0"/>
              </a:rPr>
              <a:t>DEG_Top50_overlap_acc=0.465</a:t>
            </a:r>
          </a:p>
          <a:p>
            <a:r>
              <a:rPr kumimoji="1" lang="en-US" altLang="zh-CN" sz="1387" b="1" dirty="0">
                <a:latin typeface="Calibri" panose="020F0502020204030204" pitchFamily="34" charset="0"/>
                <a:cs typeface="Calibri" panose="020F0502020204030204" pitchFamily="34" charset="0"/>
              </a:rPr>
              <a:t>DEG_Top100_overlap_acc=0.527</a:t>
            </a:r>
          </a:p>
          <a:p>
            <a:r>
              <a:rPr kumimoji="1" lang="en-US" altLang="zh-CN" sz="1387" b="1" dirty="0">
                <a:latin typeface="Calibri" panose="020F0502020204030204" pitchFamily="34" charset="0"/>
                <a:cs typeface="Calibri" panose="020F0502020204030204" pitchFamily="34" charset="0"/>
              </a:rPr>
              <a:t>DEG_Jaccard_top100=0.36</a:t>
            </a:r>
          </a:p>
          <a:p>
            <a:r>
              <a:rPr kumimoji="1" lang="en-US" altLang="zh-CN" sz="1387" b="1" dirty="0">
                <a:latin typeface="Calibri" panose="020F0502020204030204" pitchFamily="34" charset="0"/>
                <a:cs typeface="Calibri" panose="020F0502020204030204" pitchFamily="34" charset="0"/>
              </a:rPr>
              <a:t>LogFC_SPCC=0.645</a:t>
            </a:r>
          </a:p>
          <a:p>
            <a:r>
              <a:rPr kumimoji="1" lang="en-US" altLang="zh-CN" sz="1387" b="1" dirty="0" err="1">
                <a:latin typeface="Calibri" panose="020F0502020204030204" pitchFamily="34" charset="0"/>
                <a:cs typeface="Calibri" panose="020F0502020204030204" pitchFamily="34" charset="0"/>
              </a:rPr>
              <a:t>SPCC_delta_effect</a:t>
            </a:r>
            <a:r>
              <a:rPr kumimoji="1" lang="en-US" altLang="zh-CN" sz="1387" b="1" dirty="0">
                <a:latin typeface="Calibri" panose="020F0502020204030204" pitchFamily="34" charset="0"/>
                <a:cs typeface="Calibri" panose="020F0502020204030204" pitchFamily="34" charset="0"/>
              </a:rPr>
              <a:t>=  0.633</a:t>
            </a:r>
          </a:p>
          <a:p>
            <a:r>
              <a:rPr kumimoji="1" lang="en-US" altLang="zh-CN" sz="1387" b="1" dirty="0">
                <a:latin typeface="Calibri" panose="020F0502020204030204" pitchFamily="34" charset="0"/>
                <a:cs typeface="Calibri" panose="020F0502020204030204" pitchFamily="34" charset="0"/>
              </a:rPr>
              <a:t>PDS=0.699</a:t>
            </a:r>
          </a:p>
        </p:txBody>
      </p:sp>
    </p:spTree>
    <p:extLst>
      <p:ext uri="{BB962C8B-B14F-4D97-AF65-F5344CB8AC3E}">
        <p14:creationId xmlns:p14="http://schemas.microsoft.com/office/powerpoint/2010/main" val="4241426875"/>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50B4B-8FBF-7867-15A9-13691E38C8F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CDCDBC1-C2C2-D84E-1375-7B913E83E929}"/>
              </a:ext>
            </a:extLst>
          </p:cNvPr>
          <p:cNvSpPr txBox="1"/>
          <p:nvPr/>
        </p:nvSpPr>
        <p:spPr>
          <a:xfrm>
            <a:off x="384115" y="158106"/>
            <a:ext cx="5324542" cy="461215"/>
          </a:xfrm>
          <a:prstGeom prst="rect">
            <a:avLst/>
          </a:prstGeom>
        </p:spPr>
        <p:txBody>
          <a:bodyPr vert="horz" wrap="square" lIns="0" tIns="33972" rIns="0" bIns="0" rtlCol="0">
            <a:spAutoFit/>
          </a:bodyPr>
          <a:lstStyle/>
          <a:p>
            <a:pPr marL="25164">
              <a:spcBef>
                <a:spcPts val="267"/>
              </a:spcBef>
            </a:pPr>
            <a:r>
              <a:rPr lang="en-US" altLang="zh-CN" sz="2774" spc="-20" dirty="0">
                <a:solidFill>
                  <a:srgbClr val="FFFFFF"/>
                </a:solidFill>
                <a:latin typeface="Gill Sans MT"/>
                <a:cs typeface="Gill Sans MT"/>
              </a:rPr>
              <a:t>Perturbed-Cell</a:t>
            </a:r>
            <a:r>
              <a:rPr lang="en" sz="2774" spc="-20" dirty="0">
                <a:solidFill>
                  <a:srgbClr val="FFFFFF"/>
                </a:solidFill>
                <a:latin typeface="Gill Sans MT"/>
                <a:cs typeface="Gill Sans MT"/>
              </a:rPr>
              <a:t> generation</a:t>
            </a:r>
          </a:p>
        </p:txBody>
      </p:sp>
      <p:grpSp>
        <p:nvGrpSpPr>
          <p:cNvPr id="3" name="object 3">
            <a:extLst>
              <a:ext uri="{FF2B5EF4-FFF2-40B4-BE49-F238E27FC236}">
                <a16:creationId xmlns:a16="http://schemas.microsoft.com/office/drawing/2014/main" id="{9EAD227B-A043-17CA-01E6-86F776185C48}"/>
              </a:ext>
            </a:extLst>
          </p:cNvPr>
          <p:cNvGrpSpPr/>
          <p:nvPr/>
        </p:nvGrpSpPr>
        <p:grpSpPr>
          <a:xfrm>
            <a:off x="0" y="6667139"/>
            <a:ext cx="12192000" cy="181181"/>
            <a:chOff x="0" y="3364623"/>
            <a:chExt cx="4608195" cy="91440"/>
          </a:xfrm>
        </p:grpSpPr>
        <p:sp>
          <p:nvSpPr>
            <p:cNvPr id="4" name="object 4">
              <a:extLst>
                <a:ext uri="{FF2B5EF4-FFF2-40B4-BE49-F238E27FC236}">
                  <a16:creationId xmlns:a16="http://schemas.microsoft.com/office/drawing/2014/main" id="{DED3153D-3ECE-D764-6587-B6252BB1D42B}"/>
                </a:ext>
              </a:extLst>
            </p:cNvPr>
            <p:cNvSpPr/>
            <p:nvPr/>
          </p:nvSpPr>
          <p:spPr>
            <a:xfrm>
              <a:off x="0" y="3364623"/>
              <a:ext cx="1536065" cy="91440"/>
            </a:xfrm>
            <a:custGeom>
              <a:avLst/>
              <a:gdLst/>
              <a:ahLst/>
              <a:cxnLst/>
              <a:rect l="l" t="t" r="r" b="b"/>
              <a:pathLst>
                <a:path w="1536065" h="91439">
                  <a:moveTo>
                    <a:pt x="1535976" y="0"/>
                  </a:moveTo>
                  <a:lnTo>
                    <a:pt x="0" y="0"/>
                  </a:lnTo>
                  <a:lnTo>
                    <a:pt x="0" y="91376"/>
                  </a:lnTo>
                  <a:lnTo>
                    <a:pt x="1535976" y="91376"/>
                  </a:lnTo>
                  <a:lnTo>
                    <a:pt x="1535976" y="0"/>
                  </a:lnTo>
                  <a:close/>
                </a:path>
              </a:pathLst>
            </a:custGeom>
            <a:solidFill>
              <a:srgbClr val="C7D1C5"/>
            </a:solidFill>
          </p:spPr>
          <p:txBody>
            <a:bodyPr wrap="square" lIns="0" tIns="0" rIns="0" bIns="0" rtlCol="0"/>
            <a:lstStyle/>
            <a:p>
              <a:endParaRPr sz="3567"/>
            </a:p>
          </p:txBody>
        </p:sp>
        <p:sp>
          <p:nvSpPr>
            <p:cNvPr id="5" name="object 5">
              <a:extLst>
                <a:ext uri="{FF2B5EF4-FFF2-40B4-BE49-F238E27FC236}">
                  <a16:creationId xmlns:a16="http://schemas.microsoft.com/office/drawing/2014/main" id="{78DA0BC8-8D0E-D999-4CC8-866E75F3B954}"/>
                </a:ext>
              </a:extLst>
            </p:cNvPr>
            <p:cNvSpPr/>
            <p:nvPr/>
          </p:nvSpPr>
          <p:spPr>
            <a:xfrm>
              <a:off x="1535976"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00A6AA"/>
            </a:solidFill>
          </p:spPr>
          <p:txBody>
            <a:bodyPr wrap="square" lIns="0" tIns="0" rIns="0" bIns="0" rtlCol="0"/>
            <a:lstStyle/>
            <a:p>
              <a:endParaRPr sz="3567"/>
            </a:p>
          </p:txBody>
        </p:sp>
        <p:sp>
          <p:nvSpPr>
            <p:cNvPr id="6" name="object 6">
              <a:extLst>
                <a:ext uri="{FF2B5EF4-FFF2-40B4-BE49-F238E27FC236}">
                  <a16:creationId xmlns:a16="http://schemas.microsoft.com/office/drawing/2014/main" id="{6E3CCDFF-E969-9896-9869-69A1116B509A}"/>
                </a:ext>
              </a:extLst>
            </p:cNvPr>
            <p:cNvSpPr/>
            <p:nvPr/>
          </p:nvSpPr>
          <p:spPr>
            <a:xfrm>
              <a:off x="3071952" y="3364623"/>
              <a:ext cx="1536065" cy="91440"/>
            </a:xfrm>
            <a:custGeom>
              <a:avLst/>
              <a:gdLst/>
              <a:ahLst/>
              <a:cxnLst/>
              <a:rect l="l" t="t" r="r" b="b"/>
              <a:pathLst>
                <a:path w="1536064" h="91439">
                  <a:moveTo>
                    <a:pt x="1535976" y="0"/>
                  </a:moveTo>
                  <a:lnTo>
                    <a:pt x="0" y="0"/>
                  </a:lnTo>
                  <a:lnTo>
                    <a:pt x="0" y="91376"/>
                  </a:lnTo>
                  <a:lnTo>
                    <a:pt x="1535976" y="91376"/>
                  </a:lnTo>
                  <a:lnTo>
                    <a:pt x="1535976" y="0"/>
                  </a:lnTo>
                  <a:close/>
                </a:path>
              </a:pathLst>
            </a:custGeom>
            <a:solidFill>
              <a:srgbClr val="4C4E52"/>
            </a:solidFill>
          </p:spPr>
          <p:txBody>
            <a:bodyPr wrap="square" lIns="0" tIns="0" rIns="0" bIns="0" rtlCol="0"/>
            <a:lstStyle/>
            <a:p>
              <a:endParaRPr sz="3567"/>
            </a:p>
          </p:txBody>
        </p:sp>
      </p:grpSp>
      <p:sp>
        <p:nvSpPr>
          <p:cNvPr id="7" name="object 7">
            <a:extLst>
              <a:ext uri="{FF2B5EF4-FFF2-40B4-BE49-F238E27FC236}">
                <a16:creationId xmlns:a16="http://schemas.microsoft.com/office/drawing/2014/main" id="{FFA45B7C-5CFE-7479-7422-F9BD413871E9}"/>
              </a:ext>
            </a:extLst>
          </p:cNvPr>
          <p:cNvSpPr txBox="1">
            <a:spLocks noGrp="1"/>
          </p:cNvSpPr>
          <p:nvPr>
            <p:ph type="ftr" sz="quarter" idx="5"/>
          </p:nvPr>
        </p:nvSpPr>
        <p:spPr>
          <a:xfrm>
            <a:off x="2774341" y="6677624"/>
            <a:ext cx="579372" cy="141064"/>
          </a:xfrm>
          <a:prstGeom prst="rect">
            <a:avLst/>
          </a:prstGeom>
        </p:spPr>
        <p:txBody>
          <a:bodyPr vert="horz" wrap="square" lIns="0" tIns="0" rIns="0" bIns="0" rtlCol="0" anchor="ctr">
            <a:spAutoFit/>
          </a:bodyPr>
          <a:lstStyle/>
          <a:p>
            <a:pPr marL="25164">
              <a:lnSpc>
                <a:spcPts val="1149"/>
              </a:lnSpc>
            </a:pPr>
            <a:r>
              <a:rPr lang="en-US" altLang="zh-CN" spc="-20" dirty="0"/>
              <a:t>Results</a:t>
            </a:r>
            <a:endParaRPr spc="-20" dirty="0"/>
          </a:p>
        </p:txBody>
      </p:sp>
      <p:sp>
        <p:nvSpPr>
          <p:cNvPr id="10" name="object 10">
            <a:extLst>
              <a:ext uri="{FF2B5EF4-FFF2-40B4-BE49-F238E27FC236}">
                <a16:creationId xmlns:a16="http://schemas.microsoft.com/office/drawing/2014/main" id="{28A2800B-0088-38DE-8CD3-310C7744BF6E}"/>
              </a:ext>
            </a:extLst>
          </p:cNvPr>
          <p:cNvSpPr txBox="1">
            <a:spLocks noGrp="1"/>
          </p:cNvSpPr>
          <p:nvPr>
            <p:ph type="sldNum" sz="quarter" idx="7"/>
          </p:nvPr>
        </p:nvSpPr>
        <p:spPr>
          <a:xfrm>
            <a:off x="10255925" y="6677624"/>
            <a:ext cx="520595" cy="141064"/>
          </a:xfrm>
          <a:prstGeom prst="rect">
            <a:avLst/>
          </a:prstGeom>
        </p:spPr>
        <p:txBody>
          <a:bodyPr vert="horz" wrap="square" lIns="0" tIns="0" rIns="0" bIns="0" rtlCol="0" anchor="ctr">
            <a:spAutoFit/>
          </a:bodyPr>
          <a:lstStyle/>
          <a:p>
            <a:pPr marL="75483">
              <a:lnSpc>
                <a:spcPts val="1149"/>
              </a:lnSpc>
            </a:pPr>
            <a:fld id="{81D60167-4931-47E6-BA6A-407CBD079E47}" type="slidenum">
              <a:rPr dirty="0"/>
              <a:pPr marL="75483">
                <a:lnSpc>
                  <a:spcPts val="1149"/>
                </a:lnSpc>
              </a:pPr>
              <a:t>7</a:t>
            </a:fld>
            <a:r>
              <a:rPr spc="30" dirty="0"/>
              <a:t> </a:t>
            </a:r>
            <a:r>
              <a:rPr spc="139" dirty="0"/>
              <a:t>/</a:t>
            </a:r>
            <a:r>
              <a:rPr spc="30" dirty="0"/>
              <a:t> </a:t>
            </a:r>
            <a:r>
              <a:rPr lang="en-US" altLang="zh-CN" spc="-99" dirty="0"/>
              <a:t>31</a:t>
            </a:r>
            <a:endParaRPr spc="-99" dirty="0"/>
          </a:p>
        </p:txBody>
      </p:sp>
      <p:sp>
        <p:nvSpPr>
          <p:cNvPr id="22" name="object 8">
            <a:extLst>
              <a:ext uri="{FF2B5EF4-FFF2-40B4-BE49-F238E27FC236}">
                <a16:creationId xmlns:a16="http://schemas.microsoft.com/office/drawing/2014/main" id="{D31018FC-7FA5-D065-62BE-38E61C5F92E4}"/>
              </a:ext>
            </a:extLst>
          </p:cNvPr>
          <p:cNvSpPr txBox="1"/>
          <p:nvPr/>
        </p:nvSpPr>
        <p:spPr>
          <a:xfrm>
            <a:off x="5643047" y="6671927"/>
            <a:ext cx="826783" cy="141064"/>
          </a:xfrm>
          <a:prstGeom prst="rect">
            <a:avLst/>
          </a:prstGeom>
        </p:spPr>
        <p:txBody>
          <a:bodyPr vert="horz" wrap="square" lIns="0" tIns="0" rIns="0" bIns="0" rtlCol="0">
            <a:spAutoFit/>
          </a:bodyPr>
          <a:lstStyle/>
          <a:p>
            <a:pPr marL="25164">
              <a:lnSpc>
                <a:spcPts val="1149"/>
              </a:lnSpc>
            </a:pPr>
            <a:r>
              <a:rPr lang="en-US" altLang="zh-CN" sz="991" spc="-20" dirty="0">
                <a:solidFill>
                  <a:schemeClr val="tx2"/>
                </a:solidFill>
                <a:latin typeface="Tahoma"/>
                <a:cs typeface="Tahoma"/>
              </a:rPr>
              <a:t>SpeciesLLM</a:t>
            </a:r>
            <a:endParaRPr sz="991" dirty="0">
              <a:solidFill>
                <a:schemeClr val="tx2"/>
              </a:solidFill>
              <a:latin typeface="Tahoma"/>
              <a:cs typeface="Tahoma"/>
            </a:endParaRPr>
          </a:p>
        </p:txBody>
      </p:sp>
      <p:sp>
        <p:nvSpPr>
          <p:cNvPr id="23" name="矩形 22">
            <a:extLst>
              <a:ext uri="{FF2B5EF4-FFF2-40B4-BE49-F238E27FC236}">
                <a16:creationId xmlns:a16="http://schemas.microsoft.com/office/drawing/2014/main" id="{5FD92D54-A016-F017-2709-4B8D1F1E0A6F}"/>
              </a:ext>
            </a:extLst>
          </p:cNvPr>
          <p:cNvSpPr/>
          <p:nvPr/>
        </p:nvSpPr>
        <p:spPr>
          <a:xfrm>
            <a:off x="7152892" y="6448693"/>
            <a:ext cx="4982489" cy="1811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3567"/>
          </a:p>
        </p:txBody>
      </p:sp>
      <p:sp>
        <p:nvSpPr>
          <p:cNvPr id="14" name="object 13">
            <a:extLst>
              <a:ext uri="{FF2B5EF4-FFF2-40B4-BE49-F238E27FC236}">
                <a16:creationId xmlns:a16="http://schemas.microsoft.com/office/drawing/2014/main" id="{5D6A61D5-032A-FFB9-0B1B-7FEED7280FA9}"/>
              </a:ext>
            </a:extLst>
          </p:cNvPr>
          <p:cNvSpPr txBox="1">
            <a:spLocks/>
          </p:cNvSpPr>
          <p:nvPr/>
        </p:nvSpPr>
        <p:spPr>
          <a:xfrm>
            <a:off x="8872151" y="6671926"/>
            <a:ext cx="1149446" cy="141064"/>
          </a:xfrm>
          <a:prstGeom prst="rect">
            <a:avLst/>
          </a:prstGeom>
        </p:spPr>
        <p:txBody>
          <a:bodyPr vert="horz" wrap="square" lIns="0" tIns="0" rIns="0" bIns="0" rtlCol="0">
            <a:spAutoFit/>
          </a:bodyPr>
          <a:lstStyle>
            <a:defPPr>
              <a:defRPr kern="0"/>
            </a:defPPr>
            <a:lvl1pPr>
              <a:defRPr sz="500" b="0" i="0">
                <a:solidFill>
                  <a:schemeClr val="bg1"/>
                </a:solidFill>
                <a:latin typeface="Tahoma"/>
                <a:cs typeface="Tahoma"/>
              </a:defRPr>
            </a:lvl1pPr>
          </a:lstStyle>
          <a:p>
            <a:pPr marL="25164">
              <a:lnSpc>
                <a:spcPts val="1149"/>
              </a:lnSpc>
            </a:pPr>
            <a:r>
              <a:rPr lang="en-US" altLang="zh-CN" sz="991" dirty="0"/>
              <a:t>September</a:t>
            </a:r>
            <a:r>
              <a:rPr lang="en-US" sz="991" spc="-40" dirty="0"/>
              <a:t> </a:t>
            </a:r>
            <a:r>
              <a:rPr lang="en-US" altLang="zh-CN" sz="991" spc="-40" dirty="0"/>
              <a:t>18</a:t>
            </a:r>
            <a:r>
              <a:rPr lang="en-US" sz="991" dirty="0"/>
              <a:t>,</a:t>
            </a:r>
            <a:r>
              <a:rPr lang="en-US" sz="991" spc="-30" dirty="0"/>
              <a:t> </a:t>
            </a:r>
            <a:r>
              <a:rPr lang="en-US" sz="991" spc="-40" dirty="0"/>
              <a:t>202</a:t>
            </a:r>
            <a:r>
              <a:rPr lang="en-US" altLang="zh-CN" sz="991" spc="-40" dirty="0"/>
              <a:t>5</a:t>
            </a:r>
            <a:endParaRPr lang="en-US" sz="991" spc="-40" dirty="0"/>
          </a:p>
        </p:txBody>
      </p:sp>
      <p:sp>
        <p:nvSpPr>
          <p:cNvPr id="11" name="文本框 10">
            <a:extLst>
              <a:ext uri="{FF2B5EF4-FFF2-40B4-BE49-F238E27FC236}">
                <a16:creationId xmlns:a16="http://schemas.microsoft.com/office/drawing/2014/main" id="{9B2BCC0E-50CA-8E5C-AEE9-CE95BBC2A9BC}"/>
              </a:ext>
            </a:extLst>
          </p:cNvPr>
          <p:cNvSpPr txBox="1"/>
          <p:nvPr/>
        </p:nvSpPr>
        <p:spPr>
          <a:xfrm>
            <a:off x="3973928" y="3423526"/>
            <a:ext cx="2583400" cy="2440348"/>
          </a:xfrm>
          <a:prstGeom prst="rect">
            <a:avLst/>
          </a:prstGeom>
          <a:noFill/>
        </p:spPr>
        <p:txBody>
          <a:bodyPr wrap="none" rtlCol="0">
            <a:spAutoFit/>
          </a:bodyPr>
          <a:lstStyle/>
          <a:p>
            <a:r>
              <a:rPr kumimoji="1" lang="en-US" altLang="zh-CN" sz="1387" b="1" dirty="0">
                <a:latin typeface="Calibri" panose="020F0502020204030204" pitchFamily="34" charset="0"/>
                <a:cs typeface="Calibri" panose="020F0502020204030204" pitchFamily="34" charset="0"/>
              </a:rPr>
              <a:t>A549</a:t>
            </a:r>
          </a:p>
          <a:p>
            <a:r>
              <a:rPr kumimoji="1" lang="en-US" altLang="zh-CN" sz="1387" b="1" dirty="0">
                <a:latin typeface="Calibri" panose="020F0502020204030204" pitchFamily="34" charset="0"/>
                <a:cs typeface="Calibri" panose="020F0502020204030204" pitchFamily="34" charset="0"/>
              </a:rPr>
              <a:t>PDS=0.507</a:t>
            </a:r>
          </a:p>
          <a:p>
            <a:r>
              <a:rPr kumimoji="1" lang="en-US" altLang="zh-CN" sz="1387" b="1" dirty="0">
                <a:latin typeface="Calibri" panose="020F0502020204030204" pitchFamily="34" charset="0"/>
                <a:cs typeface="Calibri" panose="020F0502020204030204" pitchFamily="34" charset="0"/>
              </a:rPr>
              <a:t>PCC=0.833</a:t>
            </a:r>
          </a:p>
          <a:p>
            <a:r>
              <a:rPr kumimoji="1" lang="en-US" altLang="zh-CN" sz="1387" b="1" dirty="0">
                <a:latin typeface="Calibri" panose="020F0502020204030204" pitchFamily="34" charset="0"/>
                <a:cs typeface="Calibri" panose="020F0502020204030204" pitchFamily="34" charset="0"/>
              </a:rPr>
              <a:t>SPCC=0.891</a:t>
            </a:r>
          </a:p>
          <a:p>
            <a:r>
              <a:rPr kumimoji="1" lang="en-US" altLang="zh-CN" sz="1387" b="1" dirty="0">
                <a:latin typeface="Calibri" panose="020F0502020204030204" pitchFamily="34" charset="0"/>
                <a:cs typeface="Calibri" panose="020F0502020204030204" pitchFamily="34" charset="0"/>
              </a:rPr>
              <a:t>Delta MAE=1.25</a:t>
            </a:r>
          </a:p>
          <a:p>
            <a:r>
              <a:rPr kumimoji="1" lang="en-US" altLang="zh-CN" sz="1387" b="1" dirty="0">
                <a:latin typeface="Calibri" panose="020F0502020204030204" pitchFamily="34" charset="0"/>
                <a:cs typeface="Calibri" panose="020F0502020204030204" pitchFamily="34" charset="0"/>
              </a:rPr>
              <a:t>DEG_AUPRC=0.961</a:t>
            </a:r>
          </a:p>
          <a:p>
            <a:r>
              <a:rPr kumimoji="1" lang="en-US" altLang="zh-CN" sz="1387" b="1" dirty="0">
                <a:latin typeface="Calibri" panose="020F0502020204030204" pitchFamily="34" charset="0"/>
                <a:cs typeface="Calibri" panose="020F0502020204030204" pitchFamily="34" charset="0"/>
              </a:rPr>
              <a:t>DEG_Top20_overlap_acc=0.197</a:t>
            </a:r>
          </a:p>
          <a:p>
            <a:r>
              <a:rPr kumimoji="1" lang="en-US" altLang="zh-CN" sz="1387" b="1" dirty="0">
                <a:latin typeface="Calibri" panose="020F0502020204030204" pitchFamily="34" charset="0"/>
                <a:cs typeface="Calibri" panose="020F0502020204030204" pitchFamily="34" charset="0"/>
              </a:rPr>
              <a:t>DEG_Top50_overlap_acc=0.272</a:t>
            </a:r>
          </a:p>
          <a:p>
            <a:r>
              <a:rPr kumimoji="1" lang="en-US" altLang="zh-CN" sz="1387" b="1" dirty="0">
                <a:latin typeface="Calibri" panose="020F0502020204030204" pitchFamily="34" charset="0"/>
                <a:cs typeface="Calibri" panose="020F0502020204030204" pitchFamily="34" charset="0"/>
              </a:rPr>
              <a:t>DEG_Top100_overlap_acc=0.373</a:t>
            </a:r>
          </a:p>
          <a:p>
            <a:r>
              <a:rPr kumimoji="1" lang="en-US" altLang="zh-CN" sz="1387" b="1" dirty="0">
                <a:latin typeface="Calibri" panose="020F0502020204030204" pitchFamily="34" charset="0"/>
                <a:cs typeface="Calibri" panose="020F0502020204030204" pitchFamily="34" charset="0"/>
              </a:rPr>
              <a:t>LogFC_SPCC=-0.035</a:t>
            </a:r>
          </a:p>
          <a:p>
            <a:r>
              <a:rPr kumimoji="1" lang="en-US" altLang="zh-CN" sz="1387" b="1" dirty="0" err="1">
                <a:latin typeface="Calibri" panose="020F0502020204030204" pitchFamily="34" charset="0"/>
                <a:cs typeface="Calibri" panose="020F0502020204030204" pitchFamily="34" charset="0"/>
              </a:rPr>
              <a:t>Effect_size_SPCC</a:t>
            </a:r>
            <a:r>
              <a:rPr kumimoji="1" lang="en-US" altLang="zh-CN" sz="1387" b="1" dirty="0">
                <a:latin typeface="Calibri" panose="020F0502020204030204" pitchFamily="34" charset="0"/>
                <a:cs typeface="Calibri" panose="020F0502020204030204" pitchFamily="34" charset="0"/>
              </a:rPr>
              <a:t>=-0.045</a:t>
            </a:r>
          </a:p>
        </p:txBody>
      </p:sp>
      <p:sp>
        <p:nvSpPr>
          <p:cNvPr id="13" name="文本框 12">
            <a:extLst>
              <a:ext uri="{FF2B5EF4-FFF2-40B4-BE49-F238E27FC236}">
                <a16:creationId xmlns:a16="http://schemas.microsoft.com/office/drawing/2014/main" id="{5187F150-13B7-7513-B706-CA1A8956D85C}"/>
              </a:ext>
            </a:extLst>
          </p:cNvPr>
          <p:cNvSpPr txBox="1"/>
          <p:nvPr/>
        </p:nvSpPr>
        <p:spPr>
          <a:xfrm>
            <a:off x="359554" y="793242"/>
            <a:ext cx="3623628" cy="701987"/>
          </a:xfrm>
          <a:prstGeom prst="rect">
            <a:avLst/>
          </a:prstGeom>
          <a:noFill/>
        </p:spPr>
        <p:txBody>
          <a:bodyPr wrap="square" rtlCol="0">
            <a:spAutoFit/>
          </a:bodyPr>
          <a:lstStyle/>
          <a:p>
            <a:r>
              <a:rPr kumimoji="1" lang="en-US" altLang="zh-CN" sz="1981" b="1" dirty="0">
                <a:solidFill>
                  <a:schemeClr val="accent2"/>
                </a:solidFill>
              </a:rPr>
              <a:t>Evaluation</a:t>
            </a:r>
          </a:p>
          <a:p>
            <a:r>
              <a:rPr kumimoji="1" lang="en-US" altLang="zh-CN" sz="1981" b="1" dirty="0">
                <a:solidFill>
                  <a:schemeClr val="accent2"/>
                </a:solidFill>
              </a:rPr>
              <a:t>Zero-shot</a:t>
            </a:r>
            <a:endParaRPr kumimoji="1" lang="en" altLang="zh-CN" sz="1981" b="1" dirty="0">
              <a:solidFill>
                <a:schemeClr val="accent2"/>
              </a:solidFill>
            </a:endParaRPr>
          </a:p>
        </p:txBody>
      </p:sp>
      <p:cxnSp>
        <p:nvCxnSpPr>
          <p:cNvPr id="17" name="直线箭头连接符 16">
            <a:extLst>
              <a:ext uri="{FF2B5EF4-FFF2-40B4-BE49-F238E27FC236}">
                <a16:creationId xmlns:a16="http://schemas.microsoft.com/office/drawing/2014/main" id="{39D826A0-CE3C-211E-4068-85533EA2608F}"/>
              </a:ext>
            </a:extLst>
          </p:cNvPr>
          <p:cNvCxnSpPr>
            <a:cxnSpLocks/>
          </p:cNvCxnSpPr>
          <p:nvPr/>
        </p:nvCxnSpPr>
        <p:spPr>
          <a:xfrm flipH="1">
            <a:off x="8349343" y="1562139"/>
            <a:ext cx="776037" cy="0"/>
          </a:xfrm>
          <a:prstGeom prst="straightConnector1">
            <a:avLst/>
          </a:prstGeom>
          <a:ln>
            <a:solidFill>
              <a:srgbClr val="4B506C"/>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40DC27E4-372B-227A-A1B1-3F97B4A55A84}"/>
              </a:ext>
            </a:extLst>
          </p:cNvPr>
          <p:cNvSpPr txBox="1"/>
          <p:nvPr/>
        </p:nvSpPr>
        <p:spPr>
          <a:xfrm>
            <a:off x="5191528" y="871126"/>
            <a:ext cx="2129109" cy="338554"/>
          </a:xfrm>
          <a:prstGeom prst="rect">
            <a:avLst/>
          </a:prstGeom>
          <a:noFill/>
        </p:spPr>
        <p:txBody>
          <a:bodyPr wrap="none" rtlCol="0">
            <a:spAutoFit/>
          </a:bodyPr>
          <a:lstStyle/>
          <a:p>
            <a:r>
              <a:rPr kumimoji="1" lang="en-US" altLang="zh-CN" sz="1600" b="1" dirty="0"/>
              <a:t>Cell</a:t>
            </a:r>
            <a:r>
              <a:rPr kumimoji="1" lang="zh-CN" altLang="en-US" sz="1600" b="1" dirty="0"/>
              <a:t> </a:t>
            </a:r>
            <a:r>
              <a:rPr kumimoji="1" lang="en-US" altLang="zh-CN" sz="1600" b="1" dirty="0"/>
              <a:t>state</a:t>
            </a:r>
            <a:r>
              <a:rPr kumimoji="1" lang="zh-CN" altLang="en-US" sz="1600" b="1" dirty="0"/>
              <a:t> </a:t>
            </a:r>
            <a:r>
              <a:rPr kumimoji="1" lang="en-US" altLang="zh-CN" sz="1600" b="1" dirty="0"/>
              <a:t>description</a:t>
            </a:r>
            <a:endParaRPr kumimoji="1" lang="zh-CN" altLang="en-US" sz="1600" b="1" dirty="0"/>
          </a:p>
        </p:txBody>
      </p:sp>
      <p:sp>
        <p:nvSpPr>
          <p:cNvPr id="19" name="文本框 18">
            <a:extLst>
              <a:ext uri="{FF2B5EF4-FFF2-40B4-BE49-F238E27FC236}">
                <a16:creationId xmlns:a16="http://schemas.microsoft.com/office/drawing/2014/main" id="{7ACBDF19-3F2F-4065-91F8-62E24F09721E}"/>
              </a:ext>
            </a:extLst>
          </p:cNvPr>
          <p:cNvSpPr txBox="1"/>
          <p:nvPr/>
        </p:nvSpPr>
        <p:spPr>
          <a:xfrm>
            <a:off x="359554" y="1634527"/>
            <a:ext cx="2393604" cy="732701"/>
          </a:xfrm>
          <a:prstGeom prst="rect">
            <a:avLst/>
          </a:prstGeom>
          <a:noFill/>
        </p:spPr>
        <p:txBody>
          <a:bodyPr wrap="none" rtlCol="0">
            <a:spAutoFit/>
          </a:bodyPr>
          <a:lstStyle/>
          <a:p>
            <a:r>
              <a:rPr kumimoji="1" lang="en-US" altLang="zh-CN" sz="1387" b="1" dirty="0"/>
              <a:t>SciPlex3 </a:t>
            </a:r>
          </a:p>
          <a:p>
            <a:r>
              <a:rPr kumimoji="1" lang="en-US" altLang="zh-CN" sz="1387" b="1" dirty="0"/>
              <a:t>(~0.6M</a:t>
            </a:r>
            <a:r>
              <a:rPr kumimoji="1" lang="zh-CN" altLang="en-US" sz="1387" b="1" dirty="0"/>
              <a:t> </a:t>
            </a:r>
            <a:r>
              <a:rPr kumimoji="1" lang="en-US" altLang="zh-CN" sz="1387" b="1" dirty="0"/>
              <a:t>cells)</a:t>
            </a:r>
          </a:p>
          <a:p>
            <a:r>
              <a:rPr kumimoji="1" lang="en-US" altLang="zh-CN" sz="1387" b="1" dirty="0"/>
              <a:t>3 cell lines Cross-validation</a:t>
            </a:r>
          </a:p>
        </p:txBody>
      </p:sp>
      <p:pic>
        <p:nvPicPr>
          <p:cNvPr id="20" name="Picture 6">
            <a:extLst>
              <a:ext uri="{FF2B5EF4-FFF2-40B4-BE49-F238E27FC236}">
                <a16:creationId xmlns:a16="http://schemas.microsoft.com/office/drawing/2014/main" id="{BB57BB04-3D48-691D-8844-447928C98E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377" t="18815" r="66226" b="65210"/>
          <a:stretch/>
        </p:blipFill>
        <p:spPr bwMode="auto">
          <a:xfrm>
            <a:off x="9295377" y="991966"/>
            <a:ext cx="1176809" cy="960997"/>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0">
            <a:extLst>
              <a:ext uri="{FF2B5EF4-FFF2-40B4-BE49-F238E27FC236}">
                <a16:creationId xmlns:a16="http://schemas.microsoft.com/office/drawing/2014/main" id="{C1E85259-E38C-2841-1DEB-37642910FB25}"/>
              </a:ext>
            </a:extLst>
          </p:cNvPr>
          <p:cNvSpPr txBox="1"/>
          <p:nvPr/>
        </p:nvSpPr>
        <p:spPr>
          <a:xfrm>
            <a:off x="9019125" y="2014323"/>
            <a:ext cx="1863011" cy="275332"/>
          </a:xfrm>
          <a:prstGeom prst="rect">
            <a:avLst/>
          </a:prstGeom>
          <a:noFill/>
        </p:spPr>
        <p:txBody>
          <a:bodyPr wrap="none" rtlCol="0">
            <a:spAutoFit/>
          </a:bodyPr>
          <a:lstStyle/>
          <a:p>
            <a:r>
              <a:rPr kumimoji="1" lang="en-US" altLang="zh-CN" sz="1189" dirty="0"/>
              <a:t>Generated</a:t>
            </a:r>
            <a:r>
              <a:rPr kumimoji="1" lang="zh-CN" altLang="en-US" sz="1189" dirty="0"/>
              <a:t> </a:t>
            </a:r>
            <a:r>
              <a:rPr kumimoji="1" lang="en-US" altLang="zh-CN" sz="1189" dirty="0"/>
              <a:t>cell</a:t>
            </a:r>
            <a:r>
              <a:rPr kumimoji="1" lang="zh-CN" altLang="en-US" sz="1189" dirty="0"/>
              <a:t> </a:t>
            </a:r>
            <a:r>
              <a:rPr kumimoji="1" lang="en-US" altLang="zh-CN" sz="1189" dirty="0"/>
              <a:t>expression</a:t>
            </a:r>
            <a:endParaRPr kumimoji="1" lang="zh-CN" altLang="en-US" sz="1189" dirty="0"/>
          </a:p>
        </p:txBody>
      </p:sp>
      <p:pic>
        <p:nvPicPr>
          <p:cNvPr id="24" name="Picture 6">
            <a:extLst>
              <a:ext uri="{FF2B5EF4-FFF2-40B4-BE49-F238E27FC236}">
                <a16:creationId xmlns:a16="http://schemas.microsoft.com/office/drawing/2014/main" id="{84276B8A-8B68-A5A1-C0FB-1D6B3A0C48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377" t="18815" r="66226" b="65210"/>
          <a:stretch/>
        </p:blipFill>
        <p:spPr bwMode="auto">
          <a:xfrm>
            <a:off x="3290100" y="991966"/>
            <a:ext cx="1176809" cy="960997"/>
          </a:xfrm>
          <a:prstGeom prst="rect">
            <a:avLst/>
          </a:prstGeom>
          <a:noFill/>
          <a:extLst>
            <a:ext uri="{909E8E84-426E-40DD-AFC4-6F175D3DCCD1}">
              <a14:hiddenFill xmlns:a14="http://schemas.microsoft.com/office/drawing/2010/main">
                <a:solidFill>
                  <a:srgbClr val="FFFFFF"/>
                </a:solidFill>
              </a14:hiddenFill>
            </a:ext>
          </a:extLst>
        </p:spPr>
      </p:pic>
      <p:sp>
        <p:nvSpPr>
          <p:cNvPr id="27" name="文本框 26">
            <a:extLst>
              <a:ext uri="{FF2B5EF4-FFF2-40B4-BE49-F238E27FC236}">
                <a16:creationId xmlns:a16="http://schemas.microsoft.com/office/drawing/2014/main" id="{5BE25A8E-E80A-09AB-867D-BAD573479B0E}"/>
              </a:ext>
            </a:extLst>
          </p:cNvPr>
          <p:cNvSpPr txBox="1"/>
          <p:nvPr/>
        </p:nvSpPr>
        <p:spPr>
          <a:xfrm>
            <a:off x="3046386" y="2023162"/>
            <a:ext cx="1664238" cy="275332"/>
          </a:xfrm>
          <a:prstGeom prst="rect">
            <a:avLst/>
          </a:prstGeom>
          <a:noFill/>
        </p:spPr>
        <p:txBody>
          <a:bodyPr wrap="none" rtlCol="0">
            <a:spAutoFit/>
          </a:bodyPr>
          <a:lstStyle/>
          <a:p>
            <a:r>
              <a:rPr kumimoji="1" lang="en-US" altLang="zh-CN" sz="1189" dirty="0"/>
              <a:t>Control</a:t>
            </a:r>
            <a:r>
              <a:rPr kumimoji="1" lang="zh-CN" altLang="en-US" sz="1189" dirty="0"/>
              <a:t> </a:t>
            </a:r>
            <a:r>
              <a:rPr kumimoji="1" lang="en-US" altLang="zh-CN" sz="1189" dirty="0"/>
              <a:t>cell</a:t>
            </a:r>
            <a:r>
              <a:rPr kumimoji="1" lang="zh-CN" altLang="en-US" sz="1189" dirty="0"/>
              <a:t> </a:t>
            </a:r>
            <a:r>
              <a:rPr kumimoji="1" lang="en-US" altLang="zh-CN" sz="1189" dirty="0"/>
              <a:t>expression</a:t>
            </a:r>
            <a:endParaRPr kumimoji="1" lang="zh-CN" altLang="en-US" sz="1189" dirty="0"/>
          </a:p>
        </p:txBody>
      </p:sp>
      <p:sp>
        <p:nvSpPr>
          <p:cNvPr id="28" name="文本框 27">
            <a:extLst>
              <a:ext uri="{FF2B5EF4-FFF2-40B4-BE49-F238E27FC236}">
                <a16:creationId xmlns:a16="http://schemas.microsoft.com/office/drawing/2014/main" id="{CE5ABAC2-D1E2-E356-FAAE-EA9E07CFFD62}"/>
              </a:ext>
            </a:extLst>
          </p:cNvPr>
          <p:cNvSpPr txBox="1"/>
          <p:nvPr/>
        </p:nvSpPr>
        <p:spPr>
          <a:xfrm>
            <a:off x="4710624" y="1237450"/>
            <a:ext cx="3693409" cy="738664"/>
          </a:xfrm>
          <a:prstGeom prst="rect">
            <a:avLst/>
          </a:prstGeom>
          <a:noFill/>
        </p:spPr>
        <p:txBody>
          <a:bodyPr wrap="square" rtlCol="0">
            <a:spAutoFit/>
          </a:bodyPr>
          <a:lstStyle/>
          <a:p>
            <a:r>
              <a:rPr lang="en" altLang="zh-CN" sz="1400" b="1" dirty="0">
                <a:latin typeface="Calibri" panose="020F0502020204030204" pitchFamily="34" charset="0"/>
                <a:cs typeface="Calibri" panose="020F0502020204030204" pitchFamily="34" charset="0"/>
              </a:rPr>
              <a:t>Cell {</a:t>
            </a:r>
            <a:r>
              <a:rPr lang="en" altLang="zh-CN" sz="1400" b="1" dirty="0" err="1">
                <a:latin typeface="Calibri" panose="020F0502020204030204" pitchFamily="34" charset="0"/>
                <a:cs typeface="Calibri" panose="020F0502020204030204" pitchFamily="34" charset="0"/>
              </a:rPr>
              <a:t>cell_name</a:t>
            </a:r>
            <a:r>
              <a:rPr lang="en" altLang="zh-CN" sz="1400" b="1" dirty="0">
                <a:latin typeface="Calibri" panose="020F0502020204030204" pitchFamily="34" charset="0"/>
                <a:cs typeface="Calibri" panose="020F0502020204030204" pitchFamily="34" charset="0"/>
              </a:rPr>
              <a:t>} (cell line {</a:t>
            </a:r>
            <a:r>
              <a:rPr lang="en" altLang="zh-CN" sz="1400" b="1" dirty="0" err="1">
                <a:latin typeface="Calibri" panose="020F0502020204030204" pitchFamily="34" charset="0"/>
                <a:cs typeface="Calibri" panose="020F0502020204030204" pitchFamily="34" charset="0"/>
              </a:rPr>
              <a:t>cell_line</a:t>
            </a:r>
            <a:r>
              <a:rPr lang="en" altLang="zh-CN" sz="1400" b="1" dirty="0">
                <a:latin typeface="Calibri" panose="020F0502020204030204" pitchFamily="34" charset="0"/>
                <a:cs typeface="Calibri" panose="020F0502020204030204" pitchFamily="34" charset="0"/>
              </a:rPr>
              <a:t>}) from {tissue} organ, in {phase} phase, was treated with {</a:t>
            </a:r>
            <a:r>
              <a:rPr lang="en" altLang="zh-CN" sz="1400" b="1" dirty="0" err="1">
                <a:latin typeface="Calibri" panose="020F0502020204030204" pitchFamily="34" charset="0"/>
                <a:cs typeface="Calibri" panose="020F0502020204030204" pitchFamily="34" charset="0"/>
              </a:rPr>
              <a:t>drug_info</a:t>
            </a:r>
            <a:r>
              <a:rPr lang="en" altLang="zh-CN" sz="1400" b="1" dirty="0">
                <a:latin typeface="Calibri" panose="020F0502020204030204" pitchFamily="34" charset="0"/>
                <a:cs typeface="Calibri" panose="020F0502020204030204" pitchFamily="34" charset="0"/>
              </a:rPr>
              <a:t>}, targeting {targets}.</a:t>
            </a:r>
          </a:p>
        </p:txBody>
      </p:sp>
      <p:sp>
        <p:nvSpPr>
          <p:cNvPr id="8" name="文本框 7">
            <a:extLst>
              <a:ext uri="{FF2B5EF4-FFF2-40B4-BE49-F238E27FC236}">
                <a16:creationId xmlns:a16="http://schemas.microsoft.com/office/drawing/2014/main" id="{4FDF1A02-AC7E-8F61-4D41-DFB8AC872D74}"/>
              </a:ext>
            </a:extLst>
          </p:cNvPr>
          <p:cNvSpPr txBox="1"/>
          <p:nvPr/>
        </p:nvSpPr>
        <p:spPr>
          <a:xfrm>
            <a:off x="6557328" y="3460357"/>
            <a:ext cx="2583400" cy="2440348"/>
          </a:xfrm>
          <a:prstGeom prst="rect">
            <a:avLst/>
          </a:prstGeom>
          <a:noFill/>
        </p:spPr>
        <p:txBody>
          <a:bodyPr wrap="none" rtlCol="0">
            <a:spAutoFit/>
          </a:bodyPr>
          <a:lstStyle/>
          <a:p>
            <a:r>
              <a:rPr kumimoji="1" lang="en-US" altLang="zh-CN" sz="1387" b="1" dirty="0">
                <a:latin typeface="Calibri" panose="020F0502020204030204" pitchFamily="34" charset="0"/>
                <a:cs typeface="Calibri" panose="020F0502020204030204" pitchFamily="34" charset="0"/>
              </a:rPr>
              <a:t>K562</a:t>
            </a:r>
          </a:p>
          <a:p>
            <a:r>
              <a:rPr kumimoji="1" lang="en-US" altLang="zh-CN" sz="1387" b="1" dirty="0">
                <a:latin typeface="Calibri" panose="020F0502020204030204" pitchFamily="34" charset="0"/>
                <a:cs typeface="Calibri" panose="020F0502020204030204" pitchFamily="34" charset="0"/>
              </a:rPr>
              <a:t>PDS=0.491</a:t>
            </a:r>
          </a:p>
          <a:p>
            <a:r>
              <a:rPr kumimoji="1" lang="en-US" altLang="zh-CN" sz="1387" b="1" dirty="0">
                <a:latin typeface="Calibri" panose="020F0502020204030204" pitchFamily="34" charset="0"/>
                <a:cs typeface="Calibri" panose="020F0502020204030204" pitchFamily="34" charset="0"/>
              </a:rPr>
              <a:t>PCC=0.822</a:t>
            </a:r>
          </a:p>
          <a:p>
            <a:r>
              <a:rPr kumimoji="1" lang="en-US" altLang="zh-CN" sz="1387" b="1" dirty="0">
                <a:latin typeface="Calibri" panose="020F0502020204030204" pitchFamily="34" charset="0"/>
                <a:cs typeface="Calibri" panose="020F0502020204030204" pitchFamily="34" charset="0"/>
              </a:rPr>
              <a:t>SPCC=0.883</a:t>
            </a:r>
          </a:p>
          <a:p>
            <a:r>
              <a:rPr kumimoji="1" lang="en-US" altLang="zh-CN" sz="1387" b="1" dirty="0">
                <a:latin typeface="Calibri" panose="020F0502020204030204" pitchFamily="34" charset="0"/>
                <a:cs typeface="Calibri" panose="020F0502020204030204" pitchFamily="34" charset="0"/>
              </a:rPr>
              <a:t>Delta MAE=1.2</a:t>
            </a:r>
          </a:p>
          <a:p>
            <a:r>
              <a:rPr kumimoji="1" lang="en-US" altLang="zh-CN" sz="1387" b="1" dirty="0">
                <a:latin typeface="Calibri" panose="020F0502020204030204" pitchFamily="34" charset="0"/>
                <a:cs typeface="Calibri" panose="020F0502020204030204" pitchFamily="34" charset="0"/>
              </a:rPr>
              <a:t>DEG_AUPRC=0.931</a:t>
            </a:r>
          </a:p>
          <a:p>
            <a:r>
              <a:rPr kumimoji="1" lang="en-US" altLang="zh-CN" sz="1387" b="1" dirty="0">
                <a:latin typeface="Calibri" panose="020F0502020204030204" pitchFamily="34" charset="0"/>
                <a:cs typeface="Calibri" panose="020F0502020204030204" pitchFamily="34" charset="0"/>
              </a:rPr>
              <a:t>DEG_Top20_overlap_acc=0.147</a:t>
            </a:r>
          </a:p>
          <a:p>
            <a:r>
              <a:rPr kumimoji="1" lang="en-US" altLang="zh-CN" sz="1387" b="1" dirty="0">
                <a:latin typeface="Calibri" panose="020F0502020204030204" pitchFamily="34" charset="0"/>
                <a:cs typeface="Calibri" panose="020F0502020204030204" pitchFamily="34" charset="0"/>
              </a:rPr>
              <a:t>DEG_Top50_overlap_acc=0.217</a:t>
            </a:r>
          </a:p>
          <a:p>
            <a:r>
              <a:rPr kumimoji="1" lang="en-US" altLang="zh-CN" sz="1387" b="1" dirty="0">
                <a:latin typeface="Calibri" panose="020F0502020204030204" pitchFamily="34" charset="0"/>
                <a:cs typeface="Calibri" panose="020F0502020204030204" pitchFamily="34" charset="0"/>
              </a:rPr>
              <a:t>DEG_Top100_overlap_acc=0.317</a:t>
            </a:r>
          </a:p>
          <a:p>
            <a:r>
              <a:rPr kumimoji="1" lang="en-US" altLang="zh-CN" sz="1387" b="1" dirty="0">
                <a:latin typeface="Calibri" panose="020F0502020204030204" pitchFamily="34" charset="0"/>
                <a:cs typeface="Calibri" panose="020F0502020204030204" pitchFamily="34" charset="0"/>
              </a:rPr>
              <a:t>LogFC_SPCC=-0.0</a:t>
            </a:r>
          </a:p>
          <a:p>
            <a:r>
              <a:rPr kumimoji="1" lang="en-US" altLang="zh-CN" sz="1387" b="1" dirty="0" err="1">
                <a:latin typeface="Calibri" panose="020F0502020204030204" pitchFamily="34" charset="0"/>
                <a:cs typeface="Calibri" panose="020F0502020204030204" pitchFamily="34" charset="0"/>
              </a:rPr>
              <a:t>Effect_size_SPCC</a:t>
            </a:r>
            <a:r>
              <a:rPr kumimoji="1" lang="en-US" altLang="zh-CN" sz="1387" b="1" dirty="0">
                <a:latin typeface="Calibri" panose="020F0502020204030204" pitchFamily="34" charset="0"/>
                <a:cs typeface="Calibri" panose="020F0502020204030204" pitchFamily="34" charset="0"/>
              </a:rPr>
              <a:t>=-0.033</a:t>
            </a:r>
          </a:p>
        </p:txBody>
      </p:sp>
      <p:sp>
        <p:nvSpPr>
          <p:cNvPr id="9" name="文本框 8">
            <a:extLst>
              <a:ext uri="{FF2B5EF4-FFF2-40B4-BE49-F238E27FC236}">
                <a16:creationId xmlns:a16="http://schemas.microsoft.com/office/drawing/2014/main" id="{428F5C18-5AF5-EFB3-243D-5255EFF3802D}"/>
              </a:ext>
            </a:extLst>
          </p:cNvPr>
          <p:cNvSpPr txBox="1"/>
          <p:nvPr/>
        </p:nvSpPr>
        <p:spPr>
          <a:xfrm>
            <a:off x="9295377" y="3423526"/>
            <a:ext cx="2583400" cy="2440348"/>
          </a:xfrm>
          <a:prstGeom prst="rect">
            <a:avLst/>
          </a:prstGeom>
          <a:noFill/>
        </p:spPr>
        <p:txBody>
          <a:bodyPr wrap="none" rtlCol="0">
            <a:spAutoFit/>
          </a:bodyPr>
          <a:lstStyle/>
          <a:p>
            <a:r>
              <a:rPr kumimoji="1" lang="en-US" altLang="zh-CN" sz="1387" b="1" dirty="0">
                <a:latin typeface="Calibri" panose="020F0502020204030204" pitchFamily="34" charset="0"/>
                <a:cs typeface="Calibri" panose="020F0502020204030204" pitchFamily="34" charset="0"/>
              </a:rPr>
              <a:t>K562</a:t>
            </a:r>
          </a:p>
          <a:p>
            <a:r>
              <a:rPr kumimoji="1" lang="en-US" altLang="zh-CN" sz="1387" b="1" dirty="0">
                <a:latin typeface="Calibri" panose="020F0502020204030204" pitchFamily="34" charset="0"/>
                <a:cs typeface="Calibri" panose="020F0502020204030204" pitchFamily="34" charset="0"/>
              </a:rPr>
              <a:t>PDS=0.491</a:t>
            </a:r>
          </a:p>
          <a:p>
            <a:r>
              <a:rPr kumimoji="1" lang="en-US" altLang="zh-CN" sz="1387" b="1" dirty="0">
                <a:latin typeface="Calibri" panose="020F0502020204030204" pitchFamily="34" charset="0"/>
                <a:cs typeface="Calibri" panose="020F0502020204030204" pitchFamily="34" charset="0"/>
              </a:rPr>
              <a:t>PCC=0.883</a:t>
            </a:r>
          </a:p>
          <a:p>
            <a:r>
              <a:rPr kumimoji="1" lang="en-US" altLang="zh-CN" sz="1387" b="1" dirty="0">
                <a:latin typeface="Calibri" panose="020F0502020204030204" pitchFamily="34" charset="0"/>
                <a:cs typeface="Calibri" panose="020F0502020204030204" pitchFamily="34" charset="0"/>
              </a:rPr>
              <a:t>SPCC=0.92</a:t>
            </a:r>
          </a:p>
          <a:p>
            <a:r>
              <a:rPr kumimoji="1" lang="en-US" altLang="zh-CN" sz="1387" b="1" dirty="0">
                <a:latin typeface="Calibri" panose="020F0502020204030204" pitchFamily="34" charset="0"/>
                <a:cs typeface="Calibri" panose="020F0502020204030204" pitchFamily="34" charset="0"/>
              </a:rPr>
              <a:t>Delta MAE=1.31</a:t>
            </a:r>
          </a:p>
          <a:p>
            <a:r>
              <a:rPr kumimoji="1" lang="en-US" altLang="zh-CN" sz="1387" b="1" dirty="0">
                <a:latin typeface="Calibri" panose="020F0502020204030204" pitchFamily="34" charset="0"/>
                <a:cs typeface="Calibri" panose="020F0502020204030204" pitchFamily="34" charset="0"/>
              </a:rPr>
              <a:t>DEG_AUPRC=0.962</a:t>
            </a:r>
          </a:p>
          <a:p>
            <a:r>
              <a:rPr kumimoji="1" lang="en-US" altLang="zh-CN" sz="1387" b="1" dirty="0">
                <a:latin typeface="Calibri" panose="020F0502020204030204" pitchFamily="34" charset="0"/>
                <a:cs typeface="Calibri" panose="020F0502020204030204" pitchFamily="34" charset="0"/>
              </a:rPr>
              <a:t>DEG_Top20_overlap_acc=0.261</a:t>
            </a:r>
          </a:p>
          <a:p>
            <a:r>
              <a:rPr kumimoji="1" lang="en-US" altLang="zh-CN" sz="1387" b="1" dirty="0">
                <a:latin typeface="Calibri" panose="020F0502020204030204" pitchFamily="34" charset="0"/>
                <a:cs typeface="Calibri" panose="020F0502020204030204" pitchFamily="34" charset="0"/>
              </a:rPr>
              <a:t>DEG_Top50_overlap_acc=0.319</a:t>
            </a:r>
          </a:p>
          <a:p>
            <a:r>
              <a:rPr kumimoji="1" lang="en-US" altLang="zh-CN" sz="1387" b="1" dirty="0">
                <a:latin typeface="Calibri" panose="020F0502020204030204" pitchFamily="34" charset="0"/>
                <a:cs typeface="Calibri" panose="020F0502020204030204" pitchFamily="34" charset="0"/>
              </a:rPr>
              <a:t>DEG_Top100_overlap_acc=0.418</a:t>
            </a:r>
          </a:p>
          <a:p>
            <a:r>
              <a:rPr kumimoji="1" lang="en-US" altLang="zh-CN" sz="1387" b="1" dirty="0">
                <a:latin typeface="Calibri" panose="020F0502020204030204" pitchFamily="34" charset="0"/>
                <a:cs typeface="Calibri" panose="020F0502020204030204" pitchFamily="34" charset="0"/>
              </a:rPr>
              <a:t>LogFC_SPCC=0.019</a:t>
            </a:r>
          </a:p>
          <a:p>
            <a:r>
              <a:rPr kumimoji="1" lang="en-US" altLang="zh-CN" sz="1387" b="1" dirty="0" err="1">
                <a:latin typeface="Calibri" panose="020F0502020204030204" pitchFamily="34" charset="0"/>
                <a:cs typeface="Calibri" panose="020F0502020204030204" pitchFamily="34" charset="0"/>
              </a:rPr>
              <a:t>Effect_size_SPCC</a:t>
            </a:r>
            <a:r>
              <a:rPr kumimoji="1" lang="en-US" altLang="zh-CN" sz="1387" b="1" dirty="0">
                <a:latin typeface="Calibri" panose="020F0502020204030204" pitchFamily="34" charset="0"/>
                <a:cs typeface="Calibri" panose="020F0502020204030204" pitchFamily="34" charset="0"/>
              </a:rPr>
              <a:t>=0.024</a:t>
            </a:r>
          </a:p>
        </p:txBody>
      </p:sp>
      <p:sp>
        <p:nvSpPr>
          <p:cNvPr id="12" name="文本框 11">
            <a:extLst>
              <a:ext uri="{FF2B5EF4-FFF2-40B4-BE49-F238E27FC236}">
                <a16:creationId xmlns:a16="http://schemas.microsoft.com/office/drawing/2014/main" id="{6874FC4C-402E-0FA3-CF37-E79C404A5EBF}"/>
              </a:ext>
            </a:extLst>
          </p:cNvPr>
          <p:cNvSpPr txBox="1"/>
          <p:nvPr/>
        </p:nvSpPr>
        <p:spPr>
          <a:xfrm>
            <a:off x="293383" y="2756228"/>
            <a:ext cx="6255239" cy="369332"/>
          </a:xfrm>
          <a:prstGeom prst="rect">
            <a:avLst/>
          </a:prstGeom>
          <a:noFill/>
        </p:spPr>
        <p:txBody>
          <a:bodyPr wrap="none" rtlCol="0">
            <a:spAutoFit/>
          </a:bodyPr>
          <a:lstStyle/>
          <a:p>
            <a:r>
              <a:rPr kumimoji="1" lang="en-US" altLang="zh-CN" dirty="0"/>
              <a:t>Tahoe-preprocessed-plate139-preprocessed-lr5e-5-epoch3</a:t>
            </a:r>
            <a:endParaRPr kumimoji="1" lang="zh-CN" altLang="en-US" dirty="0"/>
          </a:p>
        </p:txBody>
      </p:sp>
    </p:spTree>
    <p:extLst>
      <p:ext uri="{BB962C8B-B14F-4D97-AF65-F5344CB8AC3E}">
        <p14:creationId xmlns:p14="http://schemas.microsoft.com/office/powerpoint/2010/main" val="1155903366"/>
      </p:ext>
    </p:extLst>
  </p:cSld>
  <p:clrMapOvr>
    <a:masterClrMapping/>
  </p:clrMapOvr>
  <p:transition>
    <p:cut/>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1631</Words>
  <Application>Microsoft Macintosh PowerPoint</Application>
  <PresentationFormat>宽屏</PresentationFormat>
  <Paragraphs>260</Paragraphs>
  <Slides>7</Slides>
  <Notes>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vt:i4>
      </vt:variant>
    </vt:vector>
  </HeadingPairs>
  <TitlesOfParts>
    <vt:vector size="14" baseType="lpstr">
      <vt:lpstr>等线</vt:lpstr>
      <vt:lpstr>等线 Light</vt:lpstr>
      <vt:lpstr>Arial</vt:lpstr>
      <vt:lpstr>Calibri</vt:lpstr>
      <vt:lpstr>Gill Sans MT</vt:lpstr>
      <vt:lpstr>Tahoma</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Microsoft Office User</cp:lastModifiedBy>
  <cp:revision>6</cp:revision>
  <dcterms:created xsi:type="dcterms:W3CDTF">2026-05-28T12:03:04Z</dcterms:created>
  <dcterms:modified xsi:type="dcterms:W3CDTF">2026-05-28T12:14:59Z</dcterms:modified>
</cp:coreProperties>
</file>